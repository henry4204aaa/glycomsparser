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35"/>
  </p:notesMasterIdLst>
  <p:sldIdLst>
    <p:sldId id="256" r:id="rId5"/>
    <p:sldId id="515" r:id="rId6"/>
    <p:sldId id="519" r:id="rId7"/>
    <p:sldId id="520" r:id="rId8"/>
    <p:sldId id="521" r:id="rId9"/>
    <p:sldId id="522" r:id="rId10"/>
    <p:sldId id="524" r:id="rId11"/>
    <p:sldId id="525" r:id="rId12"/>
    <p:sldId id="527" r:id="rId13"/>
    <p:sldId id="529" r:id="rId14"/>
    <p:sldId id="531" r:id="rId15"/>
    <p:sldId id="673" r:id="rId16"/>
    <p:sldId id="675" r:id="rId17"/>
    <p:sldId id="679" r:id="rId18"/>
    <p:sldId id="680" r:id="rId19"/>
    <p:sldId id="678" r:id="rId20"/>
    <p:sldId id="532" r:id="rId21"/>
    <p:sldId id="681" r:id="rId22"/>
    <p:sldId id="682" r:id="rId23"/>
    <p:sldId id="530" r:id="rId24"/>
    <p:sldId id="683" r:id="rId25"/>
    <p:sldId id="684" r:id="rId26"/>
    <p:sldId id="685" r:id="rId27"/>
    <p:sldId id="686" r:id="rId28"/>
    <p:sldId id="526" r:id="rId29"/>
    <p:sldId id="523" r:id="rId30"/>
    <p:sldId id="528" r:id="rId31"/>
    <p:sldId id="518" r:id="rId32"/>
    <p:sldId id="257" r:id="rId33"/>
    <p:sldId id="514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2894781-7134-48B2-9AF1-9C1F02230310}">
          <p14:sldIdLst>
            <p14:sldId id="256"/>
            <p14:sldId id="515"/>
          </p14:sldIdLst>
        </p14:section>
        <p14:section name="Data preprocessing" id="{405A280E-A2F5-42F6-B12D-F3AEA7E5CC5D}">
          <p14:sldIdLst>
            <p14:sldId id="519"/>
            <p14:sldId id="520"/>
          </p14:sldIdLst>
        </p14:section>
        <p14:section name="Prepare Datasets" id="{DEE3E399-2F4D-4FE2-BBBA-B53414757F04}">
          <p14:sldIdLst>
            <p14:sldId id="521"/>
            <p14:sldId id="522"/>
          </p14:sldIdLst>
        </p14:section>
        <p14:section name="Manual annotation approach" id="{3713C049-8E24-4C15-B34D-37652D3FBF65}">
          <p14:sldIdLst>
            <p14:sldId id="524"/>
            <p14:sldId id="525"/>
            <p14:sldId id="527"/>
            <p14:sldId id="529"/>
          </p14:sldIdLst>
        </p14:section>
        <p14:section name="Pseudo-labeling approach" id="{C8F54597-F8F2-47EF-B98E-7D765DEB0579}">
          <p14:sldIdLst>
            <p14:sldId id="531"/>
            <p14:sldId id="673"/>
            <p14:sldId id="675"/>
            <p14:sldId id="679"/>
            <p14:sldId id="680"/>
            <p14:sldId id="678"/>
          </p14:sldIdLst>
        </p14:section>
        <p14:section name="ML analysis" id="{E89908EE-01AF-427D-8004-8F6154EA7336}">
          <p14:sldIdLst>
            <p14:sldId id="532"/>
            <p14:sldId id="681"/>
            <p14:sldId id="682"/>
            <p14:sldId id="530"/>
            <p14:sldId id="683"/>
            <p14:sldId id="684"/>
            <p14:sldId id="685"/>
            <p14:sldId id="686"/>
            <p14:sldId id="526"/>
            <p14:sldId id="523"/>
            <p14:sldId id="528"/>
            <p14:sldId id="518"/>
            <p14:sldId id="257"/>
            <p14:sldId id="51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400"/>
    <a:srgbClr val="00A6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D5AE9F-8D6E-4313-902A-0E543CE6E5C6}" v="382" dt="2025-09-08T14:27:57.2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8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33ABB4-6469-4DC7-B4F0-7F105B0DD80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EF5FBFA-EEF6-42CA-820A-4B8B3D71EF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preprocessing </a:t>
          </a:r>
        </a:p>
      </dgm:t>
    </dgm:pt>
    <dgm:pt modelId="{E3DD4422-82EE-45F8-A384-52548A97279E}" type="parTrans" cxnId="{B1ED7B1D-2080-428A-A3E4-E8D383043FFB}">
      <dgm:prSet/>
      <dgm:spPr/>
      <dgm:t>
        <a:bodyPr/>
        <a:lstStyle/>
        <a:p>
          <a:endParaRPr lang="en-US"/>
        </a:p>
      </dgm:t>
    </dgm:pt>
    <dgm:pt modelId="{58176BD1-0AE3-4B72-995A-DECED535664D}" type="sibTrans" cxnId="{B1ED7B1D-2080-428A-A3E4-E8D383043FFB}">
      <dgm:prSet/>
      <dgm:spPr/>
      <dgm:t>
        <a:bodyPr/>
        <a:lstStyle/>
        <a:p>
          <a:endParaRPr lang="en-US"/>
        </a:p>
      </dgm:t>
    </dgm:pt>
    <dgm:pt modelId="{D69EA5E4-A3A1-4150-B9A0-4938B0574CD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Generate ML-friendly formatted csv (</a:t>
          </a:r>
          <a:r>
            <a:rPr lang="en-US" sz="1600" dirty="0" err="1"/>
            <a:t>tsv</a:t>
          </a:r>
          <a:r>
            <a:rPr lang="en-US" sz="1600" dirty="0"/>
            <a:t>)</a:t>
          </a:r>
        </a:p>
      </dgm:t>
    </dgm:pt>
    <dgm:pt modelId="{E9440B6C-4EF7-46DD-940C-33AB5A3AB7E5}" type="parTrans" cxnId="{7691C5CE-81E0-4266-8E20-DB742CC0DCCA}">
      <dgm:prSet/>
      <dgm:spPr/>
      <dgm:t>
        <a:bodyPr/>
        <a:lstStyle/>
        <a:p>
          <a:endParaRPr lang="en-US"/>
        </a:p>
      </dgm:t>
    </dgm:pt>
    <dgm:pt modelId="{7050C37A-D595-459F-AD5D-80CF00896DBF}" type="sibTrans" cxnId="{7691C5CE-81E0-4266-8E20-DB742CC0DCCA}">
      <dgm:prSet/>
      <dgm:spPr/>
      <dgm:t>
        <a:bodyPr/>
        <a:lstStyle/>
        <a:p>
          <a:endParaRPr lang="en-US"/>
        </a:p>
      </dgm:t>
    </dgm:pt>
    <dgm:pt modelId="{906631FA-4C67-4039-B0F2-C8D571235E4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Generate metadata for further tracking</a:t>
          </a:r>
        </a:p>
      </dgm:t>
    </dgm:pt>
    <dgm:pt modelId="{BC16ECCB-2B48-404F-8F02-ED9B591F07F9}" type="parTrans" cxnId="{3364B517-7940-4DBE-8861-A270A57CB080}">
      <dgm:prSet/>
      <dgm:spPr/>
      <dgm:t>
        <a:bodyPr/>
        <a:lstStyle/>
        <a:p>
          <a:endParaRPr lang="en-US"/>
        </a:p>
      </dgm:t>
    </dgm:pt>
    <dgm:pt modelId="{ED354ED8-DEDD-46AB-AA3B-E93B8F2B7E0C}" type="sibTrans" cxnId="{3364B517-7940-4DBE-8861-A270A57CB080}">
      <dgm:prSet/>
      <dgm:spPr/>
      <dgm:t>
        <a:bodyPr/>
        <a:lstStyle/>
        <a:p>
          <a:endParaRPr lang="en-US"/>
        </a:p>
      </dgm:t>
    </dgm:pt>
    <dgm:pt modelId="{04B9A277-93AD-4663-8A18-DE517590A6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Dataset preparation</a:t>
          </a:r>
        </a:p>
      </dgm:t>
    </dgm:pt>
    <dgm:pt modelId="{2BAACBC8-781C-4046-AB6A-C5D7A3BCF02D}" type="parTrans" cxnId="{5A11684A-F4D7-4D42-8C1C-04665E87D1F6}">
      <dgm:prSet/>
      <dgm:spPr/>
      <dgm:t>
        <a:bodyPr/>
        <a:lstStyle/>
        <a:p>
          <a:endParaRPr lang="en-US"/>
        </a:p>
      </dgm:t>
    </dgm:pt>
    <dgm:pt modelId="{61E2EF8C-54CB-4CF5-B080-51C4FAE3F69F}" type="sibTrans" cxnId="{5A11684A-F4D7-4D42-8C1C-04665E87D1F6}">
      <dgm:prSet/>
      <dgm:spPr/>
      <dgm:t>
        <a:bodyPr/>
        <a:lstStyle/>
        <a:p>
          <a:endParaRPr lang="en-US"/>
        </a:p>
      </dgm:t>
    </dgm:pt>
    <dgm:pt modelId="{06FFF57F-C3D7-42D9-9852-2440613E1FC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dirty="0"/>
            <a:t>Manual annotation OR</a:t>
          </a:r>
          <a:br>
            <a:rPr lang="en-US" sz="1200" dirty="0"/>
          </a:br>
          <a:r>
            <a:rPr lang="en-US" sz="1200" dirty="0"/>
            <a:t>Pseudo-labeling </a:t>
          </a:r>
          <a:br>
            <a:rPr lang="en-US" sz="1200" dirty="0"/>
          </a:br>
          <a:br>
            <a:rPr lang="en-US" sz="1200" dirty="0"/>
          </a:br>
          <a:r>
            <a:rPr lang="en-US" sz="1200" dirty="0"/>
            <a:t>Validate data formatting</a:t>
          </a:r>
          <a:br>
            <a:rPr lang="en-US" sz="1200" dirty="0"/>
          </a:br>
          <a:r>
            <a:rPr lang="en-US" sz="1200" dirty="0"/>
            <a:t>Critical fragmentation ion mining</a:t>
          </a:r>
          <a:br>
            <a:rPr lang="en-US" sz="1200" dirty="0"/>
          </a:br>
          <a:r>
            <a:rPr lang="en-US" sz="1200" dirty="0"/>
            <a:t>Save/load operation history and workspace </a:t>
          </a:r>
        </a:p>
      </dgm:t>
    </dgm:pt>
    <dgm:pt modelId="{8D5F606E-99FC-4E01-9C1D-27A78B356AE7}" type="parTrans" cxnId="{BD96AC3B-8071-4E52-8C98-85E25EFE6F7E}">
      <dgm:prSet/>
      <dgm:spPr/>
      <dgm:t>
        <a:bodyPr/>
        <a:lstStyle/>
        <a:p>
          <a:endParaRPr lang="en-US"/>
        </a:p>
      </dgm:t>
    </dgm:pt>
    <dgm:pt modelId="{D79F5CFA-5879-478C-ABF5-C0CF2DE8446C}" type="sibTrans" cxnId="{BD96AC3B-8071-4E52-8C98-85E25EFE6F7E}">
      <dgm:prSet/>
      <dgm:spPr/>
      <dgm:t>
        <a:bodyPr/>
        <a:lstStyle/>
        <a:p>
          <a:endParaRPr lang="en-US"/>
        </a:p>
      </dgm:t>
    </dgm:pt>
    <dgm:pt modelId="{F2219472-4624-4135-AF01-E2A59F2776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Build ML model</a:t>
          </a:r>
        </a:p>
      </dgm:t>
    </dgm:pt>
    <dgm:pt modelId="{40864468-40A6-45F9-B8EC-F3038DF5F2B1}" type="parTrans" cxnId="{0B941D64-D96A-4213-A106-FFFB9A1C6057}">
      <dgm:prSet/>
      <dgm:spPr/>
      <dgm:t>
        <a:bodyPr/>
        <a:lstStyle/>
        <a:p>
          <a:endParaRPr lang="en-US"/>
        </a:p>
      </dgm:t>
    </dgm:pt>
    <dgm:pt modelId="{EEBE8972-BC04-48A1-B202-53D7797BDB42}" type="sibTrans" cxnId="{0B941D64-D96A-4213-A106-FFFB9A1C6057}">
      <dgm:prSet/>
      <dgm:spPr/>
      <dgm:t>
        <a:bodyPr/>
        <a:lstStyle/>
        <a:p>
          <a:endParaRPr lang="en-US"/>
        </a:p>
      </dgm:t>
    </dgm:pt>
    <dgm:pt modelId="{306CBE5E-BF98-43FF-BC76-3CF1E7F527D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Adjustable parameters</a:t>
          </a:r>
        </a:p>
      </dgm:t>
    </dgm:pt>
    <dgm:pt modelId="{D061E8CF-152C-4400-9270-38F2F4440460}" type="parTrans" cxnId="{7A441803-5D9B-4CF8-8934-6AC4A0920A16}">
      <dgm:prSet/>
      <dgm:spPr/>
      <dgm:t>
        <a:bodyPr/>
        <a:lstStyle/>
        <a:p>
          <a:endParaRPr lang="en-US"/>
        </a:p>
      </dgm:t>
    </dgm:pt>
    <dgm:pt modelId="{725766B9-6063-4A3C-8E3E-6B25A96EC31E}" type="sibTrans" cxnId="{7A441803-5D9B-4CF8-8934-6AC4A0920A16}">
      <dgm:prSet/>
      <dgm:spPr/>
      <dgm:t>
        <a:bodyPr/>
        <a:lstStyle/>
        <a:p>
          <a:endParaRPr lang="en-US"/>
        </a:p>
      </dgm:t>
    </dgm:pt>
    <dgm:pt modelId="{99A3A8D1-58D1-423B-89A8-C336A92D8C6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Able to read trained models for prediction</a:t>
          </a:r>
        </a:p>
      </dgm:t>
    </dgm:pt>
    <dgm:pt modelId="{A5BA066B-88DF-4108-9BC5-E2BA9082795D}" type="parTrans" cxnId="{203AB101-5BA1-411C-B96B-E13F148D7A92}">
      <dgm:prSet/>
      <dgm:spPr/>
      <dgm:t>
        <a:bodyPr/>
        <a:lstStyle/>
        <a:p>
          <a:endParaRPr lang="en-US"/>
        </a:p>
      </dgm:t>
    </dgm:pt>
    <dgm:pt modelId="{374165A7-1741-42BC-89E6-D0EE8818D854}" type="sibTrans" cxnId="{203AB101-5BA1-411C-B96B-E13F148D7A92}">
      <dgm:prSet/>
      <dgm:spPr/>
      <dgm:t>
        <a:bodyPr/>
        <a:lstStyle/>
        <a:p>
          <a:endParaRPr lang="en-US"/>
        </a:p>
      </dgm:t>
    </dgm:pt>
    <dgm:pt modelId="{58AC87AD-4DEC-4EC3-9345-F39BDCABA8A3}" type="pres">
      <dgm:prSet presAssocID="{2C33ABB4-6469-4DC7-B4F0-7F105B0DD804}" presName="root" presStyleCnt="0">
        <dgm:presLayoutVars>
          <dgm:dir/>
          <dgm:resizeHandles val="exact"/>
        </dgm:presLayoutVars>
      </dgm:prSet>
      <dgm:spPr/>
    </dgm:pt>
    <dgm:pt modelId="{CC55E5D7-BE1C-46E1-B64C-AF63B4D85248}" type="pres">
      <dgm:prSet presAssocID="{DEF5FBFA-EEF6-42CA-820A-4B8B3D71EF90}" presName="compNode" presStyleCnt="0"/>
      <dgm:spPr/>
    </dgm:pt>
    <dgm:pt modelId="{BD7BD8B6-E16F-44C8-93AC-0E114B72F027}" type="pres">
      <dgm:prSet presAssocID="{DEF5FBFA-EEF6-42CA-820A-4B8B3D71EF90}" presName="bgRect" presStyleLbl="bgShp" presStyleIdx="0" presStyleCnt="3"/>
      <dgm:spPr/>
    </dgm:pt>
    <dgm:pt modelId="{4032DD51-9E46-4511-B364-3480F958DBE9}" type="pres">
      <dgm:prSet presAssocID="{DEF5FBFA-EEF6-42CA-820A-4B8B3D71EF9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篩選"/>
        </a:ext>
      </dgm:extLst>
    </dgm:pt>
    <dgm:pt modelId="{031358CC-51E9-4416-80D6-B6F577FFB2FC}" type="pres">
      <dgm:prSet presAssocID="{DEF5FBFA-EEF6-42CA-820A-4B8B3D71EF90}" presName="spaceRect" presStyleCnt="0"/>
      <dgm:spPr/>
    </dgm:pt>
    <dgm:pt modelId="{81D5E631-8FAB-4096-978E-0490E281A476}" type="pres">
      <dgm:prSet presAssocID="{DEF5FBFA-EEF6-42CA-820A-4B8B3D71EF90}" presName="parTx" presStyleLbl="revTx" presStyleIdx="0" presStyleCnt="6">
        <dgm:presLayoutVars>
          <dgm:chMax val="0"/>
          <dgm:chPref val="0"/>
        </dgm:presLayoutVars>
      </dgm:prSet>
      <dgm:spPr/>
    </dgm:pt>
    <dgm:pt modelId="{28176F73-A027-40EF-BDF4-EE693B24FC9B}" type="pres">
      <dgm:prSet presAssocID="{DEF5FBFA-EEF6-42CA-820A-4B8B3D71EF90}" presName="desTx" presStyleLbl="revTx" presStyleIdx="1" presStyleCnt="6">
        <dgm:presLayoutVars/>
      </dgm:prSet>
      <dgm:spPr/>
    </dgm:pt>
    <dgm:pt modelId="{F5EB6769-211B-4373-93E7-75C9152B5B90}" type="pres">
      <dgm:prSet presAssocID="{58176BD1-0AE3-4B72-995A-DECED535664D}" presName="sibTrans" presStyleCnt="0"/>
      <dgm:spPr/>
    </dgm:pt>
    <dgm:pt modelId="{90216817-416F-4CBD-91B9-3E6D7072F4BA}" type="pres">
      <dgm:prSet presAssocID="{04B9A277-93AD-4663-8A18-DE517590A6C9}" presName="compNode" presStyleCnt="0"/>
      <dgm:spPr/>
    </dgm:pt>
    <dgm:pt modelId="{E126EEC3-5F06-4F3A-986B-46894AACE80F}" type="pres">
      <dgm:prSet presAssocID="{04B9A277-93AD-4663-8A18-DE517590A6C9}" presName="bgRect" presStyleLbl="bgShp" presStyleIdx="1" presStyleCnt="3"/>
      <dgm:spPr/>
    </dgm:pt>
    <dgm:pt modelId="{B3C045A0-22CB-4D39-BFAE-A40B62AA7C24}" type="pres">
      <dgm:prSet presAssocID="{04B9A277-93AD-4663-8A18-DE517590A6C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資料庫"/>
        </a:ext>
      </dgm:extLst>
    </dgm:pt>
    <dgm:pt modelId="{1A5D5EAC-EEED-4E8A-9448-F33DE671F3DE}" type="pres">
      <dgm:prSet presAssocID="{04B9A277-93AD-4663-8A18-DE517590A6C9}" presName="spaceRect" presStyleCnt="0"/>
      <dgm:spPr/>
    </dgm:pt>
    <dgm:pt modelId="{8465C547-8CFF-4F52-851E-03BFDDDFCD29}" type="pres">
      <dgm:prSet presAssocID="{04B9A277-93AD-4663-8A18-DE517590A6C9}" presName="parTx" presStyleLbl="revTx" presStyleIdx="2" presStyleCnt="6">
        <dgm:presLayoutVars>
          <dgm:chMax val="0"/>
          <dgm:chPref val="0"/>
        </dgm:presLayoutVars>
      </dgm:prSet>
      <dgm:spPr/>
    </dgm:pt>
    <dgm:pt modelId="{59553F72-D324-46AB-AF48-9F2F05FB696C}" type="pres">
      <dgm:prSet presAssocID="{04B9A277-93AD-4663-8A18-DE517590A6C9}" presName="desTx" presStyleLbl="revTx" presStyleIdx="3" presStyleCnt="6" custScaleX="97830">
        <dgm:presLayoutVars/>
      </dgm:prSet>
      <dgm:spPr/>
    </dgm:pt>
    <dgm:pt modelId="{CFCFF7AA-A627-4664-8DE9-1501610243EF}" type="pres">
      <dgm:prSet presAssocID="{61E2EF8C-54CB-4CF5-B080-51C4FAE3F69F}" presName="sibTrans" presStyleCnt="0"/>
      <dgm:spPr/>
    </dgm:pt>
    <dgm:pt modelId="{DE316081-64AA-4963-A1BF-A3741993E250}" type="pres">
      <dgm:prSet presAssocID="{F2219472-4624-4135-AF01-E2A59F2776F7}" presName="compNode" presStyleCnt="0"/>
      <dgm:spPr/>
    </dgm:pt>
    <dgm:pt modelId="{05429136-04F9-4D57-B446-FB8F1A0F059E}" type="pres">
      <dgm:prSet presAssocID="{F2219472-4624-4135-AF01-E2A59F2776F7}" presName="bgRect" presStyleLbl="bgShp" presStyleIdx="2" presStyleCnt="3"/>
      <dgm:spPr/>
    </dgm:pt>
    <dgm:pt modelId="{1C50E781-C55A-4057-B648-36F55C01FB81}" type="pres">
      <dgm:prSet presAssocID="{F2219472-4624-4135-AF01-E2A59F2776F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B85FE71-6881-4048-84A3-47E0410A69C6}" type="pres">
      <dgm:prSet presAssocID="{F2219472-4624-4135-AF01-E2A59F2776F7}" presName="spaceRect" presStyleCnt="0"/>
      <dgm:spPr/>
    </dgm:pt>
    <dgm:pt modelId="{83009AEE-B7E1-41F6-95A1-F9375B005127}" type="pres">
      <dgm:prSet presAssocID="{F2219472-4624-4135-AF01-E2A59F2776F7}" presName="parTx" presStyleLbl="revTx" presStyleIdx="4" presStyleCnt="6">
        <dgm:presLayoutVars>
          <dgm:chMax val="0"/>
          <dgm:chPref val="0"/>
        </dgm:presLayoutVars>
      </dgm:prSet>
      <dgm:spPr/>
    </dgm:pt>
    <dgm:pt modelId="{6366A009-9095-4174-A179-EA56C91F814F}" type="pres">
      <dgm:prSet presAssocID="{F2219472-4624-4135-AF01-E2A59F2776F7}" presName="desTx" presStyleLbl="revTx" presStyleIdx="5" presStyleCnt="6">
        <dgm:presLayoutVars/>
      </dgm:prSet>
      <dgm:spPr/>
    </dgm:pt>
  </dgm:ptLst>
  <dgm:cxnLst>
    <dgm:cxn modelId="{203AB101-5BA1-411C-B96B-E13F148D7A92}" srcId="{F2219472-4624-4135-AF01-E2A59F2776F7}" destId="{99A3A8D1-58D1-423B-89A8-C336A92D8C6C}" srcOrd="1" destOrd="0" parTransId="{A5BA066B-88DF-4108-9BC5-E2BA9082795D}" sibTransId="{374165A7-1741-42BC-89E6-D0EE8818D854}"/>
    <dgm:cxn modelId="{7A441803-5D9B-4CF8-8934-6AC4A0920A16}" srcId="{F2219472-4624-4135-AF01-E2A59F2776F7}" destId="{306CBE5E-BF98-43FF-BC76-3CF1E7F527DF}" srcOrd="0" destOrd="0" parTransId="{D061E8CF-152C-4400-9270-38F2F4440460}" sibTransId="{725766B9-6063-4A3C-8E3E-6B25A96EC31E}"/>
    <dgm:cxn modelId="{3364B517-7940-4DBE-8861-A270A57CB080}" srcId="{DEF5FBFA-EEF6-42CA-820A-4B8B3D71EF90}" destId="{906631FA-4C67-4039-B0F2-C8D571235E4B}" srcOrd="1" destOrd="0" parTransId="{BC16ECCB-2B48-404F-8F02-ED9B591F07F9}" sibTransId="{ED354ED8-DEDD-46AB-AA3B-E93B8F2B7E0C}"/>
    <dgm:cxn modelId="{70A1051B-AC36-4C01-8B81-719D93D62BB6}" type="presOf" srcId="{306CBE5E-BF98-43FF-BC76-3CF1E7F527DF}" destId="{6366A009-9095-4174-A179-EA56C91F814F}" srcOrd="0" destOrd="0" presId="urn:microsoft.com/office/officeart/2018/2/layout/IconVerticalSolidList"/>
    <dgm:cxn modelId="{B1ED7B1D-2080-428A-A3E4-E8D383043FFB}" srcId="{2C33ABB4-6469-4DC7-B4F0-7F105B0DD804}" destId="{DEF5FBFA-EEF6-42CA-820A-4B8B3D71EF90}" srcOrd="0" destOrd="0" parTransId="{E3DD4422-82EE-45F8-A384-52548A97279E}" sibTransId="{58176BD1-0AE3-4B72-995A-DECED535664D}"/>
    <dgm:cxn modelId="{BD96AC3B-8071-4E52-8C98-85E25EFE6F7E}" srcId="{04B9A277-93AD-4663-8A18-DE517590A6C9}" destId="{06FFF57F-C3D7-42D9-9852-2440613E1FC2}" srcOrd="0" destOrd="0" parTransId="{8D5F606E-99FC-4E01-9C1D-27A78B356AE7}" sibTransId="{D79F5CFA-5879-478C-ABF5-C0CF2DE8446C}"/>
    <dgm:cxn modelId="{F95F153F-D240-471B-A928-BD4C258BF67C}" type="presOf" srcId="{F2219472-4624-4135-AF01-E2A59F2776F7}" destId="{83009AEE-B7E1-41F6-95A1-F9375B005127}" srcOrd="0" destOrd="0" presId="urn:microsoft.com/office/officeart/2018/2/layout/IconVerticalSolidList"/>
    <dgm:cxn modelId="{7B3E8660-2F52-4787-9A61-3FFE123F75C5}" type="presOf" srcId="{906631FA-4C67-4039-B0F2-C8D571235E4B}" destId="{28176F73-A027-40EF-BDF4-EE693B24FC9B}" srcOrd="0" destOrd="1" presId="urn:microsoft.com/office/officeart/2018/2/layout/IconVerticalSolidList"/>
    <dgm:cxn modelId="{0B941D64-D96A-4213-A106-FFFB9A1C6057}" srcId="{2C33ABB4-6469-4DC7-B4F0-7F105B0DD804}" destId="{F2219472-4624-4135-AF01-E2A59F2776F7}" srcOrd="2" destOrd="0" parTransId="{40864468-40A6-45F9-B8EC-F3038DF5F2B1}" sibTransId="{EEBE8972-BC04-48A1-B202-53D7797BDB42}"/>
    <dgm:cxn modelId="{CA182265-6768-485F-ACCB-D670B0633E24}" type="presOf" srcId="{D69EA5E4-A3A1-4150-B9A0-4938B0574CDC}" destId="{28176F73-A027-40EF-BDF4-EE693B24FC9B}" srcOrd="0" destOrd="0" presId="urn:microsoft.com/office/officeart/2018/2/layout/IconVerticalSolidList"/>
    <dgm:cxn modelId="{5A11684A-F4D7-4D42-8C1C-04665E87D1F6}" srcId="{2C33ABB4-6469-4DC7-B4F0-7F105B0DD804}" destId="{04B9A277-93AD-4663-8A18-DE517590A6C9}" srcOrd="1" destOrd="0" parTransId="{2BAACBC8-781C-4046-AB6A-C5D7A3BCF02D}" sibTransId="{61E2EF8C-54CB-4CF5-B080-51C4FAE3F69F}"/>
    <dgm:cxn modelId="{3E0F1677-00AB-43EE-BE94-E99C985F0781}" type="presOf" srcId="{04B9A277-93AD-4663-8A18-DE517590A6C9}" destId="{8465C547-8CFF-4F52-851E-03BFDDDFCD29}" srcOrd="0" destOrd="0" presId="urn:microsoft.com/office/officeart/2018/2/layout/IconVerticalSolidList"/>
    <dgm:cxn modelId="{380D6E9C-ADF7-4A11-8718-8F0C8CB4B6A3}" type="presOf" srcId="{06FFF57F-C3D7-42D9-9852-2440613E1FC2}" destId="{59553F72-D324-46AB-AF48-9F2F05FB696C}" srcOrd="0" destOrd="0" presId="urn:microsoft.com/office/officeart/2018/2/layout/IconVerticalSolidList"/>
    <dgm:cxn modelId="{4D05DCA9-C6DC-4148-915B-89F0F02D2726}" type="presOf" srcId="{DEF5FBFA-EEF6-42CA-820A-4B8B3D71EF90}" destId="{81D5E631-8FAB-4096-978E-0490E281A476}" srcOrd="0" destOrd="0" presId="urn:microsoft.com/office/officeart/2018/2/layout/IconVerticalSolidList"/>
    <dgm:cxn modelId="{7691C5CE-81E0-4266-8E20-DB742CC0DCCA}" srcId="{DEF5FBFA-EEF6-42CA-820A-4B8B3D71EF90}" destId="{D69EA5E4-A3A1-4150-B9A0-4938B0574CDC}" srcOrd="0" destOrd="0" parTransId="{E9440B6C-4EF7-46DD-940C-33AB5A3AB7E5}" sibTransId="{7050C37A-D595-459F-AD5D-80CF00896DBF}"/>
    <dgm:cxn modelId="{06244BD4-CD83-46E7-B57B-B82B63408013}" type="presOf" srcId="{99A3A8D1-58D1-423B-89A8-C336A92D8C6C}" destId="{6366A009-9095-4174-A179-EA56C91F814F}" srcOrd="0" destOrd="1" presId="urn:microsoft.com/office/officeart/2018/2/layout/IconVerticalSolidList"/>
    <dgm:cxn modelId="{66F9FDD6-0E1F-4F6E-BAF3-6F35723B31AC}" type="presOf" srcId="{2C33ABB4-6469-4DC7-B4F0-7F105B0DD804}" destId="{58AC87AD-4DEC-4EC3-9345-F39BDCABA8A3}" srcOrd="0" destOrd="0" presId="urn:microsoft.com/office/officeart/2018/2/layout/IconVerticalSolidList"/>
    <dgm:cxn modelId="{76865F10-77B5-446D-9D7A-6039F313132E}" type="presParOf" srcId="{58AC87AD-4DEC-4EC3-9345-F39BDCABA8A3}" destId="{CC55E5D7-BE1C-46E1-B64C-AF63B4D85248}" srcOrd="0" destOrd="0" presId="urn:microsoft.com/office/officeart/2018/2/layout/IconVerticalSolidList"/>
    <dgm:cxn modelId="{412B37E5-A425-4683-ABA5-4320B8286114}" type="presParOf" srcId="{CC55E5D7-BE1C-46E1-B64C-AF63B4D85248}" destId="{BD7BD8B6-E16F-44C8-93AC-0E114B72F027}" srcOrd="0" destOrd="0" presId="urn:microsoft.com/office/officeart/2018/2/layout/IconVerticalSolidList"/>
    <dgm:cxn modelId="{C08BBEA5-20DA-4289-BB22-3C7A3EA94C1B}" type="presParOf" srcId="{CC55E5D7-BE1C-46E1-B64C-AF63B4D85248}" destId="{4032DD51-9E46-4511-B364-3480F958DBE9}" srcOrd="1" destOrd="0" presId="urn:microsoft.com/office/officeart/2018/2/layout/IconVerticalSolidList"/>
    <dgm:cxn modelId="{767F6796-E25C-4BDE-9453-55D4015F1D82}" type="presParOf" srcId="{CC55E5D7-BE1C-46E1-B64C-AF63B4D85248}" destId="{031358CC-51E9-4416-80D6-B6F577FFB2FC}" srcOrd="2" destOrd="0" presId="urn:microsoft.com/office/officeart/2018/2/layout/IconVerticalSolidList"/>
    <dgm:cxn modelId="{F579C4F1-BA2E-427E-8896-516C489D1928}" type="presParOf" srcId="{CC55E5D7-BE1C-46E1-B64C-AF63B4D85248}" destId="{81D5E631-8FAB-4096-978E-0490E281A476}" srcOrd="3" destOrd="0" presId="urn:microsoft.com/office/officeart/2018/2/layout/IconVerticalSolidList"/>
    <dgm:cxn modelId="{0127F272-6807-4B14-9DCA-BEE6C5F734A5}" type="presParOf" srcId="{CC55E5D7-BE1C-46E1-B64C-AF63B4D85248}" destId="{28176F73-A027-40EF-BDF4-EE693B24FC9B}" srcOrd="4" destOrd="0" presId="urn:microsoft.com/office/officeart/2018/2/layout/IconVerticalSolidList"/>
    <dgm:cxn modelId="{32747684-9B40-4137-88E7-7FE540BFCB15}" type="presParOf" srcId="{58AC87AD-4DEC-4EC3-9345-F39BDCABA8A3}" destId="{F5EB6769-211B-4373-93E7-75C9152B5B90}" srcOrd="1" destOrd="0" presId="urn:microsoft.com/office/officeart/2018/2/layout/IconVerticalSolidList"/>
    <dgm:cxn modelId="{666459D2-DCB7-4CD6-9710-668ACF38BC3A}" type="presParOf" srcId="{58AC87AD-4DEC-4EC3-9345-F39BDCABA8A3}" destId="{90216817-416F-4CBD-91B9-3E6D7072F4BA}" srcOrd="2" destOrd="0" presId="urn:microsoft.com/office/officeart/2018/2/layout/IconVerticalSolidList"/>
    <dgm:cxn modelId="{871DAF0A-6E66-4E09-A83B-91AB842A742E}" type="presParOf" srcId="{90216817-416F-4CBD-91B9-3E6D7072F4BA}" destId="{E126EEC3-5F06-4F3A-986B-46894AACE80F}" srcOrd="0" destOrd="0" presId="urn:microsoft.com/office/officeart/2018/2/layout/IconVerticalSolidList"/>
    <dgm:cxn modelId="{AB045FCC-E0EB-462F-A034-D57F92D69C07}" type="presParOf" srcId="{90216817-416F-4CBD-91B9-3E6D7072F4BA}" destId="{B3C045A0-22CB-4D39-BFAE-A40B62AA7C24}" srcOrd="1" destOrd="0" presId="urn:microsoft.com/office/officeart/2018/2/layout/IconVerticalSolidList"/>
    <dgm:cxn modelId="{90AC6BC3-9E63-4659-9E46-70FDD07EA157}" type="presParOf" srcId="{90216817-416F-4CBD-91B9-3E6D7072F4BA}" destId="{1A5D5EAC-EEED-4E8A-9448-F33DE671F3DE}" srcOrd="2" destOrd="0" presId="urn:microsoft.com/office/officeart/2018/2/layout/IconVerticalSolidList"/>
    <dgm:cxn modelId="{3B2824C4-D040-4844-8215-F2E6E67268F5}" type="presParOf" srcId="{90216817-416F-4CBD-91B9-3E6D7072F4BA}" destId="{8465C547-8CFF-4F52-851E-03BFDDDFCD29}" srcOrd="3" destOrd="0" presId="urn:microsoft.com/office/officeart/2018/2/layout/IconVerticalSolidList"/>
    <dgm:cxn modelId="{AB16C92B-7871-4D6E-8E8A-DBADD02ED459}" type="presParOf" srcId="{90216817-416F-4CBD-91B9-3E6D7072F4BA}" destId="{59553F72-D324-46AB-AF48-9F2F05FB696C}" srcOrd="4" destOrd="0" presId="urn:microsoft.com/office/officeart/2018/2/layout/IconVerticalSolidList"/>
    <dgm:cxn modelId="{F4AD76D4-FC2A-4EBA-8E95-588E2CDD7BEB}" type="presParOf" srcId="{58AC87AD-4DEC-4EC3-9345-F39BDCABA8A3}" destId="{CFCFF7AA-A627-4664-8DE9-1501610243EF}" srcOrd="3" destOrd="0" presId="urn:microsoft.com/office/officeart/2018/2/layout/IconVerticalSolidList"/>
    <dgm:cxn modelId="{C00EB46F-C320-4867-8417-5BAE68C16FC7}" type="presParOf" srcId="{58AC87AD-4DEC-4EC3-9345-F39BDCABA8A3}" destId="{DE316081-64AA-4963-A1BF-A3741993E250}" srcOrd="4" destOrd="0" presId="urn:microsoft.com/office/officeart/2018/2/layout/IconVerticalSolidList"/>
    <dgm:cxn modelId="{F639DE2A-E0E3-42B3-BC95-77F8D944629D}" type="presParOf" srcId="{DE316081-64AA-4963-A1BF-A3741993E250}" destId="{05429136-04F9-4D57-B446-FB8F1A0F059E}" srcOrd="0" destOrd="0" presId="urn:microsoft.com/office/officeart/2018/2/layout/IconVerticalSolidList"/>
    <dgm:cxn modelId="{D7FEAA8E-64E7-40DA-9AA1-0AB3974A9634}" type="presParOf" srcId="{DE316081-64AA-4963-A1BF-A3741993E250}" destId="{1C50E781-C55A-4057-B648-36F55C01FB81}" srcOrd="1" destOrd="0" presId="urn:microsoft.com/office/officeart/2018/2/layout/IconVerticalSolidList"/>
    <dgm:cxn modelId="{923CC91B-D5E2-4110-90A8-44A25DEF9761}" type="presParOf" srcId="{DE316081-64AA-4963-A1BF-A3741993E250}" destId="{FB85FE71-6881-4048-84A3-47E0410A69C6}" srcOrd="2" destOrd="0" presId="urn:microsoft.com/office/officeart/2018/2/layout/IconVerticalSolidList"/>
    <dgm:cxn modelId="{F87D76F3-F600-48BF-AAF1-6B557CE6E370}" type="presParOf" srcId="{DE316081-64AA-4963-A1BF-A3741993E250}" destId="{83009AEE-B7E1-41F6-95A1-F9375B005127}" srcOrd="3" destOrd="0" presId="urn:microsoft.com/office/officeart/2018/2/layout/IconVerticalSolidList"/>
    <dgm:cxn modelId="{3A2924C7-A296-490F-9343-C02428443C3C}" type="presParOf" srcId="{DE316081-64AA-4963-A1BF-A3741993E250}" destId="{6366A009-9095-4174-A179-EA56C91F814F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58B173-AE9C-45F1-B5CE-9B794FEDF263}" type="doc">
      <dgm:prSet loTypeId="urn:microsoft.com/office/officeart/2005/8/layout/venn1" loCatId="relationship" qsTypeId="urn:microsoft.com/office/officeart/2005/8/quickstyle/simple1" qsCatId="simple" csTypeId="urn:microsoft.com/office/officeart/2005/8/colors/colorful4" csCatId="colorful" phldr="1"/>
      <dgm:spPr/>
    </dgm:pt>
    <dgm:pt modelId="{9562EE73-9201-4FC9-BBF6-771590D67C0A}">
      <dgm:prSet phldrT="[文字]" custT="1"/>
      <dgm:spPr/>
      <dgm:t>
        <a:bodyPr/>
        <a:lstStyle/>
        <a:p>
          <a:r>
            <a:rPr lang="en-US" altLang="zh-TW" sz="2000" dirty="0"/>
            <a:t>In silico: 3913</a:t>
          </a:r>
          <a:endParaRPr lang="zh-TW" altLang="en-US" sz="2000" dirty="0"/>
        </a:p>
      </dgm:t>
    </dgm:pt>
    <dgm:pt modelId="{69ED0026-849D-4D2D-AB09-9A826A8CCF4D}" type="parTrans" cxnId="{C85D0718-05D3-456D-B916-FA27DAE8A941}">
      <dgm:prSet/>
      <dgm:spPr/>
      <dgm:t>
        <a:bodyPr/>
        <a:lstStyle/>
        <a:p>
          <a:endParaRPr lang="zh-TW" altLang="en-US"/>
        </a:p>
      </dgm:t>
    </dgm:pt>
    <dgm:pt modelId="{4EBA440F-AF2B-4BD9-9ADF-692F71540059}" type="sibTrans" cxnId="{C85D0718-05D3-456D-B916-FA27DAE8A941}">
      <dgm:prSet/>
      <dgm:spPr/>
      <dgm:t>
        <a:bodyPr/>
        <a:lstStyle/>
        <a:p>
          <a:endParaRPr lang="zh-TW" altLang="en-US"/>
        </a:p>
      </dgm:t>
    </dgm:pt>
    <dgm:pt modelId="{E5398F33-57E2-45A5-860F-CBB4939FB5EB}">
      <dgm:prSet phldrT="[文字]" custT="1"/>
      <dgm:spPr/>
      <dgm:t>
        <a:bodyPr/>
        <a:lstStyle/>
        <a:p>
          <a:endParaRPr lang="en-US" altLang="zh-TW" sz="1200" dirty="0"/>
        </a:p>
        <a:p>
          <a:r>
            <a:rPr lang="en-US" altLang="zh-TW" sz="1200" dirty="0"/>
            <a:t>Manual:</a:t>
          </a:r>
        </a:p>
        <a:p>
          <a:r>
            <a:rPr lang="en-US" altLang="zh-TW" sz="1200" dirty="0"/>
            <a:t>28</a:t>
          </a:r>
        </a:p>
        <a:p>
          <a:endParaRPr lang="zh-TW" altLang="en-US" sz="1200" dirty="0"/>
        </a:p>
      </dgm:t>
    </dgm:pt>
    <dgm:pt modelId="{D926856A-9EB5-4879-BFF3-2B11F04720E0}" type="parTrans" cxnId="{BF1B006A-228D-4E35-B18E-9FF62D994146}">
      <dgm:prSet/>
      <dgm:spPr/>
      <dgm:t>
        <a:bodyPr/>
        <a:lstStyle/>
        <a:p>
          <a:endParaRPr lang="zh-TW" altLang="en-US"/>
        </a:p>
      </dgm:t>
    </dgm:pt>
    <dgm:pt modelId="{10539690-BA36-4EDE-B9BE-6F6A4E0B06E1}" type="sibTrans" cxnId="{BF1B006A-228D-4E35-B18E-9FF62D994146}">
      <dgm:prSet/>
      <dgm:spPr/>
      <dgm:t>
        <a:bodyPr/>
        <a:lstStyle/>
        <a:p>
          <a:endParaRPr lang="zh-TW" altLang="en-US"/>
        </a:p>
      </dgm:t>
    </dgm:pt>
    <dgm:pt modelId="{53FDEA57-FC10-4C73-BC5A-2CBAC13DC799}" type="pres">
      <dgm:prSet presAssocID="{6858B173-AE9C-45F1-B5CE-9B794FEDF263}" presName="compositeShape" presStyleCnt="0">
        <dgm:presLayoutVars>
          <dgm:chMax val="7"/>
          <dgm:dir/>
          <dgm:resizeHandles val="exact"/>
        </dgm:presLayoutVars>
      </dgm:prSet>
      <dgm:spPr/>
    </dgm:pt>
    <dgm:pt modelId="{05E4C3C5-51A8-4343-B84B-7F110433C4CE}" type="pres">
      <dgm:prSet presAssocID="{9562EE73-9201-4FC9-BBF6-771590D67C0A}" presName="circ1" presStyleLbl="vennNode1" presStyleIdx="0" presStyleCnt="2"/>
      <dgm:spPr/>
    </dgm:pt>
    <dgm:pt modelId="{B2C3C764-D81D-4FB4-9E1A-FE2F0AF835EE}" type="pres">
      <dgm:prSet presAssocID="{9562EE73-9201-4FC9-BBF6-771590D67C0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0843DD7-783D-44D7-9EBA-D89DF5062806}" type="pres">
      <dgm:prSet presAssocID="{E5398F33-57E2-45A5-860F-CBB4939FB5EB}" presName="circ2" presStyleLbl="vennNode1" presStyleIdx="1" presStyleCnt="2" custScaleX="24612" custScaleY="22889" custLinFactNeighborX="-31986" custLinFactNeighborY="2861"/>
      <dgm:spPr/>
    </dgm:pt>
    <dgm:pt modelId="{9709CCBC-ED98-4A52-B9B1-806D71948F9D}" type="pres">
      <dgm:prSet presAssocID="{E5398F33-57E2-45A5-860F-CBB4939FB5EB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C85D0718-05D3-456D-B916-FA27DAE8A941}" srcId="{6858B173-AE9C-45F1-B5CE-9B794FEDF263}" destId="{9562EE73-9201-4FC9-BBF6-771590D67C0A}" srcOrd="0" destOrd="0" parTransId="{69ED0026-849D-4D2D-AB09-9A826A8CCF4D}" sibTransId="{4EBA440F-AF2B-4BD9-9ADF-692F71540059}"/>
    <dgm:cxn modelId="{BF1B006A-228D-4E35-B18E-9FF62D994146}" srcId="{6858B173-AE9C-45F1-B5CE-9B794FEDF263}" destId="{E5398F33-57E2-45A5-860F-CBB4939FB5EB}" srcOrd="1" destOrd="0" parTransId="{D926856A-9EB5-4879-BFF3-2B11F04720E0}" sibTransId="{10539690-BA36-4EDE-B9BE-6F6A4E0B06E1}"/>
    <dgm:cxn modelId="{BB8B0C4C-8126-471C-AE25-754BCB04957E}" type="presOf" srcId="{9562EE73-9201-4FC9-BBF6-771590D67C0A}" destId="{05E4C3C5-51A8-4343-B84B-7F110433C4CE}" srcOrd="0" destOrd="0" presId="urn:microsoft.com/office/officeart/2005/8/layout/venn1"/>
    <dgm:cxn modelId="{FF70EE78-98D8-4E49-B80D-BA9EF9F2BA21}" type="presOf" srcId="{E5398F33-57E2-45A5-860F-CBB4939FB5EB}" destId="{9709CCBC-ED98-4A52-B9B1-806D71948F9D}" srcOrd="1" destOrd="0" presId="urn:microsoft.com/office/officeart/2005/8/layout/venn1"/>
    <dgm:cxn modelId="{BA141788-0B51-440C-8167-9A241B020764}" type="presOf" srcId="{E5398F33-57E2-45A5-860F-CBB4939FB5EB}" destId="{20843DD7-783D-44D7-9EBA-D89DF5062806}" srcOrd="0" destOrd="0" presId="urn:microsoft.com/office/officeart/2005/8/layout/venn1"/>
    <dgm:cxn modelId="{1CBB35B4-AE11-4E7F-8B21-D890BBD23444}" type="presOf" srcId="{6858B173-AE9C-45F1-B5CE-9B794FEDF263}" destId="{53FDEA57-FC10-4C73-BC5A-2CBAC13DC799}" srcOrd="0" destOrd="0" presId="urn:microsoft.com/office/officeart/2005/8/layout/venn1"/>
    <dgm:cxn modelId="{94F4FEFD-684F-474D-BEC1-C9CC2F614EA6}" type="presOf" srcId="{9562EE73-9201-4FC9-BBF6-771590D67C0A}" destId="{B2C3C764-D81D-4FB4-9E1A-FE2F0AF835EE}" srcOrd="1" destOrd="0" presId="urn:microsoft.com/office/officeart/2005/8/layout/venn1"/>
    <dgm:cxn modelId="{04F9EA41-86D9-45CE-88A7-58E0C4FDC2B0}" type="presParOf" srcId="{53FDEA57-FC10-4C73-BC5A-2CBAC13DC799}" destId="{05E4C3C5-51A8-4343-B84B-7F110433C4CE}" srcOrd="0" destOrd="0" presId="urn:microsoft.com/office/officeart/2005/8/layout/venn1"/>
    <dgm:cxn modelId="{BB8F6D2A-56F3-4CF7-95B4-943DCF9DCD8C}" type="presParOf" srcId="{53FDEA57-FC10-4C73-BC5A-2CBAC13DC799}" destId="{B2C3C764-D81D-4FB4-9E1A-FE2F0AF835EE}" srcOrd="1" destOrd="0" presId="urn:microsoft.com/office/officeart/2005/8/layout/venn1"/>
    <dgm:cxn modelId="{19F6F015-45DC-452C-A1AC-56DBCA75D839}" type="presParOf" srcId="{53FDEA57-FC10-4C73-BC5A-2CBAC13DC799}" destId="{20843DD7-783D-44D7-9EBA-D89DF5062806}" srcOrd="2" destOrd="0" presId="urn:microsoft.com/office/officeart/2005/8/layout/venn1"/>
    <dgm:cxn modelId="{9D790B33-A9DF-4DBB-BF55-F4992F258CDF}" type="presParOf" srcId="{53FDEA57-FC10-4C73-BC5A-2CBAC13DC799}" destId="{9709CCBC-ED98-4A52-B9B1-806D71948F9D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874585-2C60-4181-949F-79569045D1C5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E46A4F00-0F6D-440A-A2D9-FE74AFB1953E}">
      <dgm:prSet/>
      <dgm:spPr/>
      <dgm:t>
        <a:bodyPr/>
        <a:lstStyle/>
        <a:p>
          <a:r>
            <a:rPr lang="en-US"/>
            <a:t>Data preprocessing </a:t>
          </a:r>
        </a:p>
      </dgm:t>
    </dgm:pt>
    <dgm:pt modelId="{0E859A39-16FE-4816-B842-E9E27744DE57}" type="parTrans" cxnId="{4A9B94C2-EF92-4C14-AD34-AB97C25BE9AE}">
      <dgm:prSet/>
      <dgm:spPr/>
      <dgm:t>
        <a:bodyPr/>
        <a:lstStyle/>
        <a:p>
          <a:endParaRPr lang="en-US"/>
        </a:p>
      </dgm:t>
    </dgm:pt>
    <dgm:pt modelId="{98822BEA-C555-4529-AAF3-35C9B2858A56}" type="sibTrans" cxnId="{4A9B94C2-EF92-4C14-AD34-AB97C25BE9AE}">
      <dgm:prSet/>
      <dgm:spPr/>
      <dgm:t>
        <a:bodyPr/>
        <a:lstStyle/>
        <a:p>
          <a:endParaRPr lang="en-US"/>
        </a:p>
      </dgm:t>
    </dgm:pt>
    <dgm:pt modelId="{9FCDBBFB-54EF-4785-9BD3-57920673AE97}">
      <dgm:prSet/>
      <dgm:spPr/>
      <dgm:t>
        <a:bodyPr/>
        <a:lstStyle/>
        <a:p>
          <a:r>
            <a:rPr lang="en-US"/>
            <a:t>Generate ML-friendly formatted csv (tsv)</a:t>
          </a:r>
        </a:p>
      </dgm:t>
    </dgm:pt>
    <dgm:pt modelId="{B2A4B8AD-EFC7-48BC-951E-C894E770FA7F}" type="parTrans" cxnId="{15642A76-75E2-4C85-8924-23AF562A77E4}">
      <dgm:prSet/>
      <dgm:spPr/>
      <dgm:t>
        <a:bodyPr/>
        <a:lstStyle/>
        <a:p>
          <a:endParaRPr lang="en-US"/>
        </a:p>
      </dgm:t>
    </dgm:pt>
    <dgm:pt modelId="{E44DAF5F-C197-4E76-9F89-27C87A8EBAB7}" type="sibTrans" cxnId="{15642A76-75E2-4C85-8924-23AF562A77E4}">
      <dgm:prSet/>
      <dgm:spPr/>
      <dgm:t>
        <a:bodyPr/>
        <a:lstStyle/>
        <a:p>
          <a:endParaRPr lang="en-US"/>
        </a:p>
      </dgm:t>
    </dgm:pt>
    <dgm:pt modelId="{86351DB8-812C-4D09-8846-E43FD9A58733}">
      <dgm:prSet/>
      <dgm:spPr/>
      <dgm:t>
        <a:bodyPr/>
        <a:lstStyle/>
        <a:p>
          <a:r>
            <a:rPr lang="en-US"/>
            <a:t>Convert from .raw file (ThermoFisher Scientific ©)</a:t>
          </a:r>
        </a:p>
      </dgm:t>
    </dgm:pt>
    <dgm:pt modelId="{B23CF772-E72E-406D-877B-E290B385227E}" type="parTrans" cxnId="{96845CB7-CC89-4540-8378-035419EAE9FB}">
      <dgm:prSet/>
      <dgm:spPr/>
      <dgm:t>
        <a:bodyPr/>
        <a:lstStyle/>
        <a:p>
          <a:endParaRPr lang="en-US"/>
        </a:p>
      </dgm:t>
    </dgm:pt>
    <dgm:pt modelId="{083E3F00-5DD0-49F0-B02C-495CB0BD1DE5}" type="sibTrans" cxnId="{96845CB7-CC89-4540-8378-035419EAE9FB}">
      <dgm:prSet/>
      <dgm:spPr/>
      <dgm:t>
        <a:bodyPr/>
        <a:lstStyle/>
        <a:p>
          <a:endParaRPr lang="en-US"/>
        </a:p>
      </dgm:t>
    </dgm:pt>
    <dgm:pt modelId="{77D14BF6-B87C-4634-A7D7-C6FCAFB3BD31}">
      <dgm:prSet/>
      <dgm:spPr/>
      <dgm:t>
        <a:bodyPr/>
        <a:lstStyle/>
        <a:p>
          <a:r>
            <a:rPr lang="en-US"/>
            <a:t>Convert from  generic .mzML(xml like format) file</a:t>
          </a:r>
        </a:p>
      </dgm:t>
    </dgm:pt>
    <dgm:pt modelId="{6F9093B5-35B2-458D-B1DA-A2CB1597EB32}" type="parTrans" cxnId="{7A44B465-4A3E-4606-A77D-583571A15626}">
      <dgm:prSet/>
      <dgm:spPr/>
      <dgm:t>
        <a:bodyPr/>
        <a:lstStyle/>
        <a:p>
          <a:endParaRPr lang="en-US"/>
        </a:p>
      </dgm:t>
    </dgm:pt>
    <dgm:pt modelId="{F461769F-88E9-4CFA-8993-BB27E4B24139}" type="sibTrans" cxnId="{7A44B465-4A3E-4606-A77D-583571A15626}">
      <dgm:prSet/>
      <dgm:spPr/>
      <dgm:t>
        <a:bodyPr/>
        <a:lstStyle/>
        <a:p>
          <a:endParaRPr lang="en-US"/>
        </a:p>
      </dgm:t>
    </dgm:pt>
    <dgm:pt modelId="{00C1E850-F58E-4FC4-B015-83C64406D52C}">
      <dgm:prSet/>
      <dgm:spPr/>
      <dgm:t>
        <a:bodyPr/>
        <a:lstStyle/>
        <a:p>
          <a:r>
            <a:rPr lang="en-US"/>
            <a:t>Generate metadata for further tracking</a:t>
          </a:r>
        </a:p>
      </dgm:t>
    </dgm:pt>
    <dgm:pt modelId="{030BF724-008C-4EC2-AD81-70A0F50C045C}" type="parTrans" cxnId="{5614A541-D107-4B31-A322-9D9F23917948}">
      <dgm:prSet/>
      <dgm:spPr/>
      <dgm:t>
        <a:bodyPr/>
        <a:lstStyle/>
        <a:p>
          <a:endParaRPr lang="en-US"/>
        </a:p>
      </dgm:t>
    </dgm:pt>
    <dgm:pt modelId="{018F9337-B746-4392-AAD4-996DEC70738C}" type="sibTrans" cxnId="{5614A541-D107-4B31-A322-9D9F23917948}">
      <dgm:prSet/>
      <dgm:spPr/>
      <dgm:t>
        <a:bodyPr/>
        <a:lstStyle/>
        <a:p>
          <a:endParaRPr lang="en-US"/>
        </a:p>
      </dgm:t>
    </dgm:pt>
    <dgm:pt modelId="{A443A3DD-3263-4331-9298-FD9E87756720}">
      <dgm:prSet/>
      <dgm:spPr/>
      <dgm:t>
        <a:bodyPr/>
        <a:lstStyle/>
        <a:p>
          <a:r>
            <a:rPr lang="en-US"/>
            <a:t>Dataset preparation</a:t>
          </a:r>
        </a:p>
      </dgm:t>
    </dgm:pt>
    <dgm:pt modelId="{C65F1167-A1D2-40F8-BFD6-8EE95300B8BC}" type="parTrans" cxnId="{A4F2D1C9-8CD3-41A4-A811-2BFBD26D70A8}">
      <dgm:prSet/>
      <dgm:spPr/>
      <dgm:t>
        <a:bodyPr/>
        <a:lstStyle/>
        <a:p>
          <a:endParaRPr lang="en-US"/>
        </a:p>
      </dgm:t>
    </dgm:pt>
    <dgm:pt modelId="{DA1CAAB5-9E0C-4EA7-962D-52454C6D5572}" type="sibTrans" cxnId="{A4F2D1C9-8CD3-41A4-A811-2BFBD26D70A8}">
      <dgm:prSet/>
      <dgm:spPr/>
      <dgm:t>
        <a:bodyPr/>
        <a:lstStyle/>
        <a:p>
          <a:endParaRPr lang="en-US"/>
        </a:p>
      </dgm:t>
    </dgm:pt>
    <dgm:pt modelId="{C54C8AD5-08FD-4C4B-91EF-DD22024E0849}">
      <dgm:prSet/>
      <dgm:spPr/>
      <dgm:t>
        <a:bodyPr/>
        <a:lstStyle/>
        <a:p>
          <a:r>
            <a:rPr lang="en-US"/>
            <a:t>GUI-based File manager explorer</a:t>
          </a:r>
        </a:p>
      </dgm:t>
    </dgm:pt>
    <dgm:pt modelId="{EC0BA541-B4A1-4A1A-AFBE-15B722D0E523}" type="parTrans" cxnId="{6B28A3C1-A1CC-4FF9-8FCD-212F93F4BE90}">
      <dgm:prSet/>
      <dgm:spPr/>
      <dgm:t>
        <a:bodyPr/>
        <a:lstStyle/>
        <a:p>
          <a:endParaRPr lang="en-US"/>
        </a:p>
      </dgm:t>
    </dgm:pt>
    <dgm:pt modelId="{696FE38D-579F-4787-A08E-1F31B849D3B4}" type="sibTrans" cxnId="{6B28A3C1-A1CC-4FF9-8FCD-212F93F4BE90}">
      <dgm:prSet/>
      <dgm:spPr/>
      <dgm:t>
        <a:bodyPr/>
        <a:lstStyle/>
        <a:p>
          <a:endParaRPr lang="en-US"/>
        </a:p>
      </dgm:t>
    </dgm:pt>
    <dgm:pt modelId="{94B7F382-8F76-4B12-987E-DBE49981C111}">
      <dgm:prSet/>
      <dgm:spPr/>
      <dgm:t>
        <a:bodyPr/>
        <a:lstStyle/>
        <a:p>
          <a:r>
            <a:rPr lang="en-US"/>
            <a:t>Validate data formats before creating trainable datasets</a:t>
          </a:r>
        </a:p>
      </dgm:t>
    </dgm:pt>
    <dgm:pt modelId="{6B6EF97F-6F5C-40B6-A42B-5000162E3F69}" type="parTrans" cxnId="{6081C34B-F046-48FD-8360-E04C0671AAB7}">
      <dgm:prSet/>
      <dgm:spPr/>
      <dgm:t>
        <a:bodyPr/>
        <a:lstStyle/>
        <a:p>
          <a:endParaRPr lang="en-US"/>
        </a:p>
      </dgm:t>
    </dgm:pt>
    <dgm:pt modelId="{5471AC09-DF77-4BFA-B859-B1E1689E29E2}" type="sibTrans" cxnId="{6081C34B-F046-48FD-8360-E04C0671AAB7}">
      <dgm:prSet/>
      <dgm:spPr/>
      <dgm:t>
        <a:bodyPr/>
        <a:lstStyle/>
        <a:p>
          <a:endParaRPr lang="en-US"/>
        </a:p>
      </dgm:t>
    </dgm:pt>
    <dgm:pt modelId="{1EEC73C9-C86A-423F-8114-A30E06122122}">
      <dgm:prSet/>
      <dgm:spPr/>
      <dgm:t>
        <a:bodyPr/>
        <a:lstStyle/>
        <a:p>
          <a:r>
            <a:rPr lang="en-US"/>
            <a:t>Support either manual annotation or pseudo-labeling based on assigned composition boundary </a:t>
          </a:r>
        </a:p>
      </dgm:t>
    </dgm:pt>
    <dgm:pt modelId="{9ACDB93F-11F0-46D1-8090-EA17391E0986}" type="parTrans" cxnId="{6CDAA621-C632-479A-80FA-8D01EE50646E}">
      <dgm:prSet/>
      <dgm:spPr/>
      <dgm:t>
        <a:bodyPr/>
        <a:lstStyle/>
        <a:p>
          <a:endParaRPr lang="en-US"/>
        </a:p>
      </dgm:t>
    </dgm:pt>
    <dgm:pt modelId="{202E7A1E-D4FB-4F96-A6E9-8E85AFB37957}" type="sibTrans" cxnId="{6CDAA621-C632-479A-80FA-8D01EE50646E}">
      <dgm:prSet/>
      <dgm:spPr/>
      <dgm:t>
        <a:bodyPr/>
        <a:lstStyle/>
        <a:p>
          <a:endParaRPr lang="en-US"/>
        </a:p>
      </dgm:t>
    </dgm:pt>
    <dgm:pt modelId="{9D3170C8-95FA-4084-B501-4B9D02B46A81}">
      <dgm:prSet/>
      <dgm:spPr/>
      <dgm:t>
        <a:bodyPr/>
        <a:lstStyle/>
        <a:p>
          <a:r>
            <a:rPr lang="en-US"/>
            <a:t>Critical fragmentation ion mining (need manual annotation)</a:t>
          </a:r>
        </a:p>
      </dgm:t>
    </dgm:pt>
    <dgm:pt modelId="{F02CB34F-100F-4097-855F-386B1147A73F}" type="parTrans" cxnId="{7488D4E5-F69F-498B-8535-4C2828E4D599}">
      <dgm:prSet/>
      <dgm:spPr/>
      <dgm:t>
        <a:bodyPr/>
        <a:lstStyle/>
        <a:p>
          <a:endParaRPr lang="en-US"/>
        </a:p>
      </dgm:t>
    </dgm:pt>
    <dgm:pt modelId="{898B1F23-F845-4143-881C-D4405AC25E43}" type="sibTrans" cxnId="{7488D4E5-F69F-498B-8535-4C2828E4D599}">
      <dgm:prSet/>
      <dgm:spPr/>
      <dgm:t>
        <a:bodyPr/>
        <a:lstStyle/>
        <a:p>
          <a:endParaRPr lang="en-US"/>
        </a:p>
      </dgm:t>
    </dgm:pt>
    <dgm:pt modelId="{5E3AF419-5F2B-41A8-B4B1-C57B67A40994}">
      <dgm:prSet/>
      <dgm:spPr/>
      <dgm:t>
        <a:bodyPr/>
        <a:lstStyle/>
        <a:p>
          <a:r>
            <a:rPr lang="en-US"/>
            <a:t>Save operation history and allow save/read workspace </a:t>
          </a:r>
        </a:p>
      </dgm:t>
    </dgm:pt>
    <dgm:pt modelId="{4869BE5D-C7E9-4174-9F56-114E86380678}" type="parTrans" cxnId="{A323F2DB-9DDB-45D3-9DB3-AB6EC385F060}">
      <dgm:prSet/>
      <dgm:spPr/>
      <dgm:t>
        <a:bodyPr/>
        <a:lstStyle/>
        <a:p>
          <a:endParaRPr lang="en-US"/>
        </a:p>
      </dgm:t>
    </dgm:pt>
    <dgm:pt modelId="{CBF632C2-16CC-4DCE-AED8-EE91729F7187}" type="sibTrans" cxnId="{A323F2DB-9DDB-45D3-9DB3-AB6EC385F060}">
      <dgm:prSet/>
      <dgm:spPr/>
      <dgm:t>
        <a:bodyPr/>
        <a:lstStyle/>
        <a:p>
          <a:endParaRPr lang="en-US"/>
        </a:p>
      </dgm:t>
    </dgm:pt>
    <dgm:pt modelId="{86016601-F843-4563-8BB3-F501FC53D7AE}">
      <dgm:prSet/>
      <dgm:spPr/>
      <dgm:t>
        <a:bodyPr/>
        <a:lstStyle/>
        <a:p>
          <a:r>
            <a:rPr lang="en-US"/>
            <a:t>Build ML model</a:t>
          </a:r>
        </a:p>
      </dgm:t>
    </dgm:pt>
    <dgm:pt modelId="{B096C44E-D40E-4686-A0A4-EB861133E4DD}" type="parTrans" cxnId="{0BD9C2F6-77CC-4476-B787-489A32C86B63}">
      <dgm:prSet/>
      <dgm:spPr/>
      <dgm:t>
        <a:bodyPr/>
        <a:lstStyle/>
        <a:p>
          <a:endParaRPr lang="en-US"/>
        </a:p>
      </dgm:t>
    </dgm:pt>
    <dgm:pt modelId="{FEBAA70E-7866-46FA-B7B4-92BA97694872}" type="sibTrans" cxnId="{0BD9C2F6-77CC-4476-B787-489A32C86B63}">
      <dgm:prSet/>
      <dgm:spPr/>
      <dgm:t>
        <a:bodyPr/>
        <a:lstStyle/>
        <a:p>
          <a:endParaRPr lang="en-US"/>
        </a:p>
      </dgm:t>
    </dgm:pt>
    <dgm:pt modelId="{68434D7E-5908-4084-9768-0EC1D45EBE37}">
      <dgm:prSet/>
      <dgm:spPr/>
      <dgm:t>
        <a:bodyPr/>
        <a:lstStyle/>
        <a:p>
          <a:r>
            <a:rPr lang="en-US"/>
            <a:t>Adjustable parameters</a:t>
          </a:r>
        </a:p>
      </dgm:t>
    </dgm:pt>
    <dgm:pt modelId="{50242A10-2E18-4941-BC81-1CC434E2D02C}" type="parTrans" cxnId="{E2BE0CDB-BE29-43A9-A8E1-F6165C6B3095}">
      <dgm:prSet/>
      <dgm:spPr/>
      <dgm:t>
        <a:bodyPr/>
        <a:lstStyle/>
        <a:p>
          <a:endParaRPr lang="en-US"/>
        </a:p>
      </dgm:t>
    </dgm:pt>
    <dgm:pt modelId="{19156476-0402-4F9F-A1F7-E52EDA61D94B}" type="sibTrans" cxnId="{E2BE0CDB-BE29-43A9-A8E1-F6165C6B3095}">
      <dgm:prSet/>
      <dgm:spPr/>
      <dgm:t>
        <a:bodyPr/>
        <a:lstStyle/>
        <a:p>
          <a:endParaRPr lang="en-US"/>
        </a:p>
      </dgm:t>
    </dgm:pt>
    <dgm:pt modelId="{BC3F2579-A1CE-46C2-9BB1-F4D1DC915867}">
      <dgm:prSet/>
      <dgm:spPr/>
      <dgm:t>
        <a:bodyPr/>
        <a:lstStyle/>
        <a:p>
          <a:r>
            <a:rPr lang="en-US"/>
            <a:t>Able to read trained models for prediction</a:t>
          </a:r>
        </a:p>
      </dgm:t>
    </dgm:pt>
    <dgm:pt modelId="{9423EBE4-1FD0-427C-8F74-9A405E9820C9}" type="parTrans" cxnId="{E1C95EC6-234E-4224-BB91-740C59D59D83}">
      <dgm:prSet/>
      <dgm:spPr/>
      <dgm:t>
        <a:bodyPr/>
        <a:lstStyle/>
        <a:p>
          <a:endParaRPr lang="en-US"/>
        </a:p>
      </dgm:t>
    </dgm:pt>
    <dgm:pt modelId="{9CECFD43-7684-49B3-9B4C-C2630B36ED55}" type="sibTrans" cxnId="{E1C95EC6-234E-4224-BB91-740C59D59D83}">
      <dgm:prSet/>
      <dgm:spPr/>
      <dgm:t>
        <a:bodyPr/>
        <a:lstStyle/>
        <a:p>
          <a:endParaRPr lang="en-US"/>
        </a:p>
      </dgm:t>
    </dgm:pt>
    <dgm:pt modelId="{E58E61A6-8CBB-46A2-A4BB-7B63D5ECDFB8}" type="pres">
      <dgm:prSet presAssocID="{9B874585-2C60-4181-949F-79569045D1C5}" presName="linear" presStyleCnt="0">
        <dgm:presLayoutVars>
          <dgm:dir/>
          <dgm:animLvl val="lvl"/>
          <dgm:resizeHandles val="exact"/>
        </dgm:presLayoutVars>
      </dgm:prSet>
      <dgm:spPr/>
    </dgm:pt>
    <dgm:pt modelId="{21B1D3CE-36D1-4AA3-8CC3-3E68418F3BA3}" type="pres">
      <dgm:prSet presAssocID="{E46A4F00-0F6D-440A-A2D9-FE74AFB1953E}" presName="parentLin" presStyleCnt="0"/>
      <dgm:spPr/>
    </dgm:pt>
    <dgm:pt modelId="{14978F00-9E2A-4435-9D80-C2D291C00454}" type="pres">
      <dgm:prSet presAssocID="{E46A4F00-0F6D-440A-A2D9-FE74AFB1953E}" presName="parentLeftMargin" presStyleLbl="node1" presStyleIdx="0" presStyleCnt="3"/>
      <dgm:spPr/>
    </dgm:pt>
    <dgm:pt modelId="{EA3E81D8-A711-497C-8EA0-D772891923EB}" type="pres">
      <dgm:prSet presAssocID="{E46A4F00-0F6D-440A-A2D9-FE74AFB1953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F0A776A-1A6D-481E-82F2-4317868B5512}" type="pres">
      <dgm:prSet presAssocID="{E46A4F00-0F6D-440A-A2D9-FE74AFB1953E}" presName="negativeSpace" presStyleCnt="0"/>
      <dgm:spPr/>
    </dgm:pt>
    <dgm:pt modelId="{293BC9FB-66AD-45E0-A398-A1D2D965E22E}" type="pres">
      <dgm:prSet presAssocID="{E46A4F00-0F6D-440A-A2D9-FE74AFB1953E}" presName="childText" presStyleLbl="conFgAcc1" presStyleIdx="0" presStyleCnt="3">
        <dgm:presLayoutVars>
          <dgm:bulletEnabled val="1"/>
        </dgm:presLayoutVars>
      </dgm:prSet>
      <dgm:spPr/>
    </dgm:pt>
    <dgm:pt modelId="{C5E79A8B-AB52-4CEB-A076-43F9B91218D4}" type="pres">
      <dgm:prSet presAssocID="{98822BEA-C555-4529-AAF3-35C9B2858A56}" presName="spaceBetweenRectangles" presStyleCnt="0"/>
      <dgm:spPr/>
    </dgm:pt>
    <dgm:pt modelId="{23D7859A-6EEB-47DB-9B5C-DDD695928657}" type="pres">
      <dgm:prSet presAssocID="{A443A3DD-3263-4331-9298-FD9E87756720}" presName="parentLin" presStyleCnt="0"/>
      <dgm:spPr/>
    </dgm:pt>
    <dgm:pt modelId="{B499549E-2A67-490E-B30D-B87F5FD90833}" type="pres">
      <dgm:prSet presAssocID="{A443A3DD-3263-4331-9298-FD9E87756720}" presName="parentLeftMargin" presStyleLbl="node1" presStyleIdx="0" presStyleCnt="3"/>
      <dgm:spPr/>
    </dgm:pt>
    <dgm:pt modelId="{DE900FB9-2DD9-46F4-8E81-E013D45B23DA}" type="pres">
      <dgm:prSet presAssocID="{A443A3DD-3263-4331-9298-FD9E8775672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4F909DC-C314-47E1-9FEB-CDDA92FD406A}" type="pres">
      <dgm:prSet presAssocID="{A443A3DD-3263-4331-9298-FD9E87756720}" presName="negativeSpace" presStyleCnt="0"/>
      <dgm:spPr/>
    </dgm:pt>
    <dgm:pt modelId="{01170058-1BD9-41CC-A3CC-A5F6CBD3F75B}" type="pres">
      <dgm:prSet presAssocID="{A443A3DD-3263-4331-9298-FD9E87756720}" presName="childText" presStyleLbl="conFgAcc1" presStyleIdx="1" presStyleCnt="3">
        <dgm:presLayoutVars>
          <dgm:bulletEnabled val="1"/>
        </dgm:presLayoutVars>
      </dgm:prSet>
      <dgm:spPr/>
    </dgm:pt>
    <dgm:pt modelId="{56AF869B-6B98-48D2-8236-C845C079AAA5}" type="pres">
      <dgm:prSet presAssocID="{DA1CAAB5-9E0C-4EA7-962D-52454C6D5572}" presName="spaceBetweenRectangles" presStyleCnt="0"/>
      <dgm:spPr/>
    </dgm:pt>
    <dgm:pt modelId="{B0A2EAC3-A0FD-4D3C-9357-8703D1D958B7}" type="pres">
      <dgm:prSet presAssocID="{86016601-F843-4563-8BB3-F501FC53D7AE}" presName="parentLin" presStyleCnt="0"/>
      <dgm:spPr/>
    </dgm:pt>
    <dgm:pt modelId="{6862E210-313B-4EF2-987A-186F727D2245}" type="pres">
      <dgm:prSet presAssocID="{86016601-F843-4563-8BB3-F501FC53D7AE}" presName="parentLeftMargin" presStyleLbl="node1" presStyleIdx="1" presStyleCnt="3"/>
      <dgm:spPr/>
    </dgm:pt>
    <dgm:pt modelId="{2950ED8B-1AB1-44B3-947C-93EEC043050C}" type="pres">
      <dgm:prSet presAssocID="{86016601-F843-4563-8BB3-F501FC53D7A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C33342B-48BF-464F-9A46-140F2B016F3C}" type="pres">
      <dgm:prSet presAssocID="{86016601-F843-4563-8BB3-F501FC53D7AE}" presName="negativeSpace" presStyleCnt="0"/>
      <dgm:spPr/>
    </dgm:pt>
    <dgm:pt modelId="{980A2855-DD74-4B5C-AB8B-F4217C245F17}" type="pres">
      <dgm:prSet presAssocID="{86016601-F843-4563-8BB3-F501FC53D7A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41E9208-EFBD-43C2-9661-7A2DDF01263C}" type="presOf" srcId="{1EEC73C9-C86A-423F-8114-A30E06122122}" destId="{01170058-1BD9-41CC-A3CC-A5F6CBD3F75B}" srcOrd="0" destOrd="2" presId="urn:microsoft.com/office/officeart/2005/8/layout/list1"/>
    <dgm:cxn modelId="{67B2CE0B-56B8-4E66-BEF9-35218B154A68}" type="presOf" srcId="{E46A4F00-0F6D-440A-A2D9-FE74AFB1953E}" destId="{14978F00-9E2A-4435-9D80-C2D291C00454}" srcOrd="0" destOrd="0" presId="urn:microsoft.com/office/officeart/2005/8/layout/list1"/>
    <dgm:cxn modelId="{FBF4B30E-234B-4434-A331-5EAC3526576B}" type="presOf" srcId="{BC3F2579-A1CE-46C2-9BB1-F4D1DC915867}" destId="{980A2855-DD74-4B5C-AB8B-F4217C245F17}" srcOrd="0" destOrd="1" presId="urn:microsoft.com/office/officeart/2005/8/layout/list1"/>
    <dgm:cxn modelId="{AF0D4A16-82A5-43E9-9A38-911D66F1F4EF}" type="presOf" srcId="{68434D7E-5908-4084-9768-0EC1D45EBE37}" destId="{980A2855-DD74-4B5C-AB8B-F4217C245F17}" srcOrd="0" destOrd="0" presId="urn:microsoft.com/office/officeart/2005/8/layout/list1"/>
    <dgm:cxn modelId="{5D4BF117-D217-46B9-86EF-74F673500990}" type="presOf" srcId="{00C1E850-F58E-4FC4-B015-83C64406D52C}" destId="{293BC9FB-66AD-45E0-A398-A1D2D965E22E}" srcOrd="0" destOrd="3" presId="urn:microsoft.com/office/officeart/2005/8/layout/list1"/>
    <dgm:cxn modelId="{9B30481D-A4EA-4063-885D-3740333129BD}" type="presOf" srcId="{94B7F382-8F76-4B12-987E-DBE49981C111}" destId="{01170058-1BD9-41CC-A3CC-A5F6CBD3F75B}" srcOrd="0" destOrd="1" presId="urn:microsoft.com/office/officeart/2005/8/layout/list1"/>
    <dgm:cxn modelId="{6CDAA621-C632-479A-80FA-8D01EE50646E}" srcId="{A443A3DD-3263-4331-9298-FD9E87756720}" destId="{1EEC73C9-C86A-423F-8114-A30E06122122}" srcOrd="2" destOrd="0" parTransId="{9ACDB93F-11F0-46D1-8090-EA17391E0986}" sibTransId="{202E7A1E-D4FB-4F96-A6E9-8E85AFB37957}"/>
    <dgm:cxn modelId="{08E9825E-158E-467C-943E-1BB68478F2C4}" type="presOf" srcId="{E46A4F00-0F6D-440A-A2D9-FE74AFB1953E}" destId="{EA3E81D8-A711-497C-8EA0-D772891923EB}" srcOrd="1" destOrd="0" presId="urn:microsoft.com/office/officeart/2005/8/layout/list1"/>
    <dgm:cxn modelId="{5614A541-D107-4B31-A322-9D9F23917948}" srcId="{E46A4F00-0F6D-440A-A2D9-FE74AFB1953E}" destId="{00C1E850-F58E-4FC4-B015-83C64406D52C}" srcOrd="3" destOrd="0" parTransId="{030BF724-008C-4EC2-AD81-70A0F50C045C}" sibTransId="{018F9337-B746-4392-AAD4-996DEC70738C}"/>
    <dgm:cxn modelId="{7A44B465-4A3E-4606-A77D-583571A15626}" srcId="{E46A4F00-0F6D-440A-A2D9-FE74AFB1953E}" destId="{77D14BF6-B87C-4634-A7D7-C6FCAFB3BD31}" srcOrd="2" destOrd="0" parTransId="{6F9093B5-35B2-458D-B1DA-A2CB1597EB32}" sibTransId="{F461769F-88E9-4CFA-8993-BB27E4B24139}"/>
    <dgm:cxn modelId="{6081C34B-F046-48FD-8360-E04C0671AAB7}" srcId="{A443A3DD-3263-4331-9298-FD9E87756720}" destId="{94B7F382-8F76-4B12-987E-DBE49981C111}" srcOrd="1" destOrd="0" parTransId="{6B6EF97F-6F5C-40B6-A42B-5000162E3F69}" sibTransId="{5471AC09-DF77-4BFA-B859-B1E1689E29E2}"/>
    <dgm:cxn modelId="{1BFC026D-087A-46B3-A938-39A65307B728}" type="presOf" srcId="{9D3170C8-95FA-4084-B501-4B9D02B46A81}" destId="{01170058-1BD9-41CC-A3CC-A5F6CBD3F75B}" srcOrd="0" destOrd="3" presId="urn:microsoft.com/office/officeart/2005/8/layout/list1"/>
    <dgm:cxn modelId="{15642A76-75E2-4C85-8924-23AF562A77E4}" srcId="{E46A4F00-0F6D-440A-A2D9-FE74AFB1953E}" destId="{9FCDBBFB-54EF-4785-9BD3-57920673AE97}" srcOrd="0" destOrd="0" parTransId="{B2A4B8AD-EFC7-48BC-951E-C894E770FA7F}" sibTransId="{E44DAF5F-C197-4E76-9F89-27C87A8EBAB7}"/>
    <dgm:cxn modelId="{3BBA4376-02D2-4B4A-B42C-81E27462C5E4}" type="presOf" srcId="{86016601-F843-4563-8BB3-F501FC53D7AE}" destId="{2950ED8B-1AB1-44B3-947C-93EEC043050C}" srcOrd="1" destOrd="0" presId="urn:microsoft.com/office/officeart/2005/8/layout/list1"/>
    <dgm:cxn modelId="{FF77E059-C84A-4897-A97D-8C89A4983763}" type="presOf" srcId="{86016601-F843-4563-8BB3-F501FC53D7AE}" destId="{6862E210-313B-4EF2-987A-186F727D2245}" srcOrd="0" destOrd="0" presId="urn:microsoft.com/office/officeart/2005/8/layout/list1"/>
    <dgm:cxn modelId="{E7A2657D-E9FA-4A17-8CA0-67F86A30BF15}" type="presOf" srcId="{5E3AF419-5F2B-41A8-B4B1-C57B67A40994}" destId="{01170058-1BD9-41CC-A3CC-A5F6CBD3F75B}" srcOrd="0" destOrd="4" presId="urn:microsoft.com/office/officeart/2005/8/layout/list1"/>
    <dgm:cxn modelId="{A737D87D-32BC-44E3-9389-70624944E9E5}" type="presOf" srcId="{C54C8AD5-08FD-4C4B-91EF-DD22024E0849}" destId="{01170058-1BD9-41CC-A3CC-A5F6CBD3F75B}" srcOrd="0" destOrd="0" presId="urn:microsoft.com/office/officeart/2005/8/layout/list1"/>
    <dgm:cxn modelId="{FB003290-2D80-43B6-A092-8DB9CB8FBB65}" type="presOf" srcId="{77D14BF6-B87C-4634-A7D7-C6FCAFB3BD31}" destId="{293BC9FB-66AD-45E0-A398-A1D2D965E22E}" srcOrd="0" destOrd="2" presId="urn:microsoft.com/office/officeart/2005/8/layout/list1"/>
    <dgm:cxn modelId="{96845CB7-CC89-4540-8378-035419EAE9FB}" srcId="{E46A4F00-0F6D-440A-A2D9-FE74AFB1953E}" destId="{86351DB8-812C-4D09-8846-E43FD9A58733}" srcOrd="1" destOrd="0" parTransId="{B23CF772-E72E-406D-877B-E290B385227E}" sibTransId="{083E3F00-5DD0-49F0-B02C-495CB0BD1DE5}"/>
    <dgm:cxn modelId="{6B28A3C1-A1CC-4FF9-8FCD-212F93F4BE90}" srcId="{A443A3DD-3263-4331-9298-FD9E87756720}" destId="{C54C8AD5-08FD-4C4B-91EF-DD22024E0849}" srcOrd="0" destOrd="0" parTransId="{EC0BA541-B4A1-4A1A-AFBE-15B722D0E523}" sibTransId="{696FE38D-579F-4787-A08E-1F31B849D3B4}"/>
    <dgm:cxn modelId="{4A9B94C2-EF92-4C14-AD34-AB97C25BE9AE}" srcId="{9B874585-2C60-4181-949F-79569045D1C5}" destId="{E46A4F00-0F6D-440A-A2D9-FE74AFB1953E}" srcOrd="0" destOrd="0" parTransId="{0E859A39-16FE-4816-B842-E9E27744DE57}" sibTransId="{98822BEA-C555-4529-AAF3-35C9B2858A56}"/>
    <dgm:cxn modelId="{E1C95EC6-234E-4224-BB91-740C59D59D83}" srcId="{86016601-F843-4563-8BB3-F501FC53D7AE}" destId="{BC3F2579-A1CE-46C2-9BB1-F4D1DC915867}" srcOrd="1" destOrd="0" parTransId="{9423EBE4-1FD0-427C-8F74-9A405E9820C9}" sibTransId="{9CECFD43-7684-49B3-9B4C-C2630B36ED55}"/>
    <dgm:cxn modelId="{6455AEC7-341F-4D13-A8C7-454B35B4136F}" type="presOf" srcId="{A443A3DD-3263-4331-9298-FD9E87756720}" destId="{B499549E-2A67-490E-B30D-B87F5FD90833}" srcOrd="0" destOrd="0" presId="urn:microsoft.com/office/officeart/2005/8/layout/list1"/>
    <dgm:cxn modelId="{A4F2D1C9-8CD3-41A4-A811-2BFBD26D70A8}" srcId="{9B874585-2C60-4181-949F-79569045D1C5}" destId="{A443A3DD-3263-4331-9298-FD9E87756720}" srcOrd="1" destOrd="0" parTransId="{C65F1167-A1D2-40F8-BFD6-8EE95300B8BC}" sibTransId="{DA1CAAB5-9E0C-4EA7-962D-52454C6D5572}"/>
    <dgm:cxn modelId="{FA788BCB-E9A4-4A1C-942A-109148FD0D97}" type="presOf" srcId="{9B874585-2C60-4181-949F-79569045D1C5}" destId="{E58E61A6-8CBB-46A2-A4BB-7B63D5ECDFB8}" srcOrd="0" destOrd="0" presId="urn:microsoft.com/office/officeart/2005/8/layout/list1"/>
    <dgm:cxn modelId="{E2BE0CDB-BE29-43A9-A8E1-F6165C6B3095}" srcId="{86016601-F843-4563-8BB3-F501FC53D7AE}" destId="{68434D7E-5908-4084-9768-0EC1D45EBE37}" srcOrd="0" destOrd="0" parTransId="{50242A10-2E18-4941-BC81-1CC434E2D02C}" sibTransId="{19156476-0402-4F9F-A1F7-E52EDA61D94B}"/>
    <dgm:cxn modelId="{A323F2DB-9DDB-45D3-9DB3-AB6EC385F060}" srcId="{A443A3DD-3263-4331-9298-FD9E87756720}" destId="{5E3AF419-5F2B-41A8-B4B1-C57B67A40994}" srcOrd="4" destOrd="0" parTransId="{4869BE5D-C7E9-4174-9F56-114E86380678}" sibTransId="{CBF632C2-16CC-4DCE-AED8-EE91729F7187}"/>
    <dgm:cxn modelId="{F7CD99E1-1B07-49EF-B791-E8269E6F4838}" type="presOf" srcId="{9FCDBBFB-54EF-4785-9BD3-57920673AE97}" destId="{293BC9FB-66AD-45E0-A398-A1D2D965E22E}" srcOrd="0" destOrd="0" presId="urn:microsoft.com/office/officeart/2005/8/layout/list1"/>
    <dgm:cxn modelId="{D085A8E4-197D-439F-9202-F907170C391C}" type="presOf" srcId="{86351DB8-812C-4D09-8846-E43FD9A58733}" destId="{293BC9FB-66AD-45E0-A398-A1D2D965E22E}" srcOrd="0" destOrd="1" presId="urn:microsoft.com/office/officeart/2005/8/layout/list1"/>
    <dgm:cxn modelId="{7488D4E5-F69F-498B-8535-4C2828E4D599}" srcId="{A443A3DD-3263-4331-9298-FD9E87756720}" destId="{9D3170C8-95FA-4084-B501-4B9D02B46A81}" srcOrd="3" destOrd="0" parTransId="{F02CB34F-100F-4097-855F-386B1147A73F}" sibTransId="{898B1F23-F845-4143-881C-D4405AC25E43}"/>
    <dgm:cxn modelId="{0BD9C2F6-77CC-4476-B787-489A32C86B63}" srcId="{9B874585-2C60-4181-949F-79569045D1C5}" destId="{86016601-F843-4563-8BB3-F501FC53D7AE}" srcOrd="2" destOrd="0" parTransId="{B096C44E-D40E-4686-A0A4-EB861133E4DD}" sibTransId="{FEBAA70E-7866-46FA-B7B4-92BA97694872}"/>
    <dgm:cxn modelId="{100874F8-29F0-47AE-848E-BAC8BD231C4A}" type="presOf" srcId="{A443A3DD-3263-4331-9298-FD9E87756720}" destId="{DE900FB9-2DD9-46F4-8E81-E013D45B23DA}" srcOrd="1" destOrd="0" presId="urn:microsoft.com/office/officeart/2005/8/layout/list1"/>
    <dgm:cxn modelId="{9B441693-EDA9-4102-8F78-D0CE8E7D77A8}" type="presParOf" srcId="{E58E61A6-8CBB-46A2-A4BB-7B63D5ECDFB8}" destId="{21B1D3CE-36D1-4AA3-8CC3-3E68418F3BA3}" srcOrd="0" destOrd="0" presId="urn:microsoft.com/office/officeart/2005/8/layout/list1"/>
    <dgm:cxn modelId="{8D788F64-550D-4A2D-A918-F33A833F79F7}" type="presParOf" srcId="{21B1D3CE-36D1-4AA3-8CC3-3E68418F3BA3}" destId="{14978F00-9E2A-4435-9D80-C2D291C00454}" srcOrd="0" destOrd="0" presId="urn:microsoft.com/office/officeart/2005/8/layout/list1"/>
    <dgm:cxn modelId="{62573BD2-B0CD-481A-947A-39667705BCE9}" type="presParOf" srcId="{21B1D3CE-36D1-4AA3-8CC3-3E68418F3BA3}" destId="{EA3E81D8-A711-497C-8EA0-D772891923EB}" srcOrd="1" destOrd="0" presId="urn:microsoft.com/office/officeart/2005/8/layout/list1"/>
    <dgm:cxn modelId="{42D2847F-61E1-4D1A-8D2F-FCD1BC8A916F}" type="presParOf" srcId="{E58E61A6-8CBB-46A2-A4BB-7B63D5ECDFB8}" destId="{9F0A776A-1A6D-481E-82F2-4317868B5512}" srcOrd="1" destOrd="0" presId="urn:microsoft.com/office/officeart/2005/8/layout/list1"/>
    <dgm:cxn modelId="{78D0E19C-24C3-40E6-8481-3DBC6D466F67}" type="presParOf" srcId="{E58E61A6-8CBB-46A2-A4BB-7B63D5ECDFB8}" destId="{293BC9FB-66AD-45E0-A398-A1D2D965E22E}" srcOrd="2" destOrd="0" presId="urn:microsoft.com/office/officeart/2005/8/layout/list1"/>
    <dgm:cxn modelId="{4CD68280-8BD4-482A-BDCD-A9372A83418C}" type="presParOf" srcId="{E58E61A6-8CBB-46A2-A4BB-7B63D5ECDFB8}" destId="{C5E79A8B-AB52-4CEB-A076-43F9B91218D4}" srcOrd="3" destOrd="0" presId="urn:microsoft.com/office/officeart/2005/8/layout/list1"/>
    <dgm:cxn modelId="{665DF125-5193-4433-AB89-BDC06DB38A73}" type="presParOf" srcId="{E58E61A6-8CBB-46A2-A4BB-7B63D5ECDFB8}" destId="{23D7859A-6EEB-47DB-9B5C-DDD695928657}" srcOrd="4" destOrd="0" presId="urn:microsoft.com/office/officeart/2005/8/layout/list1"/>
    <dgm:cxn modelId="{C1CDC709-0525-4AF6-B403-68508A1148B0}" type="presParOf" srcId="{23D7859A-6EEB-47DB-9B5C-DDD695928657}" destId="{B499549E-2A67-490E-B30D-B87F5FD90833}" srcOrd="0" destOrd="0" presId="urn:microsoft.com/office/officeart/2005/8/layout/list1"/>
    <dgm:cxn modelId="{FF9AD919-CF54-41A2-AF9B-13062FFBC660}" type="presParOf" srcId="{23D7859A-6EEB-47DB-9B5C-DDD695928657}" destId="{DE900FB9-2DD9-46F4-8E81-E013D45B23DA}" srcOrd="1" destOrd="0" presId="urn:microsoft.com/office/officeart/2005/8/layout/list1"/>
    <dgm:cxn modelId="{14DACC9E-877D-4B87-B12A-5741BE689321}" type="presParOf" srcId="{E58E61A6-8CBB-46A2-A4BB-7B63D5ECDFB8}" destId="{E4F909DC-C314-47E1-9FEB-CDDA92FD406A}" srcOrd="5" destOrd="0" presId="urn:microsoft.com/office/officeart/2005/8/layout/list1"/>
    <dgm:cxn modelId="{E47728A1-1E86-4519-975D-454E92779DDF}" type="presParOf" srcId="{E58E61A6-8CBB-46A2-A4BB-7B63D5ECDFB8}" destId="{01170058-1BD9-41CC-A3CC-A5F6CBD3F75B}" srcOrd="6" destOrd="0" presId="urn:microsoft.com/office/officeart/2005/8/layout/list1"/>
    <dgm:cxn modelId="{CB69D63B-6725-4485-9A70-ABC5E0EAB408}" type="presParOf" srcId="{E58E61A6-8CBB-46A2-A4BB-7B63D5ECDFB8}" destId="{56AF869B-6B98-48D2-8236-C845C079AAA5}" srcOrd="7" destOrd="0" presId="urn:microsoft.com/office/officeart/2005/8/layout/list1"/>
    <dgm:cxn modelId="{6B300EED-2167-44D8-82C7-4B1A88D52E0B}" type="presParOf" srcId="{E58E61A6-8CBB-46A2-A4BB-7B63D5ECDFB8}" destId="{B0A2EAC3-A0FD-4D3C-9357-8703D1D958B7}" srcOrd="8" destOrd="0" presId="urn:microsoft.com/office/officeart/2005/8/layout/list1"/>
    <dgm:cxn modelId="{F82AD001-ECC7-4B79-9A01-660269707D21}" type="presParOf" srcId="{B0A2EAC3-A0FD-4D3C-9357-8703D1D958B7}" destId="{6862E210-313B-4EF2-987A-186F727D2245}" srcOrd="0" destOrd="0" presId="urn:microsoft.com/office/officeart/2005/8/layout/list1"/>
    <dgm:cxn modelId="{2BCBB420-D319-4A7B-8C46-DFC0DB3A19DE}" type="presParOf" srcId="{B0A2EAC3-A0FD-4D3C-9357-8703D1D958B7}" destId="{2950ED8B-1AB1-44B3-947C-93EEC043050C}" srcOrd="1" destOrd="0" presId="urn:microsoft.com/office/officeart/2005/8/layout/list1"/>
    <dgm:cxn modelId="{0031B9F6-DD2A-4BC7-B7E2-463D38A9C5E8}" type="presParOf" srcId="{E58E61A6-8CBB-46A2-A4BB-7B63D5ECDFB8}" destId="{0C33342B-48BF-464F-9A46-140F2B016F3C}" srcOrd="9" destOrd="0" presId="urn:microsoft.com/office/officeart/2005/8/layout/list1"/>
    <dgm:cxn modelId="{6AFDED40-72DB-48A9-BDD2-31203FDF14F7}" type="presParOf" srcId="{E58E61A6-8CBB-46A2-A4BB-7B63D5ECDFB8}" destId="{980A2855-DD74-4B5C-AB8B-F4217C245F1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7BD8B6-E16F-44C8-93AC-0E114B72F027}">
      <dsp:nvSpPr>
        <dsp:cNvPr id="0" name=""/>
        <dsp:cNvSpPr/>
      </dsp:nvSpPr>
      <dsp:spPr>
        <a:xfrm>
          <a:off x="0" y="3077"/>
          <a:ext cx="7886700" cy="143923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32DD51-9E46-4511-B364-3480F958DBE9}">
      <dsp:nvSpPr>
        <dsp:cNvPr id="0" name=""/>
        <dsp:cNvSpPr/>
      </dsp:nvSpPr>
      <dsp:spPr>
        <a:xfrm>
          <a:off x="435369" y="326906"/>
          <a:ext cx="791580" cy="7915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D5E631-8FAB-4096-978E-0490E281A476}">
      <dsp:nvSpPr>
        <dsp:cNvPr id="0" name=""/>
        <dsp:cNvSpPr/>
      </dsp:nvSpPr>
      <dsp:spPr>
        <a:xfrm>
          <a:off x="1662319" y="3077"/>
          <a:ext cx="3549015" cy="1439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319" tIns="152319" rIns="152319" bIns="15231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 preprocessing </a:t>
          </a:r>
        </a:p>
      </dsp:txBody>
      <dsp:txXfrm>
        <a:off x="1662319" y="3077"/>
        <a:ext cx="3549015" cy="1439237"/>
      </dsp:txXfrm>
    </dsp:sp>
    <dsp:sp modelId="{28176F73-A027-40EF-BDF4-EE693B24FC9B}">
      <dsp:nvSpPr>
        <dsp:cNvPr id="0" name=""/>
        <dsp:cNvSpPr/>
      </dsp:nvSpPr>
      <dsp:spPr>
        <a:xfrm>
          <a:off x="5211334" y="3077"/>
          <a:ext cx="2673740" cy="1439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319" tIns="152319" rIns="152319" bIns="15231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Generate ML-friendly formatted csv (</a:t>
          </a:r>
          <a:r>
            <a:rPr lang="en-US" sz="1600" kern="1200" dirty="0" err="1"/>
            <a:t>tsv</a:t>
          </a:r>
          <a:r>
            <a:rPr lang="en-US" sz="1600" kern="1200" dirty="0"/>
            <a:t>)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Generate metadata for further tracking</a:t>
          </a:r>
        </a:p>
      </dsp:txBody>
      <dsp:txXfrm>
        <a:off x="5211334" y="3077"/>
        <a:ext cx="2673740" cy="1439237"/>
      </dsp:txXfrm>
    </dsp:sp>
    <dsp:sp modelId="{E126EEC3-5F06-4F3A-986B-46894AACE80F}">
      <dsp:nvSpPr>
        <dsp:cNvPr id="0" name=""/>
        <dsp:cNvSpPr/>
      </dsp:nvSpPr>
      <dsp:spPr>
        <a:xfrm>
          <a:off x="0" y="1802124"/>
          <a:ext cx="7886700" cy="143923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C045A0-22CB-4D39-BFAE-A40B62AA7C24}">
      <dsp:nvSpPr>
        <dsp:cNvPr id="0" name=""/>
        <dsp:cNvSpPr/>
      </dsp:nvSpPr>
      <dsp:spPr>
        <a:xfrm>
          <a:off x="435369" y="2125952"/>
          <a:ext cx="791580" cy="7915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65C547-8CFF-4F52-851E-03BFDDDFCD29}">
      <dsp:nvSpPr>
        <dsp:cNvPr id="0" name=""/>
        <dsp:cNvSpPr/>
      </dsp:nvSpPr>
      <dsp:spPr>
        <a:xfrm>
          <a:off x="1662319" y="1802124"/>
          <a:ext cx="3549015" cy="1439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319" tIns="152319" rIns="152319" bIns="15231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Dataset preparation</a:t>
          </a:r>
        </a:p>
      </dsp:txBody>
      <dsp:txXfrm>
        <a:off x="1662319" y="1802124"/>
        <a:ext cx="3549015" cy="1439237"/>
      </dsp:txXfrm>
    </dsp:sp>
    <dsp:sp modelId="{59553F72-D324-46AB-AF48-9F2F05FB696C}">
      <dsp:nvSpPr>
        <dsp:cNvPr id="0" name=""/>
        <dsp:cNvSpPr/>
      </dsp:nvSpPr>
      <dsp:spPr>
        <a:xfrm>
          <a:off x="5240344" y="1802124"/>
          <a:ext cx="2615720" cy="1439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319" tIns="152319" rIns="152319" bIns="152319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Manual annotation OR</a:t>
          </a:r>
          <a:br>
            <a:rPr lang="en-US" sz="1200" kern="1200" dirty="0"/>
          </a:br>
          <a:r>
            <a:rPr lang="en-US" sz="1200" kern="1200" dirty="0"/>
            <a:t>Pseudo-labeling </a:t>
          </a:r>
          <a:br>
            <a:rPr lang="en-US" sz="1200" kern="1200" dirty="0"/>
          </a:br>
          <a:br>
            <a:rPr lang="en-US" sz="1200" kern="1200" dirty="0"/>
          </a:br>
          <a:r>
            <a:rPr lang="en-US" sz="1200" kern="1200" dirty="0"/>
            <a:t>Validate data formatting</a:t>
          </a:r>
          <a:br>
            <a:rPr lang="en-US" sz="1200" kern="1200" dirty="0"/>
          </a:br>
          <a:r>
            <a:rPr lang="en-US" sz="1200" kern="1200" dirty="0"/>
            <a:t>Critical fragmentation ion mining</a:t>
          </a:r>
          <a:br>
            <a:rPr lang="en-US" sz="1200" kern="1200" dirty="0"/>
          </a:br>
          <a:r>
            <a:rPr lang="en-US" sz="1200" kern="1200" dirty="0"/>
            <a:t>Save/load operation history and workspace </a:t>
          </a:r>
        </a:p>
      </dsp:txBody>
      <dsp:txXfrm>
        <a:off x="5240344" y="1802124"/>
        <a:ext cx="2615720" cy="1439237"/>
      </dsp:txXfrm>
    </dsp:sp>
    <dsp:sp modelId="{05429136-04F9-4D57-B446-FB8F1A0F059E}">
      <dsp:nvSpPr>
        <dsp:cNvPr id="0" name=""/>
        <dsp:cNvSpPr/>
      </dsp:nvSpPr>
      <dsp:spPr>
        <a:xfrm>
          <a:off x="0" y="3601170"/>
          <a:ext cx="7886700" cy="143923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0E781-C55A-4057-B648-36F55C01FB81}">
      <dsp:nvSpPr>
        <dsp:cNvPr id="0" name=""/>
        <dsp:cNvSpPr/>
      </dsp:nvSpPr>
      <dsp:spPr>
        <a:xfrm>
          <a:off x="435369" y="3924999"/>
          <a:ext cx="791580" cy="7915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009AEE-B7E1-41F6-95A1-F9375B005127}">
      <dsp:nvSpPr>
        <dsp:cNvPr id="0" name=""/>
        <dsp:cNvSpPr/>
      </dsp:nvSpPr>
      <dsp:spPr>
        <a:xfrm>
          <a:off x="1662319" y="3601170"/>
          <a:ext cx="3549015" cy="1439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319" tIns="152319" rIns="152319" bIns="15231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Build ML model</a:t>
          </a:r>
        </a:p>
      </dsp:txBody>
      <dsp:txXfrm>
        <a:off x="1662319" y="3601170"/>
        <a:ext cx="3549015" cy="1439237"/>
      </dsp:txXfrm>
    </dsp:sp>
    <dsp:sp modelId="{6366A009-9095-4174-A179-EA56C91F814F}">
      <dsp:nvSpPr>
        <dsp:cNvPr id="0" name=""/>
        <dsp:cNvSpPr/>
      </dsp:nvSpPr>
      <dsp:spPr>
        <a:xfrm>
          <a:off x="5211334" y="3601170"/>
          <a:ext cx="2673740" cy="1439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319" tIns="152319" rIns="152319" bIns="15231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Adjustable parameters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Able to read trained models for prediction</a:t>
          </a:r>
        </a:p>
      </dsp:txBody>
      <dsp:txXfrm>
        <a:off x="5211334" y="3601170"/>
        <a:ext cx="2673740" cy="14392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E4C3C5-51A8-4343-B84B-7F110433C4CE}">
      <dsp:nvSpPr>
        <dsp:cNvPr id="0" name=""/>
        <dsp:cNvSpPr/>
      </dsp:nvSpPr>
      <dsp:spPr>
        <a:xfrm>
          <a:off x="941825" y="10763"/>
          <a:ext cx="3935667" cy="3935667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000" kern="1200" dirty="0"/>
            <a:t>In silico: 3913</a:t>
          </a:r>
          <a:endParaRPr lang="zh-TW" altLang="en-US" sz="2000" kern="1200" dirty="0"/>
        </a:p>
      </dsp:txBody>
      <dsp:txXfrm>
        <a:off x="1491400" y="474863"/>
        <a:ext cx="2269213" cy="3007468"/>
      </dsp:txXfrm>
    </dsp:sp>
    <dsp:sp modelId="{20843DD7-783D-44D7-9EBA-D89DF5062806}">
      <dsp:nvSpPr>
        <dsp:cNvPr id="0" name=""/>
        <dsp:cNvSpPr/>
      </dsp:nvSpPr>
      <dsp:spPr>
        <a:xfrm>
          <a:off x="4002990" y="1640779"/>
          <a:ext cx="968646" cy="900835"/>
        </a:xfrm>
        <a:prstGeom prst="ellipse">
          <a:avLst/>
        </a:prstGeom>
        <a:solidFill>
          <a:schemeClr val="accent4">
            <a:alpha val="50000"/>
            <a:hueOff val="9800891"/>
            <a:satOff val="-40777"/>
            <a:lumOff val="960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TW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dirty="0"/>
            <a:t>Manual: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dirty="0"/>
            <a:t>28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200" kern="1200" dirty="0"/>
        </a:p>
      </dsp:txBody>
      <dsp:txXfrm>
        <a:off x="4277876" y="1747007"/>
        <a:ext cx="558498" cy="6883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3BC9FB-66AD-45E0-A398-A1D2D965E22E}">
      <dsp:nvSpPr>
        <dsp:cNvPr id="0" name=""/>
        <dsp:cNvSpPr/>
      </dsp:nvSpPr>
      <dsp:spPr>
        <a:xfrm>
          <a:off x="0" y="225682"/>
          <a:ext cx="5175384" cy="1370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667" tIns="312420" rIns="401667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Generate ML-friendly formatted csv (tsv)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Convert from .raw file (ThermoFisher Scientific ©)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Convert from  generic .mzML(xml like format) file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Generate metadata for further tracking</a:t>
          </a:r>
        </a:p>
      </dsp:txBody>
      <dsp:txXfrm>
        <a:off x="0" y="225682"/>
        <a:ext cx="5175384" cy="1370250"/>
      </dsp:txXfrm>
    </dsp:sp>
    <dsp:sp modelId="{EA3E81D8-A711-497C-8EA0-D772891923EB}">
      <dsp:nvSpPr>
        <dsp:cNvPr id="0" name=""/>
        <dsp:cNvSpPr/>
      </dsp:nvSpPr>
      <dsp:spPr>
        <a:xfrm>
          <a:off x="258769" y="4282"/>
          <a:ext cx="3622768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 preprocessing </a:t>
          </a:r>
        </a:p>
      </dsp:txBody>
      <dsp:txXfrm>
        <a:off x="280385" y="25898"/>
        <a:ext cx="3579536" cy="399568"/>
      </dsp:txXfrm>
    </dsp:sp>
    <dsp:sp modelId="{01170058-1BD9-41CC-A3CC-A5F6CBD3F75B}">
      <dsp:nvSpPr>
        <dsp:cNvPr id="0" name=""/>
        <dsp:cNvSpPr/>
      </dsp:nvSpPr>
      <dsp:spPr>
        <a:xfrm>
          <a:off x="0" y="1898332"/>
          <a:ext cx="5175384" cy="2457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667" tIns="312420" rIns="401667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GUI-based File manager explorer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Validate data formats before creating trainable datasets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Support either manual annotation or pseudo-labeling based on assigned composition boundary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Critical fragmentation ion mining (need manual annotation)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Save operation history and allow save/read workspace </a:t>
          </a:r>
        </a:p>
      </dsp:txBody>
      <dsp:txXfrm>
        <a:off x="0" y="1898332"/>
        <a:ext cx="5175384" cy="2457000"/>
      </dsp:txXfrm>
    </dsp:sp>
    <dsp:sp modelId="{DE900FB9-2DD9-46F4-8E81-E013D45B23DA}">
      <dsp:nvSpPr>
        <dsp:cNvPr id="0" name=""/>
        <dsp:cNvSpPr/>
      </dsp:nvSpPr>
      <dsp:spPr>
        <a:xfrm>
          <a:off x="258769" y="1676932"/>
          <a:ext cx="3622768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Dataset preparation</a:t>
          </a:r>
        </a:p>
      </dsp:txBody>
      <dsp:txXfrm>
        <a:off x="280385" y="1698548"/>
        <a:ext cx="3579536" cy="399568"/>
      </dsp:txXfrm>
    </dsp:sp>
    <dsp:sp modelId="{980A2855-DD74-4B5C-AB8B-F4217C245F17}">
      <dsp:nvSpPr>
        <dsp:cNvPr id="0" name=""/>
        <dsp:cNvSpPr/>
      </dsp:nvSpPr>
      <dsp:spPr>
        <a:xfrm>
          <a:off x="0" y="4657733"/>
          <a:ext cx="5175384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667" tIns="312420" rIns="401667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Adjustable parameters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Able to read trained models for prediction</a:t>
          </a:r>
        </a:p>
      </dsp:txBody>
      <dsp:txXfrm>
        <a:off x="0" y="4657733"/>
        <a:ext cx="5175384" cy="874125"/>
      </dsp:txXfrm>
    </dsp:sp>
    <dsp:sp modelId="{2950ED8B-1AB1-44B3-947C-93EEC043050C}">
      <dsp:nvSpPr>
        <dsp:cNvPr id="0" name=""/>
        <dsp:cNvSpPr/>
      </dsp:nvSpPr>
      <dsp:spPr>
        <a:xfrm>
          <a:off x="258769" y="4436332"/>
          <a:ext cx="3622768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Build ML model</a:t>
          </a:r>
        </a:p>
      </dsp:txBody>
      <dsp:txXfrm>
        <a:off x="280385" y="4457948"/>
        <a:ext cx="3579536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72761-839E-4A65-9BB5-A62CDE5105D1}" type="datetimeFigureOut">
              <a:rPr lang="zh-TW" altLang="en-US" smtClean="0"/>
              <a:t>2025/9/8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8601CD-3D9B-43A0-97B8-2F0C6C197A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1894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/>
              <a:t>F1 (per class)</a:t>
            </a:r>
            <a:r>
              <a:rPr lang="en-US" altLang="zh-TW" dirty="0"/>
              <a:t> = harmonic mean of precision and recall for that </a:t>
            </a:r>
            <a:r>
              <a:rPr lang="en-US" altLang="zh-TW" b="1" dirty="0"/>
              <a:t>one</a:t>
            </a:r>
            <a:r>
              <a:rPr lang="en-US" altLang="zh-TW" dirty="0"/>
              <a:t> class.</a:t>
            </a:r>
          </a:p>
          <a:p>
            <a:r>
              <a:rPr lang="en-US" altLang="zh-TW" b="1" dirty="0"/>
              <a:t>Macro F1</a:t>
            </a:r>
            <a:r>
              <a:rPr lang="en-US" altLang="zh-TW" dirty="0"/>
              <a:t> = the </a:t>
            </a:r>
            <a:r>
              <a:rPr lang="en-US" altLang="zh-TW" b="1" dirty="0"/>
              <a:t>simple average</a:t>
            </a:r>
            <a:r>
              <a:rPr lang="en-US" altLang="zh-TW" dirty="0"/>
              <a:t> of all per-class F1s (each class counts </a:t>
            </a:r>
            <a:r>
              <a:rPr lang="en-US" altLang="zh-TW" b="1" dirty="0"/>
              <a:t>equally</a:t>
            </a:r>
            <a:r>
              <a:rPr lang="en-US" altLang="zh-TW" dirty="0"/>
              <a:t>, no matter how many samples it has).</a:t>
            </a:r>
          </a:p>
          <a:p>
            <a:r>
              <a:rPr lang="en-US" altLang="zh-TW" b="1" dirty="0"/>
              <a:t>Weighted F1</a:t>
            </a:r>
            <a:r>
              <a:rPr lang="en-US" altLang="zh-TW" dirty="0"/>
              <a:t> = average of per-class F1s </a:t>
            </a:r>
            <a:r>
              <a:rPr lang="en-US" altLang="zh-TW" b="1" dirty="0"/>
              <a:t>weighted by class size</a:t>
            </a:r>
            <a:r>
              <a:rPr lang="en-US" altLang="zh-TW" dirty="0"/>
              <a:t> (big classes dominate).</a:t>
            </a:r>
          </a:p>
          <a:p>
            <a:r>
              <a:rPr lang="en-US" altLang="zh-TW" b="1" dirty="0"/>
              <a:t>Accuracy</a:t>
            </a:r>
            <a:r>
              <a:rPr lang="en-US" altLang="zh-TW" dirty="0"/>
              <a:t> = fraction of all correct predictions (heavily swayed by majority classes).</a:t>
            </a:r>
          </a:p>
          <a:p>
            <a:r>
              <a:rPr lang="en-US" altLang="zh-TW" dirty="0"/>
              <a:t>So, when you see </a:t>
            </a:r>
            <a:r>
              <a:rPr lang="en-US" altLang="zh-TW" b="1" dirty="0"/>
              <a:t>high Accuracy / high Weighted F1 but low Macro F1</a:t>
            </a:r>
            <a:r>
              <a:rPr lang="en-US" altLang="zh-TW" dirty="0"/>
              <a:t>, it means:</a:t>
            </a:r>
          </a:p>
          <a:p>
            <a:r>
              <a:rPr lang="en-US" altLang="zh-TW" dirty="0"/>
              <a:t>The model is doing </a:t>
            </a:r>
            <a:r>
              <a:rPr lang="en-US" altLang="zh-TW" b="1" dirty="0"/>
              <a:t>great on the majority class(es)</a:t>
            </a:r>
            <a:r>
              <a:rPr lang="en-US" altLang="zh-TW" dirty="0"/>
              <a:t> (here: Non-glycan) and a few common glycans.</a:t>
            </a:r>
          </a:p>
          <a:p>
            <a:r>
              <a:rPr lang="en-US" altLang="zh-TW" dirty="0"/>
              <a:t>It’s doing </a:t>
            </a:r>
            <a:r>
              <a:rPr lang="en-US" altLang="zh-TW" b="1" dirty="0"/>
              <a:t>poorly on several minority glycan classes</a:t>
            </a:r>
            <a:r>
              <a:rPr lang="en-US" altLang="zh-TW" dirty="0"/>
              <a:t>—often with F1 near zero (e.g., never predicted, or predicted with very low precision).</a:t>
            </a:r>
          </a:p>
          <a:p>
            <a:r>
              <a:rPr lang="en-US" altLang="zh-TW" dirty="0"/>
              <a:t>Because </a:t>
            </a:r>
            <a:r>
              <a:rPr lang="en-US" altLang="zh-TW" b="1" dirty="0"/>
              <a:t>Macro F1 gives every glycan type equal weight</a:t>
            </a:r>
            <a:r>
              <a:rPr lang="en-US" altLang="zh-TW" dirty="0"/>
              <a:t>, a handful of weak/zero-F1 classes </a:t>
            </a:r>
            <a:r>
              <a:rPr lang="en-US" altLang="zh-TW" b="1" dirty="0"/>
              <a:t>pull the macro average down</a:t>
            </a:r>
            <a:r>
              <a:rPr lang="en-US" altLang="zh-TW" dirty="0"/>
              <a:t>, even though the big classes look excellent.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8601CD-3D9B-43A0-97B8-2F0C6C197A24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24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25265-B2F7-4FA3-AE6B-3D8F01428FCE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227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D580-2F03-4325-90DB-C5796143E744}" type="datetimeFigureOut">
              <a:rPr lang="zh-TW" altLang="en-US" smtClean="0"/>
              <a:t>2025/9/8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714B6-DF3E-464E-ABFF-F8465458BA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4183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D580-2F03-4325-90DB-C5796143E744}" type="datetimeFigureOut">
              <a:rPr lang="zh-TW" altLang="en-US" smtClean="0"/>
              <a:t>2025/9/8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714B6-DF3E-464E-ABFF-F8465458BA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909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D580-2F03-4325-90DB-C5796143E744}" type="datetimeFigureOut">
              <a:rPr lang="zh-TW" altLang="en-US" smtClean="0"/>
              <a:t>2025/9/8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714B6-DF3E-464E-ABFF-F8465458BA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888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D580-2F03-4325-90DB-C5796143E744}" type="datetimeFigureOut">
              <a:rPr lang="zh-TW" altLang="en-US" smtClean="0"/>
              <a:t>2025/9/8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714B6-DF3E-464E-ABFF-F8465458BA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341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D580-2F03-4325-90DB-C5796143E744}" type="datetimeFigureOut">
              <a:rPr lang="zh-TW" altLang="en-US" smtClean="0"/>
              <a:t>2025/9/8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714B6-DF3E-464E-ABFF-F8465458BA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0193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D580-2F03-4325-90DB-C5796143E744}" type="datetimeFigureOut">
              <a:rPr lang="zh-TW" altLang="en-US" smtClean="0"/>
              <a:t>2025/9/8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714B6-DF3E-464E-ABFF-F8465458BA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710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D580-2F03-4325-90DB-C5796143E744}" type="datetimeFigureOut">
              <a:rPr lang="zh-TW" altLang="en-US" smtClean="0"/>
              <a:t>2025/9/8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714B6-DF3E-464E-ABFF-F8465458BA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0267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D580-2F03-4325-90DB-C5796143E744}" type="datetimeFigureOut">
              <a:rPr lang="zh-TW" altLang="en-US" smtClean="0"/>
              <a:t>2025/9/8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714B6-DF3E-464E-ABFF-F8465458BA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5518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D580-2F03-4325-90DB-C5796143E744}" type="datetimeFigureOut">
              <a:rPr lang="zh-TW" altLang="en-US" smtClean="0"/>
              <a:t>2025/9/8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714B6-DF3E-464E-ABFF-F8465458BA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6423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D580-2F03-4325-90DB-C5796143E744}" type="datetimeFigureOut">
              <a:rPr lang="zh-TW" altLang="en-US" smtClean="0"/>
              <a:t>2025/9/8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714B6-DF3E-464E-ABFF-F8465458BA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113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D580-2F03-4325-90DB-C5796143E744}" type="datetimeFigureOut">
              <a:rPr lang="zh-TW" altLang="en-US" smtClean="0"/>
              <a:t>2025/9/8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714B6-DF3E-464E-ABFF-F8465458BA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8109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5D580-2F03-4325-90DB-C5796143E744}" type="datetimeFigureOut">
              <a:rPr lang="zh-TW" altLang="en-US" smtClean="0"/>
              <a:t>2025/9/8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4714B6-DF3E-464E-ABFF-F8465458BA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4826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6.png"/><Relationship Id="rId7" Type="http://schemas.openxmlformats.org/officeDocument/2006/relationships/image" Target="../media/image4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9.png"/><Relationship Id="rId4" Type="http://schemas.openxmlformats.org/officeDocument/2006/relationships/image" Target="../media/image47.png"/><Relationship Id="rId9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6.png"/><Relationship Id="rId7" Type="http://schemas.openxmlformats.org/officeDocument/2006/relationships/image" Target="../media/image4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9.png"/><Relationship Id="rId4" Type="http://schemas.openxmlformats.org/officeDocument/2006/relationships/image" Target="../media/image47.png"/><Relationship Id="rId9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48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jp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EC45FDA-A3C6-CC85-5AA7-9C6C38AA1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971" y="798703"/>
            <a:ext cx="3915889" cy="3072015"/>
          </a:xfrm>
        </p:spPr>
        <p:txBody>
          <a:bodyPr anchor="b">
            <a:normAutofit/>
          </a:bodyPr>
          <a:lstStyle/>
          <a:p>
            <a:r>
              <a:rPr lang="en-US" altLang="zh-TW" sz="3200" dirty="0" err="1"/>
              <a:t>GlycoMSParser</a:t>
            </a:r>
            <a:r>
              <a:rPr lang="en-US" altLang="zh-TW" sz="2900" dirty="0"/>
              <a:t>:</a:t>
            </a:r>
            <a:br>
              <a:rPr lang="en-US" altLang="zh-TW" sz="2900" dirty="0"/>
            </a:br>
            <a:br>
              <a:rPr lang="en-US" altLang="zh-TW" sz="2900" dirty="0"/>
            </a:br>
            <a:r>
              <a:rPr lang="en-US" altLang="zh-TW" sz="2400" dirty="0"/>
              <a:t>A GUI/CLI Tool of building high-quality annotation glycomic data for adjustable machine-learning approach</a:t>
            </a:r>
            <a:endParaRPr lang="zh-TW" altLang="en-US" sz="29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E7C60B4-8D1E-537E-94A3-7C3539CE90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180" y="4854346"/>
            <a:ext cx="4342903" cy="1851254"/>
          </a:xfrm>
        </p:spPr>
        <p:txBody>
          <a:bodyPr anchor="t">
            <a:normAutofit/>
          </a:bodyPr>
          <a:lstStyle/>
          <a:p>
            <a:r>
              <a:rPr lang="en-US" altLang="zh-TW" sz="1800" dirty="0"/>
              <a:t>Nakai Lab (</a:t>
            </a:r>
            <a:r>
              <a:rPr lang="en-US" altLang="zh-TW" sz="1800" dirty="0" err="1"/>
              <a:t>FAiS</a:t>
            </a:r>
            <a:r>
              <a:rPr lang="en-US" altLang="zh-TW" sz="1800" dirty="0"/>
              <a:t>, IMS, </a:t>
            </a:r>
            <a:r>
              <a:rPr lang="en-US" altLang="zh-TW" sz="1800" dirty="0" err="1"/>
              <a:t>UTokyo</a:t>
            </a:r>
            <a:r>
              <a:rPr lang="en-US" altLang="zh-TW" sz="1800" dirty="0"/>
              <a:t>)</a:t>
            </a:r>
          </a:p>
          <a:p>
            <a:r>
              <a:rPr lang="en-US" altLang="zh-TW" sz="1800" dirty="0"/>
              <a:t>CBMS D4, GSFS, The University of Tokyo </a:t>
            </a:r>
          </a:p>
          <a:p>
            <a:r>
              <a:rPr lang="en-US" altLang="zh-TW" sz="1800" dirty="0"/>
              <a:t>TSENG Huan Chuan (</a:t>
            </a:r>
            <a:r>
              <a:rPr lang="zh-TW" altLang="en-US" sz="1800" dirty="0"/>
              <a:t>曾煥權</a:t>
            </a:r>
            <a:r>
              <a:rPr lang="en-US" altLang="zh-TW" sz="1800" dirty="0"/>
              <a:t>)</a:t>
            </a:r>
          </a:p>
          <a:p>
            <a:r>
              <a:rPr lang="en-US" altLang="zh-TW" sz="1800" dirty="0"/>
              <a:t>2025/9/9</a:t>
            </a:r>
            <a:endParaRPr lang="zh-TW" altLang="en-US" sz="1800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3044" y="0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13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5502" y="1"/>
            <a:ext cx="866356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圖片 4" descr="一張含有 字型, 圖形, 標誌, 符號 的圖片&#10;&#10;AI 產生的內容可能不正確。">
            <a:extLst>
              <a:ext uri="{FF2B5EF4-FFF2-40B4-BE49-F238E27FC236}">
                <a16:creationId xmlns:a16="http://schemas.microsoft.com/office/drawing/2014/main" id="{15E5821E-B312-495D-0CDB-001E570D6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130" y="329448"/>
            <a:ext cx="1208195" cy="1147405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24194" y="2916245"/>
            <a:ext cx="119806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1330" y="5717906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5633" y="6258756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2865" y="5835650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1CC139BB-8D19-5CDB-39B7-FD645A7545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376" r="31900" b="15525"/>
          <a:stretch>
            <a:fillRect/>
          </a:stretch>
        </p:blipFill>
        <p:spPr>
          <a:xfrm>
            <a:off x="6669375" y="6353490"/>
            <a:ext cx="2453964" cy="570711"/>
          </a:xfrm>
          <a:prstGeom prst="rect">
            <a:avLst/>
          </a:prstGeom>
        </p:spPr>
      </p:pic>
      <p:grpSp>
        <p:nvGrpSpPr>
          <p:cNvPr id="15" name="群組 14">
            <a:extLst>
              <a:ext uri="{FF2B5EF4-FFF2-40B4-BE49-F238E27FC236}">
                <a16:creationId xmlns:a16="http://schemas.microsoft.com/office/drawing/2014/main" id="{8D98C82B-B933-143F-45A3-70AFD5F2B8DA}"/>
              </a:ext>
            </a:extLst>
          </p:cNvPr>
          <p:cNvGrpSpPr/>
          <p:nvPr/>
        </p:nvGrpSpPr>
        <p:grpSpPr>
          <a:xfrm rot="548486">
            <a:off x="7106930" y="228349"/>
            <a:ext cx="489810" cy="1240199"/>
            <a:chOff x="1980033" y="3666454"/>
            <a:chExt cx="901685" cy="2283066"/>
          </a:xfrm>
        </p:grpSpPr>
        <p:sp>
          <p:nvSpPr>
            <p:cNvPr id="17" name="Oval 13">
              <a:extLst>
                <a:ext uri="{FF2B5EF4-FFF2-40B4-BE49-F238E27FC236}">
                  <a16:creationId xmlns:a16="http://schemas.microsoft.com/office/drawing/2014/main" id="{D92E47B5-4318-282B-444F-10B074D3C0D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145945" y="3984187"/>
              <a:ext cx="209194" cy="208979"/>
            </a:xfrm>
            <a:prstGeom prst="ellipse">
              <a:avLst/>
            </a:prstGeom>
            <a:solidFill>
              <a:srgbClr val="FFD4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" name="Line 31">
              <a:extLst>
                <a:ext uri="{FF2B5EF4-FFF2-40B4-BE49-F238E27FC236}">
                  <a16:creationId xmlns:a16="http://schemas.microsoft.com/office/drawing/2014/main" id="{A24A04FC-2A62-0E94-3B7E-7B816A97568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62360" y="5592152"/>
              <a:ext cx="8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33">
              <a:extLst>
                <a:ext uri="{FF2B5EF4-FFF2-40B4-BE49-F238E27FC236}">
                  <a16:creationId xmlns:a16="http://schemas.microsoft.com/office/drawing/2014/main" id="{C16401CF-1ECA-7E1F-0852-B900839F3B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411037" y="5361262"/>
              <a:ext cx="187817" cy="187624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Rectangle 34">
              <a:extLst>
                <a:ext uri="{FF2B5EF4-FFF2-40B4-BE49-F238E27FC236}">
                  <a16:creationId xmlns:a16="http://schemas.microsoft.com/office/drawing/2014/main" id="{50B6CDC7-43D5-7107-5B7F-3F6BA5D6834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410791" y="5075466"/>
              <a:ext cx="187817" cy="187624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" name="Oval 376">
              <a:extLst>
                <a:ext uri="{FF2B5EF4-FFF2-40B4-BE49-F238E27FC236}">
                  <a16:creationId xmlns:a16="http://schemas.microsoft.com/office/drawing/2014/main" id="{0577A813-5B19-F8FF-D235-BF881CEB2D2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397754" y="4769512"/>
              <a:ext cx="209194" cy="208979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" name="Oval 377">
              <a:extLst>
                <a:ext uri="{FF2B5EF4-FFF2-40B4-BE49-F238E27FC236}">
                  <a16:creationId xmlns:a16="http://schemas.microsoft.com/office/drawing/2014/main" id="{109B1A10-AB03-5A92-C9DA-9860334C153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661865" y="4575527"/>
              <a:ext cx="209194" cy="208979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" name="Line 31">
              <a:extLst>
                <a:ext uri="{FF2B5EF4-FFF2-40B4-BE49-F238E27FC236}">
                  <a16:creationId xmlns:a16="http://schemas.microsoft.com/office/drawing/2014/main" id="{DEDFC474-F631-0C80-652B-B8C30279D91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59981" y="5301510"/>
              <a:ext cx="8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Line 31">
              <a:extLst>
                <a:ext uri="{FF2B5EF4-FFF2-40B4-BE49-F238E27FC236}">
                  <a16:creationId xmlns:a16="http://schemas.microsoft.com/office/drawing/2014/main" id="{C31E1C3B-EE82-5B58-8722-D564AC59D6B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59735" y="5028913"/>
              <a:ext cx="8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Line 10">
              <a:extLst>
                <a:ext uri="{FF2B5EF4-FFF2-40B4-BE49-F238E27FC236}">
                  <a16:creationId xmlns:a16="http://schemas.microsoft.com/office/drawing/2014/main" id="{C485D723-146E-BB14-F513-6ED66BF6A8A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2322836" y="4715443"/>
              <a:ext cx="88700" cy="97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Oval 378">
              <a:extLst>
                <a:ext uri="{FF2B5EF4-FFF2-40B4-BE49-F238E27FC236}">
                  <a16:creationId xmlns:a16="http://schemas.microsoft.com/office/drawing/2014/main" id="{DDB0D721-FF4C-BF27-9E46-E480446C62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148068" y="4560318"/>
              <a:ext cx="209194" cy="208979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" name="Line 10">
              <a:extLst>
                <a:ext uri="{FF2B5EF4-FFF2-40B4-BE49-F238E27FC236}">
                  <a16:creationId xmlns:a16="http://schemas.microsoft.com/office/drawing/2014/main" id="{101D5400-AAEB-F166-779C-719B2B3EE5B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589552" y="4721548"/>
              <a:ext cx="88700" cy="97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 34">
              <a:extLst>
                <a:ext uri="{FF2B5EF4-FFF2-40B4-BE49-F238E27FC236}">
                  <a16:creationId xmlns:a16="http://schemas.microsoft.com/office/drawing/2014/main" id="{23B544DE-C162-F239-358D-02346B3321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155834" y="4289286"/>
              <a:ext cx="187817" cy="187624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" name="Rectangle 34">
              <a:extLst>
                <a:ext uri="{FF2B5EF4-FFF2-40B4-BE49-F238E27FC236}">
                  <a16:creationId xmlns:a16="http://schemas.microsoft.com/office/drawing/2014/main" id="{8CCC9432-4912-F762-E03F-3522F4D018F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671032" y="4299054"/>
              <a:ext cx="187817" cy="187624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" name="Oval 13">
              <a:extLst>
                <a:ext uri="{FF2B5EF4-FFF2-40B4-BE49-F238E27FC236}">
                  <a16:creationId xmlns:a16="http://schemas.microsoft.com/office/drawing/2014/main" id="{F30509E9-00EA-BA29-564C-3152C722526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657646" y="3993163"/>
              <a:ext cx="209194" cy="208979"/>
            </a:xfrm>
            <a:prstGeom prst="ellipse">
              <a:avLst/>
            </a:prstGeom>
            <a:solidFill>
              <a:srgbClr val="FFD4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5E1BA954-929F-9241-BC09-01838286762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18448" y="4252635"/>
              <a:ext cx="8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AutoShape 167">
              <a:extLst>
                <a:ext uri="{FF2B5EF4-FFF2-40B4-BE49-F238E27FC236}">
                  <a16:creationId xmlns:a16="http://schemas.microsoft.com/office/drawing/2014/main" id="{DD1A640F-C037-132E-6AB1-9540D08D1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17" y="3666454"/>
              <a:ext cx="241301" cy="241379"/>
            </a:xfrm>
            <a:prstGeom prst="diamond">
              <a:avLst/>
            </a:prstGeom>
            <a:solidFill>
              <a:srgbClr val="AB4CA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" name="Line 31">
              <a:extLst>
                <a:ext uri="{FF2B5EF4-FFF2-40B4-BE49-F238E27FC236}">
                  <a16:creationId xmlns:a16="http://schemas.microsoft.com/office/drawing/2014/main" id="{C1B4AEBE-4F43-158A-7065-735A9F02BA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17921" y="3954787"/>
              <a:ext cx="8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Line 31">
              <a:extLst>
                <a:ext uri="{FF2B5EF4-FFF2-40B4-BE49-F238E27FC236}">
                  <a16:creationId xmlns:a16="http://schemas.microsoft.com/office/drawing/2014/main" id="{04229A06-20F5-47B6-63D7-8760CF9FA7B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206747" y="4240486"/>
              <a:ext cx="8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Line 31">
              <a:extLst>
                <a:ext uri="{FF2B5EF4-FFF2-40B4-BE49-F238E27FC236}">
                  <a16:creationId xmlns:a16="http://schemas.microsoft.com/office/drawing/2014/main" id="{81B5EFF4-C621-F35E-F09C-E2EF63F02FE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206747" y="4527393"/>
              <a:ext cx="8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Line 31">
              <a:extLst>
                <a:ext uri="{FF2B5EF4-FFF2-40B4-BE49-F238E27FC236}">
                  <a16:creationId xmlns:a16="http://schemas.microsoft.com/office/drawing/2014/main" id="{5CAA1B67-0C4B-FE51-C5E0-2B258DA9E1D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18448" y="4539642"/>
              <a:ext cx="8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BFD811F1-7C99-016F-3541-B79051351733}"/>
                </a:ext>
              </a:extLst>
            </p:cNvPr>
            <p:cNvSpPr/>
            <p:nvPr/>
          </p:nvSpPr>
          <p:spPr>
            <a:xfrm>
              <a:off x="2402866" y="5630406"/>
              <a:ext cx="209195" cy="20919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5829E15C-836A-70CE-26EE-3F9A3000A78A}"/>
                </a:ext>
              </a:extLst>
            </p:cNvPr>
            <p:cNvSpPr/>
            <p:nvPr/>
          </p:nvSpPr>
          <p:spPr>
            <a:xfrm>
              <a:off x="2607362" y="5631738"/>
              <a:ext cx="209195" cy="20919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B3ECA0A5-BAA4-DF26-C84E-1A9D4C318AF7}"/>
                </a:ext>
              </a:extLst>
            </p:cNvPr>
            <p:cNvSpPr/>
            <p:nvPr/>
          </p:nvSpPr>
          <p:spPr>
            <a:xfrm>
              <a:off x="2193670" y="5683535"/>
              <a:ext cx="209195" cy="20919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3" name="橢圓 42">
              <a:extLst>
                <a:ext uri="{FF2B5EF4-FFF2-40B4-BE49-F238E27FC236}">
                  <a16:creationId xmlns:a16="http://schemas.microsoft.com/office/drawing/2014/main" id="{FAEFFFCD-4B0A-B288-716C-2D4BE44CCC62}"/>
                </a:ext>
              </a:extLst>
            </p:cNvPr>
            <p:cNvSpPr/>
            <p:nvPr/>
          </p:nvSpPr>
          <p:spPr>
            <a:xfrm>
              <a:off x="1980033" y="5740325"/>
              <a:ext cx="209195" cy="20919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pic>
        <p:nvPicPr>
          <p:cNvPr id="45" name="圖片 44">
            <a:extLst>
              <a:ext uri="{FF2B5EF4-FFF2-40B4-BE49-F238E27FC236}">
                <a16:creationId xmlns:a16="http://schemas.microsoft.com/office/drawing/2014/main" id="{CD2FF704-F05C-9711-29D1-A2A0EB8D8A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327" y="4198224"/>
            <a:ext cx="3943350" cy="2204511"/>
          </a:xfrm>
          <a:prstGeom prst="rect">
            <a:avLst/>
          </a:prstGeom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10EADE31-D737-86CE-7F6A-044414D642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881" y="1698570"/>
            <a:ext cx="4976334" cy="249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878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176E55-E762-4466-DA5D-720B6F1A8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Feature overview</a:t>
            </a:r>
            <a:endParaRPr lang="zh-TW" altLang="en-US" sz="3600" dirty="0"/>
          </a:p>
        </p:txBody>
      </p:sp>
      <p:graphicFrame>
        <p:nvGraphicFramePr>
          <p:cNvPr id="6" name="內容版面配置區 2">
            <a:extLst>
              <a:ext uri="{FF2B5EF4-FFF2-40B4-BE49-F238E27FC236}">
                <a16:creationId xmlns:a16="http://schemas.microsoft.com/office/drawing/2014/main" id="{AF34DD00-B647-4FA7-7DC6-145CF45DEF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9618662"/>
              </p:ext>
            </p:extLst>
          </p:nvPr>
        </p:nvGraphicFramePr>
        <p:xfrm>
          <a:off x="628650" y="1449388"/>
          <a:ext cx="7886700" cy="5043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5526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71F89-72BA-22EB-7768-8731317E2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EC2BA0-04D4-798E-D0F8-6A7B41AC6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Features in Data preprocessing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91EBB3-4006-CF09-1F4E-0218E95A9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1" y="1449388"/>
            <a:ext cx="8867774" cy="5043486"/>
          </a:xfrm>
        </p:spPr>
        <p:txBody>
          <a:bodyPr>
            <a:normAutofit/>
          </a:bodyPr>
          <a:lstStyle/>
          <a:p>
            <a:pPr lvl="1"/>
            <a:r>
              <a:rPr lang="en-US" altLang="zh-TW" sz="2000" dirty="0"/>
              <a:t>Generate ML-friendly formatted csv (</a:t>
            </a:r>
            <a:r>
              <a:rPr lang="en-US" altLang="zh-TW" sz="2000" dirty="0" err="1"/>
              <a:t>tsv</a:t>
            </a:r>
            <a:r>
              <a:rPr lang="en-US" altLang="zh-TW" sz="2000" dirty="0"/>
              <a:t>)</a:t>
            </a:r>
          </a:p>
          <a:p>
            <a:pPr lvl="1"/>
            <a:r>
              <a:rPr lang="en-US" altLang="zh-TW" sz="2000" dirty="0"/>
              <a:t>Indexing by MS2 scan and saving spectral data with essential information</a:t>
            </a:r>
          </a:p>
          <a:p>
            <a:pPr lvl="1"/>
            <a:r>
              <a:rPr lang="en-US" altLang="zh-TW" sz="2000" dirty="0"/>
              <a:t>The csv will be served as source data in the whole analysis pipeline</a:t>
            </a:r>
          </a:p>
          <a:p>
            <a:pPr lvl="1"/>
            <a:endParaRPr lang="en-US" altLang="zh-TW" sz="2000" dirty="0"/>
          </a:p>
          <a:p>
            <a:pPr lvl="1"/>
            <a:endParaRPr lang="en-US" altLang="zh-TW" sz="2000" dirty="0"/>
          </a:p>
          <a:p>
            <a:pPr lvl="1"/>
            <a:endParaRPr lang="en-US" altLang="zh-TW" sz="2000" dirty="0"/>
          </a:p>
          <a:p>
            <a:pPr lvl="1"/>
            <a:endParaRPr lang="en-US" altLang="zh-TW" sz="2000" dirty="0"/>
          </a:p>
          <a:p>
            <a:pPr marL="457200" lvl="1" indent="0">
              <a:buNone/>
            </a:pPr>
            <a:endParaRPr lang="en-US" altLang="zh-TW" sz="2000" dirty="0"/>
          </a:p>
          <a:p>
            <a:pPr lvl="1"/>
            <a:endParaRPr lang="en-US" altLang="zh-TW" sz="16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24931AC-CA5D-9124-50D3-F4D5DB044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2708910"/>
            <a:ext cx="8743950" cy="144018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699F47E-3436-1300-530A-FD3F53E8B8E8}"/>
              </a:ext>
            </a:extLst>
          </p:cNvPr>
          <p:cNvSpPr/>
          <p:nvPr/>
        </p:nvSpPr>
        <p:spPr>
          <a:xfrm>
            <a:off x="5734048" y="2600325"/>
            <a:ext cx="3238501" cy="181927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E83B786-A6D9-FF6A-CD43-06F8C77AB22F}"/>
              </a:ext>
            </a:extLst>
          </p:cNvPr>
          <p:cNvSpPr txBox="1"/>
          <p:nvPr/>
        </p:nvSpPr>
        <p:spPr>
          <a:xfrm>
            <a:off x="6100762" y="4528185"/>
            <a:ext cx="285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MS2 spectra peak list </a:t>
            </a:r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35667D-4EA6-64C9-4C2E-CE0971167D50}"/>
              </a:ext>
            </a:extLst>
          </p:cNvPr>
          <p:cNvSpPr/>
          <p:nvPr/>
        </p:nvSpPr>
        <p:spPr>
          <a:xfrm>
            <a:off x="847725" y="2600325"/>
            <a:ext cx="4171949" cy="181927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A31A452-27BA-AE2D-1183-E1D254591784}"/>
              </a:ext>
            </a:extLst>
          </p:cNvPr>
          <p:cNvSpPr txBox="1"/>
          <p:nvPr/>
        </p:nvSpPr>
        <p:spPr>
          <a:xfrm>
            <a:off x="1652588" y="4528185"/>
            <a:ext cx="285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Metadata of MS2 spectra</a:t>
            </a:r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E0F16A-9D3C-A9F9-4171-1CF0A24F3D8E}"/>
              </a:ext>
            </a:extLst>
          </p:cNvPr>
          <p:cNvSpPr/>
          <p:nvPr/>
        </p:nvSpPr>
        <p:spPr>
          <a:xfrm>
            <a:off x="5057775" y="2600325"/>
            <a:ext cx="647700" cy="18192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928F5DF-36B0-CE70-50DF-FFE1FA578264}"/>
              </a:ext>
            </a:extLst>
          </p:cNvPr>
          <p:cNvSpPr txBox="1"/>
          <p:nvPr/>
        </p:nvSpPr>
        <p:spPr>
          <a:xfrm>
            <a:off x="4489967" y="5042197"/>
            <a:ext cx="21526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MS2 scan number as index (unique key)</a:t>
            </a:r>
            <a:endParaRPr lang="zh-TW" altLang="en-US" dirty="0"/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5975C79B-F68A-7007-258D-32DE49B2F401}"/>
              </a:ext>
            </a:extLst>
          </p:cNvPr>
          <p:cNvSpPr/>
          <p:nvPr/>
        </p:nvSpPr>
        <p:spPr>
          <a:xfrm rot="16200000">
            <a:off x="5205413" y="4580411"/>
            <a:ext cx="352425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AFDDE53-CCA2-B353-7BB5-4800A2C66609}"/>
              </a:ext>
            </a:extLst>
          </p:cNvPr>
          <p:cNvSpPr/>
          <p:nvPr/>
        </p:nvSpPr>
        <p:spPr>
          <a:xfrm>
            <a:off x="76201" y="3509962"/>
            <a:ext cx="8991598" cy="128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9C2E4C43-FFCD-2246-7011-AEF39F75DBBA}"/>
              </a:ext>
            </a:extLst>
          </p:cNvPr>
          <p:cNvCxnSpPr/>
          <p:nvPr/>
        </p:nvCxnSpPr>
        <p:spPr>
          <a:xfrm flipH="1" flipV="1">
            <a:off x="628650" y="3743325"/>
            <a:ext cx="104775" cy="1724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C50A802-B1AB-0DE3-77CF-22CA0A4C1D31}"/>
              </a:ext>
            </a:extLst>
          </p:cNvPr>
          <p:cNvSpPr txBox="1"/>
          <p:nvPr/>
        </p:nvSpPr>
        <p:spPr>
          <a:xfrm>
            <a:off x="209550" y="5503862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Each row represents 1 MS2 spectrum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97499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3D8CE-C28B-9948-BB60-C7D070035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AFDA09-B844-9FD9-4648-BB013DE7E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Converting raw files to csv files 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E4DE9E-2EE3-DC21-9C21-CE0C7A230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1" y="1449388"/>
            <a:ext cx="8867774" cy="5043486"/>
          </a:xfrm>
        </p:spPr>
        <p:txBody>
          <a:bodyPr>
            <a:normAutofit/>
          </a:bodyPr>
          <a:lstStyle/>
          <a:p>
            <a:pPr lvl="1"/>
            <a:r>
              <a:rPr lang="en-US" altLang="zh-TW" sz="2000" dirty="0"/>
              <a:t>Support conversion from .raw file (</a:t>
            </a:r>
            <a:r>
              <a:rPr lang="en-US" altLang="zh-TW" sz="2000" dirty="0" err="1"/>
              <a:t>ThermoFisher</a:t>
            </a:r>
            <a:r>
              <a:rPr lang="en-US" altLang="zh-TW" sz="2000" dirty="0"/>
              <a:t> Scientific ©)                       </a:t>
            </a:r>
          </a:p>
          <a:p>
            <a:pPr lvl="2"/>
            <a:r>
              <a:rPr lang="en-US" altLang="zh-TW" sz="1600" dirty="0"/>
              <a:t>(Windows only)Need Thermo Foundation, </a:t>
            </a:r>
            <a:r>
              <a:rPr lang="en-US" altLang="zh-TW" sz="1600" dirty="0" err="1"/>
              <a:t>Xcalibur</a:t>
            </a:r>
            <a:r>
              <a:rPr lang="en-US" altLang="zh-TW" sz="1600" dirty="0"/>
              <a:t> and raw file reader library installed</a:t>
            </a:r>
          </a:p>
          <a:p>
            <a:pPr lvl="1"/>
            <a:r>
              <a:rPr lang="en-US" altLang="zh-TW" sz="2000" dirty="0"/>
              <a:t>Convert from  generic .mzML(xml like format) file*</a:t>
            </a:r>
          </a:p>
          <a:p>
            <a:pPr lvl="2"/>
            <a:r>
              <a:rPr lang="en-US" altLang="zh-TW" sz="1600" dirty="0"/>
              <a:t>The </a:t>
            </a:r>
            <a:r>
              <a:rPr lang="en-US" altLang="zh-TW" sz="1600" u="sng" dirty="0"/>
              <a:t>containers might change </a:t>
            </a:r>
            <a:r>
              <a:rPr lang="en-US" altLang="zh-TW" sz="1600" dirty="0"/>
              <a:t>if the </a:t>
            </a:r>
            <a:r>
              <a:rPr lang="en-US" altLang="zh-TW" sz="1600" u="sng" dirty="0"/>
              <a:t>conversion setting </a:t>
            </a:r>
            <a:r>
              <a:rPr lang="en-US" altLang="zh-TW" sz="1600" dirty="0"/>
              <a:t>differs. Need more datasets from different labs to confirm if the method works stably</a:t>
            </a:r>
          </a:p>
          <a:p>
            <a:pPr lvl="2"/>
            <a:r>
              <a:rPr lang="en-US" altLang="zh-TW" sz="1600" dirty="0"/>
              <a:t>[dev] Currently only can run in CLI (command line interface) mzML -&gt; csv</a:t>
            </a:r>
          </a:p>
          <a:p>
            <a:pPr lvl="1"/>
            <a:r>
              <a:rPr lang="en-US" altLang="zh-TW" sz="2000" dirty="0"/>
              <a:t>Generate </a:t>
            </a:r>
            <a:r>
              <a:rPr lang="en-US" altLang="zh-TW" sz="2000" dirty="0">
                <a:solidFill>
                  <a:srgbClr val="FF0000"/>
                </a:solidFill>
              </a:rPr>
              <a:t>metadata</a:t>
            </a:r>
            <a:r>
              <a:rPr lang="en-US" altLang="zh-TW" sz="2000" dirty="0"/>
              <a:t> for further tracking</a:t>
            </a:r>
          </a:p>
          <a:p>
            <a:pPr lvl="2"/>
            <a:r>
              <a:rPr lang="en-US" altLang="zh-TW" sz="1600" dirty="0"/>
              <a:t>Also include glycan basic information</a:t>
            </a:r>
            <a:br>
              <a:rPr lang="en-US" altLang="zh-TW" sz="1600" dirty="0"/>
            </a:br>
            <a:r>
              <a:rPr lang="en-US" altLang="zh-TW" sz="1600" dirty="0"/>
              <a:t>which can be imported for later analysis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009F941-62A0-C0ED-EC65-4FCAF8783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925" y="3447468"/>
            <a:ext cx="4029075" cy="346375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E89C9BA-EC92-D091-214B-09F3060DB2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0540"/>
          <a:stretch/>
        </p:blipFill>
        <p:spPr>
          <a:xfrm>
            <a:off x="76201" y="5699748"/>
            <a:ext cx="1966913" cy="109038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54F1688-1728-75D7-4212-17391DE636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057" t="-1679" r="6187" b="58147"/>
          <a:stretch>
            <a:fillRect/>
          </a:stretch>
        </p:blipFill>
        <p:spPr>
          <a:xfrm>
            <a:off x="5745480" y="4371974"/>
            <a:ext cx="2906608" cy="51489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DCF3CE0E-BFB1-34F3-1BE4-206B987E8095}"/>
              </a:ext>
            </a:extLst>
          </p:cNvPr>
          <p:cNvSpPr txBox="1"/>
          <p:nvPr/>
        </p:nvSpPr>
        <p:spPr>
          <a:xfrm>
            <a:off x="2081213" y="5903893"/>
            <a:ext cx="28336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Information printed in CLI (terminal) Will be integrated to GUI main log window</a:t>
            </a:r>
            <a:endParaRPr lang="zh-TW" altLang="en-US" sz="14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B49EB65-1484-C9BB-8F08-AFCFED612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323012"/>
            <a:ext cx="790575" cy="36682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69600D25-50CF-6355-AC04-0C1D416FBE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4963" y="4017774"/>
            <a:ext cx="3509962" cy="182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927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819333-92C5-0F7C-BDF9-B051E5510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0B8DCBA-FEED-46EF-A140-35B90401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62849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2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656150"/>
            <a:ext cx="4193090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BD5312E-57E9-674E-06D5-32797D42D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73940"/>
            <a:ext cx="3696218" cy="1035781"/>
          </a:xfrm>
        </p:spPr>
        <p:txBody>
          <a:bodyPr anchor="ctr">
            <a:normAutofit/>
          </a:bodyPr>
          <a:lstStyle/>
          <a:p>
            <a:r>
              <a:rPr lang="en-US" altLang="zh-TW" sz="3100" dirty="0"/>
              <a:t>Dataset preparation overview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716F1C-6D6F-5162-D51D-EC77A50B2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0" y="2401314"/>
            <a:ext cx="4345858" cy="4070388"/>
          </a:xfrm>
        </p:spPr>
        <p:txBody>
          <a:bodyPr anchor="ctr">
            <a:normAutofit/>
          </a:bodyPr>
          <a:lstStyle/>
          <a:p>
            <a:pPr lvl="1"/>
            <a:r>
              <a:rPr lang="en-US" altLang="zh-TW" sz="1800" dirty="0"/>
              <a:t>Experiment management</a:t>
            </a:r>
          </a:p>
          <a:p>
            <a:pPr lvl="1"/>
            <a:r>
              <a:rPr lang="en-US" altLang="zh-TW" sz="1800" dirty="0"/>
              <a:t>Independent operation on each sample</a:t>
            </a:r>
          </a:p>
          <a:p>
            <a:pPr lvl="1"/>
            <a:r>
              <a:rPr lang="en-US" altLang="zh-TW" sz="1800" dirty="0"/>
              <a:t>Save and load the workspace</a:t>
            </a:r>
          </a:p>
          <a:p>
            <a:pPr lvl="1"/>
            <a:r>
              <a:rPr lang="en-US" altLang="zh-TW" sz="1800" dirty="0"/>
              <a:t>Validate files (formatting, contents) before creating trainable datasets</a:t>
            </a:r>
          </a:p>
          <a:p>
            <a:pPr lvl="1"/>
            <a:endParaRPr lang="en-US" altLang="zh-TW" sz="1800" dirty="0"/>
          </a:p>
          <a:p>
            <a:pPr marL="457200" lvl="1" indent="0">
              <a:buNone/>
            </a:pPr>
            <a:r>
              <a:rPr lang="en-US" altLang="zh-TW" sz="1800" dirty="0"/>
              <a:t>Two approach of adding labels:</a:t>
            </a:r>
          </a:p>
          <a:p>
            <a:pPr lvl="1"/>
            <a:r>
              <a:rPr lang="en-US" altLang="zh-TW" sz="1800" dirty="0"/>
              <a:t>Use manual annotation</a:t>
            </a:r>
          </a:p>
          <a:p>
            <a:pPr lvl="1"/>
            <a:r>
              <a:rPr lang="en-US" altLang="zh-TW" sz="1800" dirty="0"/>
              <a:t>Use pseudo-labels by assigning glycan composition and restraints</a:t>
            </a:r>
          </a:p>
          <a:p>
            <a:pPr marL="457200" lvl="1" indent="0">
              <a:buNone/>
            </a:pPr>
            <a:endParaRPr lang="en-US" altLang="zh-TW" sz="1800" dirty="0"/>
          </a:p>
          <a:p>
            <a:pPr marL="457200" lvl="1" indent="0">
              <a:buNone/>
            </a:pPr>
            <a:endParaRPr lang="en-US" altLang="zh-TW" sz="18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37DD0CDF-90CB-2B29-5BFD-9CF8613C87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5" t="857" r="2310" b="20959"/>
          <a:stretch>
            <a:fillRect/>
          </a:stretch>
        </p:blipFill>
        <p:spPr>
          <a:xfrm>
            <a:off x="4347878" y="2031047"/>
            <a:ext cx="4796122" cy="3355755"/>
          </a:xfrm>
          <a:prstGeom prst="rect">
            <a:avLst/>
          </a:prstGeom>
        </p:spPr>
      </p:pic>
      <p:cxnSp>
        <p:nvCxnSpPr>
          <p:cNvPr id="15" name="Straight Connector 2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92240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箭號: 彎曲 23">
            <a:extLst>
              <a:ext uri="{FF2B5EF4-FFF2-40B4-BE49-F238E27FC236}">
                <a16:creationId xmlns:a16="http://schemas.microsoft.com/office/drawing/2014/main" id="{5DE1917B-2118-BF14-7CE4-9D0BFCE0939A}"/>
              </a:ext>
            </a:extLst>
          </p:cNvPr>
          <p:cNvSpPr/>
          <p:nvPr/>
        </p:nvSpPr>
        <p:spPr>
          <a:xfrm rot="16200000">
            <a:off x="6684306" y="5498377"/>
            <a:ext cx="431392" cy="245125"/>
          </a:xfrm>
          <a:prstGeom prst="bentArrow">
            <a:avLst>
              <a:gd name="adj1" fmla="val 25000"/>
              <a:gd name="adj2" fmla="val 33108"/>
              <a:gd name="adj3" fmla="val 49324"/>
              <a:gd name="adj4" fmla="val 43750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BDDC35F-8AF6-8899-1B5E-D09629649D5E}"/>
              </a:ext>
            </a:extLst>
          </p:cNvPr>
          <p:cNvSpPr txBox="1"/>
          <p:nvPr/>
        </p:nvSpPr>
        <p:spPr>
          <a:xfrm>
            <a:off x="5136065" y="1371945"/>
            <a:ext cx="3527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dirty="0"/>
              <a:t>Still in development, the layout and buttons may change</a:t>
            </a:r>
            <a:endParaRPr lang="zh-TW" altLang="en-US" dirty="0"/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ACBDA632-10D5-E228-F1EE-FF4F8F456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522" y="5889049"/>
            <a:ext cx="3654960" cy="917197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257C78C2-B96B-7A1C-531A-CDAAEECE7E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39" t="79542" r="32593" b="-553"/>
          <a:stretch>
            <a:fillRect/>
          </a:stretch>
        </p:blipFill>
        <p:spPr>
          <a:xfrm>
            <a:off x="7022565" y="5435877"/>
            <a:ext cx="1670612" cy="60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481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D7DBA-C4BA-D317-8D29-935A94855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>
            <a:extLst>
              <a:ext uri="{FF2B5EF4-FFF2-40B4-BE49-F238E27FC236}">
                <a16:creationId xmlns:a16="http://schemas.microsoft.com/office/drawing/2014/main" id="{01670445-105F-3F7F-2632-6509E21B9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111809"/>
            <a:ext cx="7878274" cy="245779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C58CD4D-D019-F16C-5378-728185B7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Experiment management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D916FD-DA91-DCB1-5613-8A600EF4C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1" y="1449388"/>
            <a:ext cx="8867774" cy="5043486"/>
          </a:xfrm>
        </p:spPr>
        <p:txBody>
          <a:bodyPr>
            <a:normAutofit/>
          </a:bodyPr>
          <a:lstStyle/>
          <a:p>
            <a:pPr lvl="1"/>
            <a:r>
              <a:rPr lang="en-US" altLang="zh-TW" sz="2000" dirty="0"/>
              <a:t>Main components: </a:t>
            </a:r>
          </a:p>
          <a:p>
            <a:pPr lvl="2"/>
            <a:r>
              <a:rPr lang="en-US" altLang="zh-TW" sz="1600" dirty="0"/>
              <a:t>Converted </a:t>
            </a:r>
            <a:r>
              <a:rPr lang="en-US" altLang="zh-TW" sz="1600" dirty="0">
                <a:solidFill>
                  <a:srgbClr val="FF0000"/>
                </a:solidFill>
              </a:rPr>
              <a:t>csv</a:t>
            </a:r>
            <a:r>
              <a:rPr lang="en-US" altLang="zh-TW" sz="1600" dirty="0"/>
              <a:t> file: storing spectral information</a:t>
            </a:r>
          </a:p>
          <a:p>
            <a:pPr lvl="2"/>
            <a:r>
              <a:rPr lang="en-US" altLang="zh-TW" sz="1600" dirty="0"/>
              <a:t>Manual annotation </a:t>
            </a:r>
            <a:r>
              <a:rPr lang="en-US" altLang="zh-TW" sz="1600" dirty="0">
                <a:solidFill>
                  <a:srgbClr val="FF0000"/>
                </a:solidFill>
              </a:rPr>
              <a:t>excel</a:t>
            </a:r>
            <a:r>
              <a:rPr lang="en-US" altLang="zh-TW" sz="1600" dirty="0"/>
              <a:t> (optional): storing feature and annotations for training</a:t>
            </a:r>
          </a:p>
          <a:p>
            <a:pPr lvl="2"/>
            <a:r>
              <a:rPr lang="en-US" altLang="zh-TW" sz="1600" dirty="0">
                <a:solidFill>
                  <a:srgbClr val="FF0000"/>
                </a:solidFill>
              </a:rPr>
              <a:t>Metadata</a:t>
            </a:r>
            <a:r>
              <a:rPr lang="en-US" altLang="zh-TW" sz="1600" dirty="0"/>
              <a:t>: storing sample information </a:t>
            </a:r>
            <a:endParaRPr lang="en-US" altLang="zh-TW" sz="2000" dirty="0"/>
          </a:p>
          <a:p>
            <a:pPr lvl="1"/>
            <a:r>
              <a:rPr lang="en-US" altLang="zh-TW" sz="2000" dirty="0"/>
              <a:t>Current workspace can be saved and loaded in another session</a:t>
            </a:r>
            <a:endParaRPr lang="en-US" altLang="zh-TW" sz="16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E95F74-70E3-0DC2-6715-0FFCD19F1620}"/>
              </a:ext>
            </a:extLst>
          </p:cNvPr>
          <p:cNvSpPr txBox="1"/>
          <p:nvPr/>
        </p:nvSpPr>
        <p:spPr>
          <a:xfrm>
            <a:off x="2954187" y="5705944"/>
            <a:ext cx="59897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Manual annotation data operation panel</a:t>
            </a:r>
          </a:p>
          <a:p>
            <a:r>
              <a:rPr lang="en-US" altLang="zh-TW" sz="1400" b="1" dirty="0"/>
              <a:t>Link</a:t>
            </a:r>
            <a:r>
              <a:rPr lang="en-US" altLang="zh-TW" sz="1400" dirty="0"/>
              <a:t>: validate the csv and excel</a:t>
            </a:r>
          </a:p>
          <a:p>
            <a:r>
              <a:rPr lang="en-US" altLang="zh-TW" sz="1400" b="1" dirty="0"/>
              <a:t>Negative options</a:t>
            </a:r>
            <a:r>
              <a:rPr lang="en-US" altLang="zh-TW" sz="1400" dirty="0"/>
              <a:t>: set non-glycans from spectral data</a:t>
            </a:r>
          </a:p>
          <a:p>
            <a:r>
              <a:rPr lang="en-US" altLang="zh-TW" sz="1400" b="1" dirty="0"/>
              <a:t>Ion suggestions</a:t>
            </a:r>
            <a:r>
              <a:rPr lang="en-US" altLang="zh-TW" sz="1400" dirty="0"/>
              <a:t>: find and generate probably critical ions list (feature mining)</a:t>
            </a:r>
          </a:p>
          <a:p>
            <a:endParaRPr lang="zh-TW" altLang="en-US" sz="1400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12D539C3-5406-1EAB-D8F7-17AC8243C7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292" t="11133" r="19314" b="22209"/>
          <a:stretch>
            <a:fillRect/>
          </a:stretch>
        </p:blipFill>
        <p:spPr>
          <a:xfrm>
            <a:off x="6544774" y="3165506"/>
            <a:ext cx="1390650" cy="901631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1BC62F30-1B36-0CED-DD01-07254E46AE3F}"/>
              </a:ext>
            </a:extLst>
          </p:cNvPr>
          <p:cNvSpPr/>
          <p:nvPr/>
        </p:nvSpPr>
        <p:spPr>
          <a:xfrm>
            <a:off x="3311036" y="4638676"/>
            <a:ext cx="1776413" cy="2667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15C9245C-727E-F516-96BD-B080A004719F}"/>
              </a:ext>
            </a:extLst>
          </p:cNvPr>
          <p:cNvCxnSpPr/>
          <p:nvPr/>
        </p:nvCxnSpPr>
        <p:spPr>
          <a:xfrm flipV="1">
            <a:off x="5039824" y="3886200"/>
            <a:ext cx="1504950" cy="742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31B8E66F-9357-23C4-E354-2CF90C827521}"/>
              </a:ext>
            </a:extLst>
          </p:cNvPr>
          <p:cNvCxnSpPr/>
          <p:nvPr/>
        </p:nvCxnSpPr>
        <p:spPr>
          <a:xfrm flipH="1">
            <a:off x="3544399" y="3629025"/>
            <a:ext cx="3000375" cy="485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7F76B390-EBB4-21E7-22CB-38C80F405CBC}"/>
              </a:ext>
            </a:extLst>
          </p:cNvPr>
          <p:cNvSpPr/>
          <p:nvPr/>
        </p:nvSpPr>
        <p:spPr>
          <a:xfrm>
            <a:off x="723900" y="4915368"/>
            <a:ext cx="7774598" cy="23765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C067D309-7E5B-37EB-7F44-99B86A53C08B}"/>
              </a:ext>
            </a:extLst>
          </p:cNvPr>
          <p:cNvCxnSpPr/>
          <p:nvPr/>
        </p:nvCxnSpPr>
        <p:spPr>
          <a:xfrm>
            <a:off x="5039824" y="5153026"/>
            <a:ext cx="123825" cy="503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4D4A5780-C482-B992-1BE6-FA90E53FD7F9}"/>
              </a:ext>
            </a:extLst>
          </p:cNvPr>
          <p:cNvSpPr/>
          <p:nvPr/>
        </p:nvSpPr>
        <p:spPr>
          <a:xfrm>
            <a:off x="628650" y="5153026"/>
            <a:ext cx="2682386" cy="2762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0ADBA1A9-04AE-9531-F060-3FB388C03850}"/>
              </a:ext>
            </a:extLst>
          </p:cNvPr>
          <p:cNvCxnSpPr/>
          <p:nvPr/>
        </p:nvCxnSpPr>
        <p:spPr>
          <a:xfrm flipH="1">
            <a:off x="1085850" y="5429252"/>
            <a:ext cx="304800" cy="438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B8CDB619-1475-E77C-8D9F-A8FE5936A20D}"/>
              </a:ext>
            </a:extLst>
          </p:cNvPr>
          <p:cNvSpPr txBox="1"/>
          <p:nvPr/>
        </p:nvSpPr>
        <p:spPr>
          <a:xfrm>
            <a:off x="247650" y="5921387"/>
            <a:ext cx="2286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Pseudo-labeling approach by assigning glycan composition and restraints</a:t>
            </a: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B8B883B3-1C77-696F-26BC-701117C4F9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327" b="40844"/>
          <a:stretch>
            <a:fillRect/>
          </a:stretch>
        </p:blipFill>
        <p:spPr>
          <a:xfrm>
            <a:off x="502505" y="3301848"/>
            <a:ext cx="6083788" cy="90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167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2CA5-56B5-D40A-5AC9-4FFA471D7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A5392B-6E81-CAF1-6BC9-0B40C5A92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Validate and generate trainable csv </a:t>
            </a:r>
            <a:br>
              <a:rPr lang="en-US" altLang="zh-TW" sz="3200" dirty="0"/>
            </a:br>
            <a:r>
              <a:rPr lang="en-US" altLang="zh-TW" sz="3200" dirty="0"/>
              <a:t>(manual annotation approach)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4180C8-427E-0DDE-0B05-C4331F02B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1" y="1449388"/>
            <a:ext cx="8867774" cy="5043486"/>
          </a:xfrm>
        </p:spPr>
        <p:txBody>
          <a:bodyPr>
            <a:normAutofit/>
          </a:bodyPr>
          <a:lstStyle/>
          <a:p>
            <a:pPr lvl="1"/>
            <a:r>
              <a:rPr lang="en-US" altLang="zh-TW" sz="2000" dirty="0"/>
              <a:t>After linking sample successful:</a:t>
            </a:r>
          </a:p>
          <a:p>
            <a:pPr lvl="2"/>
            <a:r>
              <a:rPr lang="en-US" altLang="zh-TW" sz="1600" dirty="0"/>
              <a:t>Ask users to save current link status</a:t>
            </a:r>
          </a:p>
          <a:p>
            <a:pPr lvl="2"/>
            <a:r>
              <a:rPr lang="en-US" altLang="zh-TW" sz="1600" dirty="0"/>
              <a:t>Workspace will be updated </a:t>
            </a:r>
          </a:p>
          <a:p>
            <a:pPr lvl="1"/>
            <a:r>
              <a:rPr lang="en-US" altLang="zh-TW" sz="2000" dirty="0"/>
              <a:t>Now the sample can be merged for training</a:t>
            </a:r>
          </a:p>
          <a:p>
            <a:pPr lvl="2"/>
            <a:r>
              <a:rPr lang="en-US" altLang="zh-TW" sz="1600" dirty="0"/>
              <a:t>Users can…</a:t>
            </a:r>
          </a:p>
          <a:p>
            <a:pPr lvl="2"/>
            <a:r>
              <a:rPr lang="en-US" altLang="zh-TW" sz="1600" dirty="0"/>
              <a:t>Add more MS2 annotations before training</a:t>
            </a:r>
          </a:p>
          <a:p>
            <a:pPr lvl="2"/>
            <a:r>
              <a:rPr lang="en-US" altLang="zh-TW" sz="1600" dirty="0"/>
              <a:t>Try to find more critical fragmentation ions and append them to training feature </a:t>
            </a:r>
            <a:r>
              <a:rPr lang="en-US" altLang="zh-TW" sz="1400" dirty="0"/>
              <a:t> </a:t>
            </a:r>
            <a:endParaRPr lang="en-US" altLang="zh-TW" sz="1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848F270-391E-5A73-894D-7B57969D3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6205970"/>
            <a:ext cx="7774598" cy="53876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DFA8278-9D81-BC2F-E624-BEBCCB9F1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" y="3659896"/>
            <a:ext cx="6736557" cy="98383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B0A05FE7-FD17-7F80-DA8A-50185BC35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4761" y="4639238"/>
            <a:ext cx="2654300" cy="87923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F11EB246-E894-8D5A-78B1-85E54BA19F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8092"/>
          <a:stretch>
            <a:fillRect/>
          </a:stretch>
        </p:blipFill>
        <p:spPr>
          <a:xfrm>
            <a:off x="3949061" y="5142961"/>
            <a:ext cx="4723956" cy="828791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1CAAAE5C-9D5B-A108-2784-9F1581855ADC}"/>
              </a:ext>
            </a:extLst>
          </p:cNvPr>
          <p:cNvSpPr txBox="1"/>
          <p:nvPr/>
        </p:nvSpPr>
        <p:spPr>
          <a:xfrm>
            <a:off x="164461" y="5668134"/>
            <a:ext cx="3922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Information printed in CLI (terminal)</a:t>
            </a:r>
          </a:p>
          <a:p>
            <a:r>
              <a:rPr lang="en-US" altLang="zh-TW" sz="1400" dirty="0"/>
              <a:t>Will be integrated to GUI main log window</a:t>
            </a:r>
            <a:endParaRPr lang="zh-TW" altLang="en-US" sz="1400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DC0B227A-ED70-046F-D15B-53A3D77D129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4972"/>
          <a:stretch>
            <a:fillRect/>
          </a:stretch>
        </p:blipFill>
        <p:spPr>
          <a:xfrm>
            <a:off x="5774785" y="1705305"/>
            <a:ext cx="3248024" cy="606832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90A5734F-2EC2-6C64-98CB-B7D9060F05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2317" y="907018"/>
            <a:ext cx="1790700" cy="733200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300921A9-0038-1F59-D4BD-0101366F9411}"/>
              </a:ext>
            </a:extLst>
          </p:cNvPr>
          <p:cNvSpPr txBox="1"/>
          <p:nvPr/>
        </p:nvSpPr>
        <p:spPr>
          <a:xfrm>
            <a:off x="5895977" y="2373886"/>
            <a:ext cx="32480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1400" dirty="0"/>
              <a:t>Link without metadata will force user to create metadata before proceeding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70208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D92D3-1D36-5E01-6861-4E5741E56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D8B993-DCCB-D26D-E11E-6525F176F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Feature: adding non-glycan automatically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175C9E-20F3-5F9C-18E5-DC4560A54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1" y="1449388"/>
            <a:ext cx="8867774" cy="5043486"/>
          </a:xfrm>
        </p:spPr>
        <p:txBody>
          <a:bodyPr>
            <a:normAutofit/>
          </a:bodyPr>
          <a:lstStyle/>
          <a:p>
            <a:pPr lvl="1"/>
            <a:r>
              <a:rPr lang="en-US" altLang="zh-TW" sz="2000" dirty="0"/>
              <a:t>Users can add “Non-glycan” MS2 in the annotation data </a:t>
            </a:r>
          </a:p>
          <a:p>
            <a:pPr lvl="2"/>
            <a:r>
              <a:rPr lang="en-US" altLang="zh-TW" sz="1600" dirty="0"/>
              <a:t>Bias from human may occur</a:t>
            </a:r>
          </a:p>
          <a:p>
            <a:pPr lvl="2"/>
            <a:r>
              <a:rPr lang="en-US" altLang="zh-TW" sz="1600" dirty="0"/>
              <a:t>Take time for human to see “Non-glycan” spectra, which is out of our interest</a:t>
            </a:r>
          </a:p>
          <a:p>
            <a:pPr lvl="1"/>
            <a:r>
              <a:rPr lang="en-US" altLang="zh-TW" sz="2000" dirty="0"/>
              <a:t>Easy way (automatically) to add Non-glycan MS2 from linked sample</a:t>
            </a:r>
          </a:p>
          <a:p>
            <a:pPr lvl="2"/>
            <a:r>
              <a:rPr lang="en-US" altLang="zh-TW" sz="1600" dirty="0"/>
              <a:t>Requires fragmentation ions as feature to filter the Non-glycan spectra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3D1701D-8A14-76F8-FB7E-CAC59C1F9090}"/>
              </a:ext>
            </a:extLst>
          </p:cNvPr>
          <p:cNvSpPr txBox="1"/>
          <p:nvPr/>
        </p:nvSpPr>
        <p:spPr>
          <a:xfrm>
            <a:off x="-28358" y="5814632"/>
            <a:ext cx="3922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Information printed in CLI (terminal)</a:t>
            </a:r>
          </a:p>
          <a:p>
            <a:r>
              <a:rPr lang="en-US" altLang="zh-TW" sz="1400" dirty="0"/>
              <a:t>Will be integrated to GUI main log window</a:t>
            </a:r>
            <a:endParaRPr lang="zh-TW" altLang="en-US" sz="14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4EF94F4-ED3C-4EF3-EE8C-2F8D39809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864" y="3139477"/>
            <a:ext cx="6343454" cy="248746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8DABF23-D6E1-1791-009E-ED4D2E785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2" y="6407376"/>
            <a:ext cx="9144000" cy="383479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E8D0D856-DC07-12EE-A150-1C1C87815713}"/>
              </a:ext>
            </a:extLst>
          </p:cNvPr>
          <p:cNvSpPr/>
          <p:nvPr/>
        </p:nvSpPr>
        <p:spPr>
          <a:xfrm>
            <a:off x="4619842" y="3514042"/>
            <a:ext cx="2682386" cy="33405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4B750A4-59E5-C028-AF57-6E7EC465AC06}"/>
              </a:ext>
            </a:extLst>
          </p:cNvPr>
          <p:cNvSpPr/>
          <p:nvPr/>
        </p:nvSpPr>
        <p:spPr>
          <a:xfrm>
            <a:off x="4619842" y="4089313"/>
            <a:ext cx="2682386" cy="33405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3BC57A81-F3A4-72E0-4203-F71575C7A1F1}"/>
              </a:ext>
            </a:extLst>
          </p:cNvPr>
          <p:cNvCxnSpPr>
            <a:cxnSpLocks/>
          </p:cNvCxnSpPr>
          <p:nvPr/>
        </p:nvCxnSpPr>
        <p:spPr>
          <a:xfrm>
            <a:off x="7302228" y="3635483"/>
            <a:ext cx="300859" cy="163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B1C3F96-A670-3C00-F4AA-4DA89371E320}"/>
              </a:ext>
            </a:extLst>
          </p:cNvPr>
          <p:cNvSpPr txBox="1"/>
          <p:nvPr/>
        </p:nvSpPr>
        <p:spPr>
          <a:xfrm>
            <a:off x="7603087" y="3429000"/>
            <a:ext cx="144544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Check to add Non-glycan</a:t>
            </a:r>
          </a:p>
          <a:p>
            <a:r>
              <a:rPr lang="en-US" altLang="zh-TW" sz="1600" dirty="0"/>
              <a:t>spectra</a:t>
            </a:r>
            <a:endParaRPr lang="zh-TW" altLang="en-US" sz="16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1599F1F-6F2F-2AE3-4122-BE36D36DF7A8}"/>
              </a:ext>
            </a:extLst>
          </p:cNvPr>
          <p:cNvSpPr txBox="1"/>
          <p:nvPr/>
        </p:nvSpPr>
        <p:spPr>
          <a:xfrm>
            <a:off x="3714266" y="5753611"/>
            <a:ext cx="522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In this sample we have 189 annotated MS2</a:t>
            </a:r>
          </a:p>
          <a:p>
            <a:r>
              <a:rPr lang="en-US" altLang="zh-TW" dirty="0"/>
              <a:t>3x -&gt; 567 Non-glycans spectra will be appended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E6625F7-D3F7-EA69-56BE-FF9021B29017}"/>
              </a:ext>
            </a:extLst>
          </p:cNvPr>
          <p:cNvSpPr txBox="1"/>
          <p:nvPr/>
        </p:nvSpPr>
        <p:spPr>
          <a:xfrm>
            <a:off x="7603086" y="4513262"/>
            <a:ext cx="1588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Feature related settings</a:t>
            </a:r>
            <a:endParaRPr lang="zh-TW" altLang="en-US" sz="1600" dirty="0"/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E7C67269-EF00-4C1F-94BF-40217854CA50}"/>
              </a:ext>
            </a:extLst>
          </p:cNvPr>
          <p:cNvCxnSpPr>
            <a:cxnSpLocks/>
          </p:cNvCxnSpPr>
          <p:nvPr/>
        </p:nvCxnSpPr>
        <p:spPr>
          <a:xfrm>
            <a:off x="7302228" y="4368162"/>
            <a:ext cx="300859" cy="163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8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896B7-07D5-8C4B-3AF1-74322FACD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FFD243-6267-81C1-B88A-49B618D5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Feature: ion mining (traditional probability method)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B830F9-2D23-9981-B8E7-AA7B86650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1" y="1449388"/>
            <a:ext cx="8867774" cy="5043486"/>
          </a:xfrm>
        </p:spPr>
        <p:txBody>
          <a:bodyPr>
            <a:normAutofit/>
          </a:bodyPr>
          <a:lstStyle/>
          <a:p>
            <a:pPr lvl="1"/>
            <a:r>
              <a:rPr lang="en-US" altLang="zh-TW" sz="2000" dirty="0"/>
              <a:t>Search relatively important (high frequency) fragmentation ions from labeled data</a:t>
            </a:r>
          </a:p>
          <a:p>
            <a:pPr lvl="2"/>
            <a:r>
              <a:rPr lang="en-US" altLang="zh-TW" sz="1600" dirty="0"/>
              <a:t>Find those top-K (default as 60) ions presenting in those spectra labeled as glycan</a:t>
            </a:r>
          </a:p>
          <a:p>
            <a:pPr lvl="2"/>
            <a:r>
              <a:rPr lang="en-US" altLang="zh-TW" sz="1600" dirty="0"/>
              <a:t>Consider both glycan and non-glycan label and calculate the score</a:t>
            </a:r>
          </a:p>
          <a:p>
            <a:pPr lvl="2"/>
            <a:r>
              <a:rPr lang="en-US" altLang="zh-TW" sz="1600" dirty="0"/>
              <a:t>Finally gate the presence of ions in glycan-labeled spectra (default as 5)</a:t>
            </a:r>
          </a:p>
          <a:p>
            <a:pPr lvl="2"/>
            <a:r>
              <a:rPr lang="en-US" altLang="zh-TW" sz="1600" dirty="0"/>
              <a:t>Will tell you if the ion already exists in </a:t>
            </a:r>
            <a:r>
              <a:rPr lang="en-US" altLang="zh-TW" sz="1600" dirty="0" err="1"/>
              <a:t>ion_list</a:t>
            </a:r>
            <a:endParaRPr lang="en-US" altLang="zh-TW" sz="1600" dirty="0"/>
          </a:p>
          <a:p>
            <a:pPr lvl="1"/>
            <a:r>
              <a:rPr lang="en-US" altLang="zh-TW" sz="2000" dirty="0">
                <a:solidFill>
                  <a:srgbClr val="FF0000"/>
                </a:solidFill>
              </a:rPr>
              <a:t>Need human/expert validation of the fragmentation ion</a:t>
            </a:r>
          </a:p>
          <a:p>
            <a:pPr lvl="2"/>
            <a:r>
              <a:rPr lang="en-US" altLang="zh-TW" sz="1600" dirty="0"/>
              <a:t>This method doesn’t resolve the ions, </a:t>
            </a:r>
            <a:br>
              <a:rPr lang="en-US" altLang="zh-TW" sz="1600" dirty="0"/>
            </a:br>
            <a:r>
              <a:rPr lang="en-US" altLang="zh-TW" sz="1600" dirty="0"/>
              <a:t>these are just “probably important” ions 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504ED2F-7514-C188-8830-EE872DB40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06" y="4093048"/>
            <a:ext cx="2124911" cy="1769381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7071660D-A9CD-0C53-D2A5-2DEF2048F8E4}"/>
              </a:ext>
            </a:extLst>
          </p:cNvPr>
          <p:cNvSpPr/>
          <p:nvPr/>
        </p:nvSpPr>
        <p:spPr>
          <a:xfrm>
            <a:off x="978500" y="4478945"/>
            <a:ext cx="2008807" cy="1634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289A66FA-3EAF-16E4-E256-80D42E06826E}"/>
              </a:ext>
            </a:extLst>
          </p:cNvPr>
          <p:cNvCxnSpPr>
            <a:cxnSpLocks/>
          </p:cNvCxnSpPr>
          <p:nvPr/>
        </p:nvCxnSpPr>
        <p:spPr>
          <a:xfrm>
            <a:off x="3017901" y="4351650"/>
            <a:ext cx="300859" cy="163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AAAB2D0F-4118-954C-99FD-541F67E62FE3}"/>
              </a:ext>
            </a:extLst>
          </p:cNvPr>
          <p:cNvSpPr txBox="1"/>
          <p:nvPr/>
        </p:nvSpPr>
        <p:spPr>
          <a:xfrm>
            <a:off x="3318760" y="4145167"/>
            <a:ext cx="14454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Check to add ion mining feature</a:t>
            </a:r>
            <a:endParaRPr lang="zh-TW" altLang="en-US" sz="1600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8ECB01E-42EF-D844-8E9B-ACCDEF708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49" y="3644735"/>
            <a:ext cx="3322339" cy="2531305"/>
          </a:xfrm>
          <a:prstGeom prst="rect">
            <a:avLst/>
          </a:prstGeom>
        </p:spPr>
      </p:pic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52568A50-45C1-FC6F-41CA-4ACF198FFFC0}"/>
              </a:ext>
            </a:extLst>
          </p:cNvPr>
          <p:cNvCxnSpPr>
            <a:cxnSpLocks/>
          </p:cNvCxnSpPr>
          <p:nvPr/>
        </p:nvCxnSpPr>
        <p:spPr>
          <a:xfrm flipH="1">
            <a:off x="8204546" y="3478240"/>
            <a:ext cx="188262" cy="8987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DB8387F8-081F-F5BC-B48E-9489744FBC40}"/>
              </a:ext>
            </a:extLst>
          </p:cNvPr>
          <p:cNvSpPr/>
          <p:nvPr/>
        </p:nvSpPr>
        <p:spPr>
          <a:xfrm>
            <a:off x="5010150" y="4352924"/>
            <a:ext cx="3153115" cy="4579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7502D14-0982-C9AA-2B7C-F3C216FB9DBF}"/>
              </a:ext>
            </a:extLst>
          </p:cNvPr>
          <p:cNvSpPr txBox="1"/>
          <p:nvPr/>
        </p:nvSpPr>
        <p:spPr>
          <a:xfrm>
            <a:off x="7448550" y="3212846"/>
            <a:ext cx="1619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Already in </a:t>
            </a:r>
            <a:r>
              <a:rPr lang="en-US" altLang="zh-TW" sz="1400" dirty="0" err="1"/>
              <a:t>ion_list</a:t>
            </a:r>
            <a:endParaRPr lang="zh-TW" altLang="en-US" sz="1400" dirty="0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6B1E75A0-78FA-0C93-1B9B-29151D760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" y="6331062"/>
            <a:ext cx="7554379" cy="447737"/>
          </a:xfrm>
          <a:prstGeom prst="rect">
            <a:avLst/>
          </a:prstGeom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32F0EF3E-66DB-E01A-24F9-1DFBBF87A397}"/>
              </a:ext>
            </a:extLst>
          </p:cNvPr>
          <p:cNvSpPr txBox="1"/>
          <p:nvPr/>
        </p:nvSpPr>
        <p:spPr>
          <a:xfrm>
            <a:off x="-28358" y="5814632"/>
            <a:ext cx="3922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Information printed in CLI (terminal)</a:t>
            </a:r>
          </a:p>
          <a:p>
            <a:r>
              <a:rPr lang="en-US" altLang="zh-TW" sz="1400" dirty="0"/>
              <a:t>Will be integrated to GUI main log window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43422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4F1A74-57DE-E0D8-CBF8-B2962EF8D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32199E-E72A-D772-19DF-C9AB1FDE8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Feature: ion feature mining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1E4884-64C1-4F9A-5C5E-CCD89C27E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1" y="1449388"/>
            <a:ext cx="8867774" cy="5043486"/>
          </a:xfrm>
        </p:spPr>
        <p:txBody>
          <a:bodyPr>
            <a:normAutofit/>
          </a:bodyPr>
          <a:lstStyle/>
          <a:p>
            <a:pPr lvl="1"/>
            <a:r>
              <a:rPr lang="en-US" altLang="zh-TW" sz="2000" dirty="0"/>
              <a:t>Step 1: concatenate all peaks from glycan spectra</a:t>
            </a:r>
          </a:p>
          <a:p>
            <a:pPr lvl="1"/>
            <a:r>
              <a:rPr lang="en-US" altLang="zh-TW" sz="2000" dirty="0"/>
              <a:t>Step 2: cluster the peaks using hybrid tolerance and find more than 3 peaks in one mass bin (0.03 | 10 ppm) -&gt; centered(centroid?) peak mass</a:t>
            </a:r>
          </a:p>
          <a:p>
            <a:pPr lvl="1"/>
            <a:r>
              <a:rPr lang="en-US" altLang="zh-TW" sz="2000" dirty="0"/>
              <a:t>Step 3: Scan through all spectra and count the presence/absence</a:t>
            </a:r>
          </a:p>
          <a:p>
            <a:pPr lvl="1"/>
            <a:r>
              <a:rPr lang="en-US" altLang="zh-TW" sz="2000" dirty="0"/>
              <a:t>Step 4:</a:t>
            </a:r>
          </a:p>
          <a:p>
            <a:pPr lvl="1"/>
            <a:endParaRPr lang="en-US" altLang="zh-TW" sz="2000" dirty="0"/>
          </a:p>
          <a:p>
            <a:pPr lvl="1"/>
            <a:endParaRPr lang="en-US" altLang="zh-TW" sz="2000" dirty="0"/>
          </a:p>
          <a:p>
            <a:pPr lvl="1"/>
            <a:endParaRPr lang="en-US" altLang="zh-TW" sz="2000" dirty="0"/>
          </a:p>
          <a:p>
            <a:pPr lvl="1"/>
            <a:endParaRPr lang="en-US" altLang="zh-TW" sz="2000" dirty="0"/>
          </a:p>
          <a:p>
            <a:pPr lvl="1"/>
            <a:endParaRPr lang="en-US" altLang="zh-TW" sz="2000" dirty="0"/>
          </a:p>
          <a:p>
            <a:pPr marL="457200" lvl="1" indent="0">
              <a:buNone/>
            </a:pPr>
            <a:endParaRPr lang="en-US" altLang="zh-TW" sz="2000" dirty="0"/>
          </a:p>
          <a:p>
            <a:pPr lvl="1"/>
            <a:r>
              <a:rPr lang="en-US" altLang="zh-TW" sz="2000" dirty="0"/>
              <a:t>Step 5: ions need to present in more than min glycan spectra -&gt; output</a:t>
            </a:r>
          </a:p>
          <a:p>
            <a:pPr lvl="1"/>
            <a:endParaRPr lang="en-US" altLang="zh-TW" sz="2000" dirty="0"/>
          </a:p>
          <a:p>
            <a:pPr lvl="1"/>
            <a:r>
              <a:rPr lang="en-US" altLang="zh-TW" sz="2000" dirty="0"/>
              <a:t>Non-glycans currently come from: capped (pseudo) or man annotation 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A7B0D59-B7C1-5D45-BA83-10F40F1D7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58" y="3017921"/>
            <a:ext cx="3137857" cy="1146383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67CBF88C-0D19-59F1-6086-9491FEF22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172" y="2839446"/>
            <a:ext cx="5276849" cy="226337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4CA187D4-4FE1-04B0-67E0-E867B412CD7C}"/>
              </a:ext>
            </a:extLst>
          </p:cNvPr>
          <p:cNvSpPr txBox="1"/>
          <p:nvPr/>
        </p:nvSpPr>
        <p:spPr>
          <a:xfrm>
            <a:off x="2942786" y="3124910"/>
            <a:ext cx="1152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g_tot</a:t>
            </a:r>
            <a:endParaRPr lang="zh-TW" altLang="en-US" sz="14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FE3EE65-3FF2-8CB7-FEFF-A0BCC5CE6B9E}"/>
              </a:ext>
            </a:extLst>
          </p:cNvPr>
          <p:cNvSpPr txBox="1"/>
          <p:nvPr/>
        </p:nvSpPr>
        <p:spPr>
          <a:xfrm>
            <a:off x="2942786" y="3429000"/>
            <a:ext cx="1152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n_tot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08478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CDB4E-AB47-2453-F7E1-0F72653EC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BB809002-A2B8-1D38-55B2-D87BE0842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2695973"/>
            <a:ext cx="5000394" cy="411440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BD7FF4A-54D1-06BE-2211-2C3D6A014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3200" dirty="0"/>
              <a:t>Generating trainable csv without manual annotation</a:t>
            </a:r>
            <a:br>
              <a:rPr lang="en-US" altLang="zh-TW" sz="3200" dirty="0"/>
            </a:br>
            <a:r>
              <a:rPr lang="en-US" altLang="zh-TW" sz="3200" dirty="0"/>
              <a:t>(pseudo-labeling approach)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5E68E0-CC36-0746-3DE0-FE17C337F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1" y="1690689"/>
            <a:ext cx="8991598" cy="4450733"/>
          </a:xfrm>
        </p:spPr>
        <p:txBody>
          <a:bodyPr>
            <a:normAutofit/>
          </a:bodyPr>
          <a:lstStyle/>
          <a:p>
            <a:pPr lvl="1"/>
            <a:r>
              <a:rPr lang="en-US" altLang="zh-TW" sz="2000" dirty="0"/>
              <a:t>Requires converted csv and metadata</a:t>
            </a:r>
          </a:p>
          <a:p>
            <a:pPr lvl="1"/>
            <a:r>
              <a:rPr lang="en-US" altLang="zh-TW" sz="2000" dirty="0"/>
              <a:t>Ask for “glycotopes” instead of “glycosyltransferase”</a:t>
            </a:r>
            <a:br>
              <a:rPr lang="en-US" altLang="zh-TW" sz="2000" dirty="0"/>
            </a:br>
            <a:r>
              <a:rPr lang="en-US" altLang="zh-TW" sz="2000" dirty="0"/>
              <a:t>(avoid unclear function, regulation before human completely resolve them)</a:t>
            </a:r>
            <a:endParaRPr lang="en-US" altLang="zh-TW" sz="10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53FF52C-71E7-11DD-5313-7503464390CD}"/>
              </a:ext>
            </a:extLst>
          </p:cNvPr>
          <p:cNvSpPr txBox="1"/>
          <p:nvPr/>
        </p:nvSpPr>
        <p:spPr>
          <a:xfrm>
            <a:off x="6098249" y="4205288"/>
            <a:ext cx="3248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1400" dirty="0"/>
              <a:t>Missing metadata will raise error message</a:t>
            </a:r>
            <a:endParaRPr lang="zh-TW" altLang="en-US" sz="1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071ECD3-15CC-62E4-79D0-A444EB6C7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722" y="4728508"/>
            <a:ext cx="2691077" cy="2081867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D1345CB8-4E05-ABA4-FCF5-AF5E1B5C8A2A}"/>
              </a:ext>
            </a:extLst>
          </p:cNvPr>
          <p:cNvSpPr/>
          <p:nvPr/>
        </p:nvSpPr>
        <p:spPr>
          <a:xfrm>
            <a:off x="247650" y="2905125"/>
            <a:ext cx="2276475" cy="6477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B218C891-9755-6F02-0DFA-2144624E8952}"/>
              </a:ext>
            </a:extLst>
          </p:cNvPr>
          <p:cNvCxnSpPr/>
          <p:nvPr/>
        </p:nvCxnSpPr>
        <p:spPr>
          <a:xfrm>
            <a:off x="2524125" y="3276600"/>
            <a:ext cx="771525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29AF147-3696-CACD-5F7E-EBFA8570239B}"/>
              </a:ext>
            </a:extLst>
          </p:cNvPr>
          <p:cNvSpPr txBox="1"/>
          <p:nvPr/>
        </p:nvSpPr>
        <p:spPr>
          <a:xfrm>
            <a:off x="3237376" y="3029605"/>
            <a:ext cx="2021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Imported from metadata</a:t>
            </a:r>
            <a:endParaRPr lang="zh-TW" altLang="en-US" sz="14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9B4F400-BB6B-F483-7294-33E15F283143}"/>
              </a:ext>
            </a:extLst>
          </p:cNvPr>
          <p:cNvSpPr/>
          <p:nvPr/>
        </p:nvSpPr>
        <p:spPr>
          <a:xfrm>
            <a:off x="200025" y="3552825"/>
            <a:ext cx="4743450" cy="250507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6F676B98-DBF0-9861-8D44-7800813D64F8}"/>
              </a:ext>
            </a:extLst>
          </p:cNvPr>
          <p:cNvCxnSpPr>
            <a:cxnSpLocks/>
          </p:cNvCxnSpPr>
          <p:nvPr/>
        </p:nvCxnSpPr>
        <p:spPr>
          <a:xfrm flipV="1">
            <a:off x="4958440" y="3733800"/>
            <a:ext cx="547010" cy="182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306E6F1C-5FC9-D457-32C5-4ED4B5C9F685}"/>
              </a:ext>
            </a:extLst>
          </p:cNvPr>
          <p:cNvSpPr txBox="1"/>
          <p:nvPr/>
        </p:nvSpPr>
        <p:spPr>
          <a:xfrm>
            <a:off x="5534917" y="2875900"/>
            <a:ext cx="3009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Generate a “in silico composition list csv” based on the configurations</a:t>
            </a:r>
            <a:endParaRPr lang="zh-TW" altLang="en-US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51B77F86-A6AD-DA33-3F62-F21813D45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" y="2626692"/>
            <a:ext cx="4928892" cy="4252964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BE3BE6FE-E888-AEBC-F075-29BC4DCC5B5E}"/>
              </a:ext>
            </a:extLst>
          </p:cNvPr>
          <p:cNvSpPr/>
          <p:nvPr/>
        </p:nvSpPr>
        <p:spPr>
          <a:xfrm>
            <a:off x="1457325" y="6524592"/>
            <a:ext cx="914400" cy="28259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B95E0FF7-96D1-5D81-D3C4-D724C10345AA}"/>
              </a:ext>
            </a:extLst>
          </p:cNvPr>
          <p:cNvCxnSpPr>
            <a:cxnSpLocks/>
          </p:cNvCxnSpPr>
          <p:nvPr/>
        </p:nvCxnSpPr>
        <p:spPr>
          <a:xfrm flipH="1">
            <a:off x="2406575" y="3879124"/>
            <a:ext cx="3892131" cy="2633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8" name="圖片 37">
            <a:extLst>
              <a:ext uri="{FF2B5EF4-FFF2-40B4-BE49-F238E27FC236}">
                <a16:creationId xmlns:a16="http://schemas.microsoft.com/office/drawing/2014/main" id="{D44B59A6-5673-7458-B428-9B034B6663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099309"/>
            <a:ext cx="9144000" cy="199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05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8E131-B803-4295-A718-BCE463CBC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1">
            <a:extLst>
              <a:ext uri="{FF2B5EF4-FFF2-40B4-BE49-F238E27FC236}">
                <a16:creationId xmlns:a16="http://schemas.microsoft.com/office/drawing/2014/main" id="{208541DC-1BBA-56C0-0DAB-AED40E2D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Pseudo-labeling approach </a:t>
            </a:r>
            <a:endParaRPr kumimoji="1" lang="zh-TW" altLang="en-US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221282-2854-5857-0FCE-C877F5753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856" y="1494605"/>
            <a:ext cx="8264078" cy="1727971"/>
          </a:xfrm>
        </p:spPr>
        <p:txBody>
          <a:bodyPr>
            <a:normAutofit lnSpcReduction="10000"/>
          </a:bodyPr>
          <a:lstStyle/>
          <a:p>
            <a:r>
              <a:rPr lang="en-US" altLang="zh-TW" sz="2400" dirty="0"/>
              <a:t>First ion filter to reduce spectra number for users to review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altLang="zh-TW" sz="1800" dirty="0"/>
              <a:t>They can </a:t>
            </a:r>
            <a:r>
              <a:rPr lang="en-US" altLang="zh-TW" sz="1800" u="sng" dirty="0"/>
              <a:t>generate annotation sheet using the filtered list</a:t>
            </a:r>
            <a:r>
              <a:rPr lang="en-US" altLang="zh-TW" sz="1800" dirty="0"/>
              <a:t> (Reduce by 70~90%)</a:t>
            </a:r>
          </a:p>
          <a:p>
            <a:r>
              <a:rPr lang="en-US" altLang="zh-TW" sz="2400" dirty="0"/>
              <a:t>Labeled spectra can be trained as well as manual annotation approach</a:t>
            </a:r>
            <a:endParaRPr lang="zh-TW" altLang="en-US" sz="2000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B1D5662A-63D0-034D-C275-F25FECCCAF8D}"/>
              </a:ext>
            </a:extLst>
          </p:cNvPr>
          <p:cNvGrpSpPr/>
          <p:nvPr/>
        </p:nvGrpSpPr>
        <p:grpSpPr>
          <a:xfrm>
            <a:off x="2331026" y="4080251"/>
            <a:ext cx="590905" cy="1619601"/>
            <a:chOff x="3018821" y="3052034"/>
            <a:chExt cx="1059879" cy="2905005"/>
          </a:xfrm>
        </p:grpSpPr>
        <p:sp>
          <p:nvSpPr>
            <p:cNvPr id="5" name="Oval 13">
              <a:extLst>
                <a:ext uri="{FF2B5EF4-FFF2-40B4-BE49-F238E27FC236}">
                  <a16:creationId xmlns:a16="http://schemas.microsoft.com/office/drawing/2014/main" id="{C1AE930E-3203-CD36-9FD2-96FBAD236CA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35523" y="3470884"/>
              <a:ext cx="209194" cy="208979"/>
            </a:xfrm>
            <a:prstGeom prst="ellipse">
              <a:avLst/>
            </a:prstGeom>
            <a:solidFill>
              <a:srgbClr val="FFD4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" name="Line 31">
              <a:extLst>
                <a:ext uri="{FF2B5EF4-FFF2-40B4-BE49-F238E27FC236}">
                  <a16:creationId xmlns:a16="http://schemas.microsoft.com/office/drawing/2014/main" id="{976AF535-3038-30C4-5149-DB938D57F6B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63102" y="5721563"/>
              <a:ext cx="179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33">
              <a:extLst>
                <a:ext uri="{FF2B5EF4-FFF2-40B4-BE49-F238E27FC236}">
                  <a16:creationId xmlns:a16="http://schemas.microsoft.com/office/drawing/2014/main" id="{02730A0D-2DC6-C4D9-F391-8416499F199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456744" y="5445708"/>
              <a:ext cx="187817" cy="187624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Rectangle 34">
              <a:extLst>
                <a:ext uri="{FF2B5EF4-FFF2-40B4-BE49-F238E27FC236}">
                  <a16:creationId xmlns:a16="http://schemas.microsoft.com/office/drawing/2014/main" id="{0D934CFC-537B-B382-D409-238F9492B17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460587" y="5084672"/>
              <a:ext cx="187817" cy="187624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" name="Oval 376">
              <a:extLst>
                <a:ext uri="{FF2B5EF4-FFF2-40B4-BE49-F238E27FC236}">
                  <a16:creationId xmlns:a16="http://schemas.microsoft.com/office/drawing/2014/main" id="{20C02AF6-285F-EA7F-7CF0-DC95A3C192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448466" y="4683601"/>
              <a:ext cx="209194" cy="208979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Oval 377">
              <a:extLst>
                <a:ext uri="{FF2B5EF4-FFF2-40B4-BE49-F238E27FC236}">
                  <a16:creationId xmlns:a16="http://schemas.microsoft.com/office/drawing/2014/main" id="{1B27334A-E183-E83D-E2AD-DFE27A15651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798144" y="4372714"/>
              <a:ext cx="209194" cy="208979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" name="AutoShape 8">
              <a:extLst>
                <a:ext uri="{FF2B5EF4-FFF2-40B4-BE49-F238E27FC236}">
                  <a16:creationId xmlns:a16="http://schemas.microsoft.com/office/drawing/2014/main" id="{BBBB5FAA-009F-C70F-19C9-7C84F34781D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591339" y="3477646"/>
              <a:ext cx="198301" cy="209193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A78A21F6-F9C8-F110-10D4-61013608856E}"/>
                </a:ext>
              </a:extLst>
            </p:cNvPr>
            <p:cNvSpPr txBox="1"/>
            <p:nvPr/>
          </p:nvSpPr>
          <p:spPr>
            <a:xfrm>
              <a:off x="3436904" y="5763823"/>
              <a:ext cx="255409" cy="1932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7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rPr>
                <a:t>Asn</a:t>
              </a:r>
              <a:endParaRPr kumimoji="0" lang="zh-TW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1" name="Line 31">
              <a:extLst>
                <a:ext uri="{FF2B5EF4-FFF2-40B4-BE49-F238E27FC236}">
                  <a16:creationId xmlns:a16="http://schemas.microsoft.com/office/drawing/2014/main" id="{C7259BCF-3012-32DC-C240-99DB9828BD5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65482" y="4987967"/>
              <a:ext cx="179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Line 10">
              <a:extLst>
                <a:ext uri="{FF2B5EF4-FFF2-40B4-BE49-F238E27FC236}">
                  <a16:creationId xmlns:a16="http://schemas.microsoft.com/office/drawing/2014/main" id="{EC76F159-67CA-D93A-5B1E-EB439B39E16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3281191" y="4537202"/>
              <a:ext cx="177400" cy="194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Oval 378">
              <a:extLst>
                <a:ext uri="{FF2B5EF4-FFF2-40B4-BE49-F238E27FC236}">
                  <a16:creationId xmlns:a16="http://schemas.microsoft.com/office/drawing/2014/main" id="{BD225BA3-A054-F012-550F-175F711639E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89136" y="4369654"/>
              <a:ext cx="209194" cy="208979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" name="Line 10">
              <a:extLst>
                <a:ext uri="{FF2B5EF4-FFF2-40B4-BE49-F238E27FC236}">
                  <a16:creationId xmlns:a16="http://schemas.microsoft.com/office/drawing/2014/main" id="{C1956B57-1A7B-1D40-A80A-3A3F547D19A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644526" y="4542675"/>
              <a:ext cx="177400" cy="194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217B7A2-3797-74AF-6774-3A080EA7A7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47381" y="3864288"/>
              <a:ext cx="187817" cy="187624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" name="Line 31">
              <a:extLst>
                <a:ext uri="{FF2B5EF4-FFF2-40B4-BE49-F238E27FC236}">
                  <a16:creationId xmlns:a16="http://schemas.microsoft.com/office/drawing/2014/main" id="{ACFBC868-5DAC-95B0-84CC-93A76EFAD95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887245" y="4146227"/>
              <a:ext cx="179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4">
              <a:extLst>
                <a:ext uri="{FF2B5EF4-FFF2-40B4-BE49-F238E27FC236}">
                  <a16:creationId xmlns:a16="http://schemas.microsoft.com/office/drawing/2014/main" id="{DB75F075-D745-7C84-9C43-01057C93C1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881472" y="3864599"/>
              <a:ext cx="187817" cy="187624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" name="Line 31">
              <a:extLst>
                <a:ext uri="{FF2B5EF4-FFF2-40B4-BE49-F238E27FC236}">
                  <a16:creationId xmlns:a16="http://schemas.microsoft.com/office/drawing/2014/main" id="{7052F983-F8F8-0094-569A-DA9F5644891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051360" y="3775321"/>
              <a:ext cx="179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Oval 13">
              <a:extLst>
                <a:ext uri="{FF2B5EF4-FFF2-40B4-BE49-F238E27FC236}">
                  <a16:creationId xmlns:a16="http://schemas.microsoft.com/office/drawing/2014/main" id="{DABE577D-1051-605D-2446-1F605ECF8E1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869614" y="3467743"/>
              <a:ext cx="209194" cy="208979"/>
            </a:xfrm>
            <a:prstGeom prst="ellipse">
              <a:avLst/>
            </a:prstGeom>
            <a:solidFill>
              <a:srgbClr val="FFD4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" name="Line 31">
              <a:extLst>
                <a:ext uri="{FF2B5EF4-FFF2-40B4-BE49-F238E27FC236}">
                  <a16:creationId xmlns:a16="http://schemas.microsoft.com/office/drawing/2014/main" id="{6AA8E184-4B45-A503-ACAC-98161698DB0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885451" y="3772180"/>
              <a:ext cx="179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AutoShape 167">
              <a:extLst>
                <a:ext uri="{FF2B5EF4-FFF2-40B4-BE49-F238E27FC236}">
                  <a16:creationId xmlns:a16="http://schemas.microsoft.com/office/drawing/2014/main" id="{F68D0745-E6DB-DC52-EAB5-7552DA04B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8821" y="3052034"/>
              <a:ext cx="241301" cy="241379"/>
            </a:xfrm>
            <a:prstGeom prst="diamond">
              <a:avLst/>
            </a:prstGeom>
            <a:solidFill>
              <a:srgbClr val="AB4CA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" name="Line 31">
              <a:extLst>
                <a:ext uri="{FF2B5EF4-FFF2-40B4-BE49-F238E27FC236}">
                  <a16:creationId xmlns:a16="http://schemas.microsoft.com/office/drawing/2014/main" id="{4C0C2043-F144-2ABB-7EB1-8623D193C78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051360" y="3385332"/>
              <a:ext cx="179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Oval 13">
              <a:extLst>
                <a:ext uri="{FF2B5EF4-FFF2-40B4-BE49-F238E27FC236}">
                  <a16:creationId xmlns:a16="http://schemas.microsoft.com/office/drawing/2014/main" id="{44DB9537-0FFA-C6A2-DEE9-22D417C284A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869614" y="3073938"/>
              <a:ext cx="209194" cy="208979"/>
            </a:xfrm>
            <a:prstGeom prst="ellipse">
              <a:avLst/>
            </a:prstGeom>
            <a:solidFill>
              <a:srgbClr val="FFD4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" name="Line 31">
              <a:extLst>
                <a:ext uri="{FF2B5EF4-FFF2-40B4-BE49-F238E27FC236}">
                  <a16:creationId xmlns:a16="http://schemas.microsoft.com/office/drawing/2014/main" id="{C699C834-A5CE-03FF-56CA-E703466501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885451" y="3378375"/>
              <a:ext cx="179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Line 10">
              <a:extLst>
                <a:ext uri="{FF2B5EF4-FFF2-40B4-BE49-F238E27FC236}">
                  <a16:creationId xmlns:a16="http://schemas.microsoft.com/office/drawing/2014/main" id="{12341CEA-5423-32DC-993D-69A03C85F1E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3697992" y="3678486"/>
              <a:ext cx="177400" cy="194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Line 31">
              <a:extLst>
                <a:ext uri="{FF2B5EF4-FFF2-40B4-BE49-F238E27FC236}">
                  <a16:creationId xmlns:a16="http://schemas.microsoft.com/office/drawing/2014/main" id="{A02253B0-6343-F148-0BB4-7AFBE21286A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051360" y="4150052"/>
              <a:ext cx="179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Line 31">
              <a:extLst>
                <a:ext uri="{FF2B5EF4-FFF2-40B4-BE49-F238E27FC236}">
                  <a16:creationId xmlns:a16="http://schemas.microsoft.com/office/drawing/2014/main" id="{2ECF368A-40AC-B10B-81E1-83BBC36CF6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65482" y="5355680"/>
              <a:ext cx="179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D71871EF-E600-9E51-CC85-FC8CD1777AE2}"/>
              </a:ext>
            </a:extLst>
          </p:cNvPr>
          <p:cNvGrpSpPr/>
          <p:nvPr/>
        </p:nvGrpSpPr>
        <p:grpSpPr>
          <a:xfrm>
            <a:off x="1235141" y="3484228"/>
            <a:ext cx="544540" cy="1598545"/>
            <a:chOff x="1352369" y="3089800"/>
            <a:chExt cx="976716" cy="2867238"/>
          </a:xfrm>
        </p:grpSpPr>
        <p:sp>
          <p:nvSpPr>
            <p:cNvPr id="49" name="Oval 13">
              <a:extLst>
                <a:ext uri="{FF2B5EF4-FFF2-40B4-BE49-F238E27FC236}">
                  <a16:creationId xmlns:a16="http://schemas.microsoft.com/office/drawing/2014/main" id="{35B6934B-2A87-D57E-4AB4-E08852A1ED0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432830" y="3519945"/>
              <a:ext cx="209194" cy="208979"/>
            </a:xfrm>
            <a:prstGeom prst="ellipse">
              <a:avLst/>
            </a:prstGeom>
            <a:solidFill>
              <a:srgbClr val="FFD4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Line 31">
              <a:extLst>
                <a:ext uri="{FF2B5EF4-FFF2-40B4-BE49-F238E27FC236}">
                  <a16:creationId xmlns:a16="http://schemas.microsoft.com/office/drawing/2014/main" id="{B23356CC-2DF5-D7EE-A6BC-BD5782C4486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729550" y="5721562"/>
              <a:ext cx="179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Rectangle 33">
              <a:extLst>
                <a:ext uri="{FF2B5EF4-FFF2-40B4-BE49-F238E27FC236}">
                  <a16:creationId xmlns:a16="http://schemas.microsoft.com/office/drawing/2014/main" id="{D404FE29-3D0D-7C48-153C-432D7DDB31E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723192" y="5445707"/>
              <a:ext cx="187817" cy="187624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" name="AutoShape 8">
              <a:extLst>
                <a:ext uri="{FF2B5EF4-FFF2-40B4-BE49-F238E27FC236}">
                  <a16:creationId xmlns:a16="http://schemas.microsoft.com/office/drawing/2014/main" id="{3DF4754E-305C-D858-3E5B-BB7BD0737CA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V="1">
              <a:off x="2125338" y="5430639"/>
              <a:ext cx="198301" cy="209193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" name="Line 31">
              <a:extLst>
                <a:ext uri="{FF2B5EF4-FFF2-40B4-BE49-F238E27FC236}">
                  <a16:creationId xmlns:a16="http://schemas.microsoft.com/office/drawing/2014/main" id="{B8586F3D-AAAD-C0FD-CD28-48671A86E47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015402" y="5428178"/>
              <a:ext cx="0" cy="2089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74C92CA3-8930-9901-DD20-576BCFE51EF7}"/>
                </a:ext>
              </a:extLst>
            </p:cNvPr>
            <p:cNvSpPr txBox="1"/>
            <p:nvPr/>
          </p:nvSpPr>
          <p:spPr>
            <a:xfrm>
              <a:off x="1703353" y="5763822"/>
              <a:ext cx="255411" cy="1932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7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rPr>
                <a:t>Asn</a:t>
              </a:r>
              <a:endParaRPr kumimoji="0" lang="zh-TW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5" name="Rectangle 34">
              <a:extLst>
                <a:ext uri="{FF2B5EF4-FFF2-40B4-BE49-F238E27FC236}">
                  <a16:creationId xmlns:a16="http://schemas.microsoft.com/office/drawing/2014/main" id="{6A0A4F07-A200-D934-1423-6706404D18B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63350" y="3997986"/>
              <a:ext cx="187817" cy="187624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6" name="Rectangle 34">
              <a:extLst>
                <a:ext uri="{FF2B5EF4-FFF2-40B4-BE49-F238E27FC236}">
                  <a16:creationId xmlns:a16="http://schemas.microsoft.com/office/drawing/2014/main" id="{2BBB7F54-76AC-984A-735E-05CFADA1982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073759" y="3995605"/>
              <a:ext cx="187817" cy="187624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" name="Line 31">
              <a:extLst>
                <a:ext uri="{FF2B5EF4-FFF2-40B4-BE49-F238E27FC236}">
                  <a16:creationId xmlns:a16="http://schemas.microsoft.com/office/drawing/2014/main" id="{E8F3FF8A-CBBE-22E6-BD40-1F0933C06B7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448667" y="3824382"/>
              <a:ext cx="179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Oval 13">
              <a:extLst>
                <a:ext uri="{FF2B5EF4-FFF2-40B4-BE49-F238E27FC236}">
                  <a16:creationId xmlns:a16="http://schemas.microsoft.com/office/drawing/2014/main" id="{A5E5A241-C996-143F-9D93-0188661288F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921369" y="3483712"/>
              <a:ext cx="209194" cy="208979"/>
            </a:xfrm>
            <a:prstGeom prst="ellipse">
              <a:avLst/>
            </a:prstGeom>
            <a:solidFill>
              <a:srgbClr val="FFD4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" name="Line 31">
              <a:extLst>
                <a:ext uri="{FF2B5EF4-FFF2-40B4-BE49-F238E27FC236}">
                  <a16:creationId xmlns:a16="http://schemas.microsoft.com/office/drawing/2014/main" id="{4943AF64-DF05-6F99-D44E-E19F64861B6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937206" y="3788149"/>
              <a:ext cx="179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AutoShape 167">
              <a:extLst>
                <a:ext uri="{FF2B5EF4-FFF2-40B4-BE49-F238E27FC236}">
                  <a16:creationId xmlns:a16="http://schemas.microsoft.com/office/drawing/2014/main" id="{2FADAA8B-5EEF-E73C-ADD2-551FCF3D59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128" y="3101095"/>
              <a:ext cx="241301" cy="241379"/>
            </a:xfrm>
            <a:prstGeom prst="diamond">
              <a:avLst/>
            </a:prstGeom>
            <a:solidFill>
              <a:srgbClr val="AB4CA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" name="Line 31">
              <a:extLst>
                <a:ext uri="{FF2B5EF4-FFF2-40B4-BE49-F238E27FC236}">
                  <a16:creationId xmlns:a16="http://schemas.microsoft.com/office/drawing/2014/main" id="{EF8854BB-2658-0835-FF7E-C5F6A8A7F67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448667" y="3434393"/>
              <a:ext cx="179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Oval 13">
              <a:extLst>
                <a:ext uri="{FF2B5EF4-FFF2-40B4-BE49-F238E27FC236}">
                  <a16:creationId xmlns:a16="http://schemas.microsoft.com/office/drawing/2014/main" id="{565993B6-36D7-74C2-3FB9-331FF57DF40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921369" y="3089907"/>
              <a:ext cx="209194" cy="208979"/>
            </a:xfrm>
            <a:prstGeom prst="ellipse">
              <a:avLst/>
            </a:prstGeom>
            <a:solidFill>
              <a:srgbClr val="FFD4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" name="Line 31">
              <a:extLst>
                <a:ext uri="{FF2B5EF4-FFF2-40B4-BE49-F238E27FC236}">
                  <a16:creationId xmlns:a16="http://schemas.microsoft.com/office/drawing/2014/main" id="{8656E7AC-BB82-206F-666C-E79D2AFF332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937206" y="3394344"/>
              <a:ext cx="179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Line 31">
              <a:extLst>
                <a:ext uri="{FF2B5EF4-FFF2-40B4-BE49-F238E27FC236}">
                  <a16:creationId xmlns:a16="http://schemas.microsoft.com/office/drawing/2014/main" id="{CC45E32C-B677-B4C8-873A-5378D7686F9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367327" y="4273257"/>
              <a:ext cx="179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Line 31">
              <a:extLst>
                <a:ext uri="{FF2B5EF4-FFF2-40B4-BE49-F238E27FC236}">
                  <a16:creationId xmlns:a16="http://schemas.microsoft.com/office/drawing/2014/main" id="{7CE4C440-F563-960C-521E-720333E7679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077736" y="4279615"/>
              <a:ext cx="179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34">
              <a:extLst>
                <a:ext uri="{FF2B5EF4-FFF2-40B4-BE49-F238E27FC236}">
                  <a16:creationId xmlns:a16="http://schemas.microsoft.com/office/drawing/2014/main" id="{3137E38A-2359-1045-1B6E-36EFB73EA75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723713" y="5084673"/>
              <a:ext cx="187817" cy="187624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Oval 376">
              <a:extLst>
                <a:ext uri="{FF2B5EF4-FFF2-40B4-BE49-F238E27FC236}">
                  <a16:creationId xmlns:a16="http://schemas.microsoft.com/office/drawing/2014/main" id="{46B47FB6-F60D-CA5A-5494-6BA2041C9C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711592" y="4683602"/>
              <a:ext cx="209194" cy="208979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Oval 377">
              <a:extLst>
                <a:ext uri="{FF2B5EF4-FFF2-40B4-BE49-F238E27FC236}">
                  <a16:creationId xmlns:a16="http://schemas.microsoft.com/office/drawing/2014/main" id="{812C7C2E-2870-0998-6B96-38DE5FDE97D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061270" y="4372715"/>
              <a:ext cx="209194" cy="208979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Line 31">
              <a:extLst>
                <a:ext uri="{FF2B5EF4-FFF2-40B4-BE49-F238E27FC236}">
                  <a16:creationId xmlns:a16="http://schemas.microsoft.com/office/drawing/2014/main" id="{33F93CD6-8CC0-5ED6-EAA4-C51701DAF7E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728608" y="4987968"/>
              <a:ext cx="179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Line 10">
              <a:extLst>
                <a:ext uri="{FF2B5EF4-FFF2-40B4-BE49-F238E27FC236}">
                  <a16:creationId xmlns:a16="http://schemas.microsoft.com/office/drawing/2014/main" id="{1C3052C6-478B-82F6-D07C-EDF89265F89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1544317" y="4537203"/>
              <a:ext cx="177400" cy="194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Oval 378">
              <a:extLst>
                <a:ext uri="{FF2B5EF4-FFF2-40B4-BE49-F238E27FC236}">
                  <a16:creationId xmlns:a16="http://schemas.microsoft.com/office/drawing/2014/main" id="{DFCBADBC-D980-DC94-01A0-5AE80B7D713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52262" y="4369655"/>
              <a:ext cx="209194" cy="208979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2" name="Line 10">
              <a:extLst>
                <a:ext uri="{FF2B5EF4-FFF2-40B4-BE49-F238E27FC236}">
                  <a16:creationId xmlns:a16="http://schemas.microsoft.com/office/drawing/2014/main" id="{1DA0A91E-3774-BB60-A2B5-B0939B8782A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1907652" y="4542676"/>
              <a:ext cx="177400" cy="194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Line 31">
              <a:extLst>
                <a:ext uri="{FF2B5EF4-FFF2-40B4-BE49-F238E27FC236}">
                  <a16:creationId xmlns:a16="http://schemas.microsoft.com/office/drawing/2014/main" id="{E7F6166C-EC6D-379A-25A9-4DAB2623728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728608" y="5355681"/>
              <a:ext cx="179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4" name="矩形 73">
            <a:extLst>
              <a:ext uri="{FF2B5EF4-FFF2-40B4-BE49-F238E27FC236}">
                <a16:creationId xmlns:a16="http://schemas.microsoft.com/office/drawing/2014/main" id="{BDBFE89C-650F-BD78-28AB-6FE31F407001}"/>
              </a:ext>
            </a:extLst>
          </p:cNvPr>
          <p:cNvSpPr/>
          <p:nvPr/>
        </p:nvSpPr>
        <p:spPr>
          <a:xfrm>
            <a:off x="3455582" y="3420603"/>
            <a:ext cx="1942153" cy="34640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How many arms?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76" name="直線單箭頭接點 75">
            <a:extLst>
              <a:ext uri="{FF2B5EF4-FFF2-40B4-BE49-F238E27FC236}">
                <a16:creationId xmlns:a16="http://schemas.microsoft.com/office/drawing/2014/main" id="{9A0647C4-3DF6-AC92-593B-09FE2A4AC944}"/>
              </a:ext>
            </a:extLst>
          </p:cNvPr>
          <p:cNvCxnSpPr/>
          <p:nvPr/>
        </p:nvCxnSpPr>
        <p:spPr>
          <a:xfrm flipH="1">
            <a:off x="2428543" y="3593805"/>
            <a:ext cx="867550" cy="265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19885451-F0AE-CB1A-B46E-F167DE2EF6BC}"/>
              </a:ext>
            </a:extLst>
          </p:cNvPr>
          <p:cNvCxnSpPr>
            <a:cxnSpLocks/>
          </p:cNvCxnSpPr>
          <p:nvPr/>
        </p:nvCxnSpPr>
        <p:spPr>
          <a:xfrm flipH="1">
            <a:off x="2979277" y="3752812"/>
            <a:ext cx="316816" cy="350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62ECA465-993E-E45F-3993-59EFD51C6B03}"/>
              </a:ext>
            </a:extLst>
          </p:cNvPr>
          <p:cNvSpPr txBox="1"/>
          <p:nvPr/>
        </p:nvSpPr>
        <p:spPr>
          <a:xfrm>
            <a:off x="5546223" y="3485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2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CFBA408C-AE45-85CB-3DA7-A4433B33200E}"/>
              </a:ext>
            </a:extLst>
          </p:cNvPr>
          <p:cNvSpPr/>
          <p:nvPr/>
        </p:nvSpPr>
        <p:spPr>
          <a:xfrm>
            <a:off x="3403291" y="4246244"/>
            <a:ext cx="2116939" cy="45093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ysClr val="windowText" lastClr="000000"/>
                </a:solidFill>
              </a:rPr>
              <a:t>Special structure allowed? (species-specific)</a:t>
            </a:r>
            <a:endParaRPr lang="zh-TW" altLang="en-US" sz="1400" dirty="0">
              <a:solidFill>
                <a:sysClr val="windowText" lastClr="000000"/>
              </a:solidFill>
            </a:endParaRPr>
          </a:p>
        </p:txBody>
      </p: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4507ED8E-4C10-C3AA-3F7B-66FC83C68E0D}"/>
              </a:ext>
            </a:extLst>
          </p:cNvPr>
          <p:cNvCxnSpPr>
            <a:cxnSpLocks/>
            <a:stCxn id="80" idx="1"/>
          </p:cNvCxnSpPr>
          <p:nvPr/>
        </p:nvCxnSpPr>
        <p:spPr>
          <a:xfrm flipH="1" flipV="1">
            <a:off x="3043779" y="4436610"/>
            <a:ext cx="359512" cy="351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橢圓 83">
            <a:extLst>
              <a:ext uri="{FF2B5EF4-FFF2-40B4-BE49-F238E27FC236}">
                <a16:creationId xmlns:a16="http://schemas.microsoft.com/office/drawing/2014/main" id="{A8D81F48-4DAA-3A6E-8A00-E0F2661DB449}"/>
              </a:ext>
            </a:extLst>
          </p:cNvPr>
          <p:cNvSpPr/>
          <p:nvPr/>
        </p:nvSpPr>
        <p:spPr>
          <a:xfrm>
            <a:off x="2627533" y="4092403"/>
            <a:ext cx="473847" cy="3939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B31BC71D-6FBB-8C84-BFDD-3BE49083388B}"/>
              </a:ext>
            </a:extLst>
          </p:cNvPr>
          <p:cNvSpPr txBox="1"/>
          <p:nvPr/>
        </p:nvSpPr>
        <p:spPr>
          <a:xfrm>
            <a:off x="5637172" y="4333865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Yes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6958DF55-F2B8-9BF7-DE9D-C445995418CE}"/>
              </a:ext>
            </a:extLst>
          </p:cNvPr>
          <p:cNvSpPr/>
          <p:nvPr/>
        </p:nvSpPr>
        <p:spPr>
          <a:xfrm>
            <a:off x="3429284" y="5073098"/>
            <a:ext cx="2116939" cy="32407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ysClr val="windowText" lastClr="000000"/>
                </a:solidFill>
              </a:rPr>
              <a:t>Total sugar unit limits</a:t>
            </a:r>
            <a:endParaRPr lang="zh-TW" altLang="en-US" sz="1600" dirty="0">
              <a:solidFill>
                <a:sysClr val="windowText" lastClr="000000"/>
              </a:solidFill>
            </a:endParaRPr>
          </a:p>
        </p:txBody>
      </p:sp>
      <p:pic>
        <p:nvPicPr>
          <p:cNvPr id="87" name="圖片 86">
            <a:extLst>
              <a:ext uri="{FF2B5EF4-FFF2-40B4-BE49-F238E27FC236}">
                <a16:creationId xmlns:a16="http://schemas.microsoft.com/office/drawing/2014/main" id="{E33EC13E-FFC7-9D5F-0E79-65BE12374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617" y="5505921"/>
            <a:ext cx="219475" cy="225572"/>
          </a:xfrm>
          <a:prstGeom prst="rect">
            <a:avLst/>
          </a:prstGeom>
        </p:spPr>
      </p:pic>
      <p:pic>
        <p:nvPicPr>
          <p:cNvPr id="88" name="圖片 87">
            <a:extLst>
              <a:ext uri="{FF2B5EF4-FFF2-40B4-BE49-F238E27FC236}">
                <a16:creationId xmlns:a16="http://schemas.microsoft.com/office/drawing/2014/main" id="{C2A0A19B-E34B-7732-D4AE-44392F1B4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729026" y="5116404"/>
            <a:ext cx="237765" cy="225572"/>
          </a:xfrm>
          <a:prstGeom prst="rect">
            <a:avLst/>
          </a:prstGeom>
        </p:spPr>
      </p:pic>
      <p:pic>
        <p:nvPicPr>
          <p:cNvPr id="89" name="圖片 88">
            <a:extLst>
              <a:ext uri="{FF2B5EF4-FFF2-40B4-BE49-F238E27FC236}">
                <a16:creationId xmlns:a16="http://schemas.microsoft.com/office/drawing/2014/main" id="{43806899-B10C-1ED8-5092-609B3155B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066" y="5497501"/>
            <a:ext cx="219475" cy="225572"/>
          </a:xfrm>
          <a:prstGeom prst="rect">
            <a:avLst/>
          </a:prstGeom>
        </p:spPr>
      </p:pic>
      <p:pic>
        <p:nvPicPr>
          <p:cNvPr id="90" name="圖片 89">
            <a:extLst>
              <a:ext uri="{FF2B5EF4-FFF2-40B4-BE49-F238E27FC236}">
                <a16:creationId xmlns:a16="http://schemas.microsoft.com/office/drawing/2014/main" id="{5DB392D7-863D-AC95-AC16-92C06E55CB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6646" y="5870904"/>
            <a:ext cx="201185" cy="201185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2F36DB84-DAE1-09E7-0B28-5B1C636045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3411" y="6208990"/>
            <a:ext cx="256054" cy="256054"/>
          </a:xfrm>
          <a:prstGeom prst="rect">
            <a:avLst/>
          </a:prstGeom>
        </p:spPr>
      </p:pic>
      <p:pic>
        <p:nvPicPr>
          <p:cNvPr id="92" name="圖片 91">
            <a:extLst>
              <a:ext uri="{FF2B5EF4-FFF2-40B4-BE49-F238E27FC236}">
                <a16:creationId xmlns:a16="http://schemas.microsoft.com/office/drawing/2014/main" id="{41C17BB1-3E57-70C5-1340-8EDAEA0407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2193" y="6207525"/>
            <a:ext cx="249958" cy="256054"/>
          </a:xfrm>
          <a:prstGeom prst="rect">
            <a:avLst/>
          </a:prstGeom>
        </p:spPr>
      </p:pic>
      <p:sp>
        <p:nvSpPr>
          <p:cNvPr id="93" name="文字方塊 92">
            <a:extLst>
              <a:ext uri="{FF2B5EF4-FFF2-40B4-BE49-F238E27FC236}">
                <a16:creationId xmlns:a16="http://schemas.microsoft.com/office/drawing/2014/main" id="{293D23DD-A421-C10F-A61B-B4CBE7723B52}"/>
              </a:ext>
            </a:extLst>
          </p:cNvPr>
          <p:cNvSpPr txBox="1"/>
          <p:nvPr/>
        </p:nvSpPr>
        <p:spPr>
          <a:xfrm>
            <a:off x="6122690" y="5027058"/>
            <a:ext cx="33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5FDF5080-19BA-DD35-0349-ABFCE2DDB6E3}"/>
              </a:ext>
            </a:extLst>
          </p:cNvPr>
          <p:cNvSpPr txBox="1"/>
          <p:nvPr/>
        </p:nvSpPr>
        <p:spPr>
          <a:xfrm>
            <a:off x="6122690" y="5411266"/>
            <a:ext cx="963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3~7</a:t>
            </a:r>
            <a:endParaRPr lang="zh-TW" altLang="en-US" dirty="0"/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F9C35545-3BD8-89BA-DE0C-82D93D986FCA}"/>
              </a:ext>
            </a:extLst>
          </p:cNvPr>
          <p:cNvSpPr txBox="1"/>
          <p:nvPr/>
        </p:nvSpPr>
        <p:spPr>
          <a:xfrm>
            <a:off x="6122690" y="5795474"/>
            <a:ext cx="963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2~4</a:t>
            </a:r>
            <a:endParaRPr lang="zh-TW" altLang="en-US" dirty="0"/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63708309-6AAE-2568-4617-F4C79B23A4B9}"/>
              </a:ext>
            </a:extLst>
          </p:cNvPr>
          <p:cNvSpPr txBox="1"/>
          <p:nvPr/>
        </p:nvSpPr>
        <p:spPr>
          <a:xfrm>
            <a:off x="6122690" y="6150886"/>
            <a:ext cx="963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0~2</a:t>
            </a:r>
            <a:endParaRPr lang="zh-TW" altLang="en-US" dirty="0"/>
          </a:p>
        </p:txBody>
      </p:sp>
      <p:sp>
        <p:nvSpPr>
          <p:cNvPr id="101" name="箭號: 向下 100">
            <a:extLst>
              <a:ext uri="{FF2B5EF4-FFF2-40B4-BE49-F238E27FC236}">
                <a16:creationId xmlns:a16="http://schemas.microsoft.com/office/drawing/2014/main" id="{807465A7-9CB3-ABAE-EF29-2D30BB52C037}"/>
              </a:ext>
            </a:extLst>
          </p:cNvPr>
          <p:cNvSpPr/>
          <p:nvPr/>
        </p:nvSpPr>
        <p:spPr>
          <a:xfrm rot="2777542">
            <a:off x="6458262" y="4468034"/>
            <a:ext cx="485518" cy="6736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6592E150-C614-F5DE-1775-2D7D1CCB244A}"/>
              </a:ext>
            </a:extLst>
          </p:cNvPr>
          <p:cNvSpPr txBox="1"/>
          <p:nvPr/>
        </p:nvSpPr>
        <p:spPr>
          <a:xfrm>
            <a:off x="7144697" y="4080894"/>
            <a:ext cx="17967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Need glycobiology knowledge to set the upper/lower limits</a:t>
            </a:r>
            <a:endParaRPr lang="zh-TW" altLang="en-US" dirty="0"/>
          </a:p>
        </p:txBody>
      </p:sp>
      <p:grpSp>
        <p:nvGrpSpPr>
          <p:cNvPr id="103" name="群組 102">
            <a:extLst>
              <a:ext uri="{FF2B5EF4-FFF2-40B4-BE49-F238E27FC236}">
                <a16:creationId xmlns:a16="http://schemas.microsoft.com/office/drawing/2014/main" id="{A75B291A-B447-1916-F9BC-42E7416D216C}"/>
              </a:ext>
            </a:extLst>
          </p:cNvPr>
          <p:cNvGrpSpPr/>
          <p:nvPr/>
        </p:nvGrpSpPr>
        <p:grpSpPr>
          <a:xfrm>
            <a:off x="3531442" y="6065468"/>
            <a:ext cx="1632097" cy="728239"/>
            <a:chOff x="6742343" y="1566213"/>
            <a:chExt cx="1632097" cy="728239"/>
          </a:xfrm>
        </p:grpSpPr>
        <p:grpSp>
          <p:nvGrpSpPr>
            <p:cNvPr id="104" name="群組 103">
              <a:extLst>
                <a:ext uri="{FF2B5EF4-FFF2-40B4-BE49-F238E27FC236}">
                  <a16:creationId xmlns:a16="http://schemas.microsoft.com/office/drawing/2014/main" id="{2ACDA472-F597-1C13-2941-E293E3F2D7F4}"/>
                </a:ext>
              </a:extLst>
            </p:cNvPr>
            <p:cNvGrpSpPr/>
            <p:nvPr/>
          </p:nvGrpSpPr>
          <p:grpSpPr>
            <a:xfrm>
              <a:off x="7135085" y="1566213"/>
              <a:ext cx="530147" cy="461665"/>
              <a:chOff x="1524000" y="1722120"/>
              <a:chExt cx="655320" cy="590550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C1FCAA2A-327A-9ABF-3831-B626D02B0D6D}"/>
                  </a:ext>
                </a:extLst>
              </p:cNvPr>
              <p:cNvSpPr/>
              <p:nvPr/>
            </p:nvSpPr>
            <p:spPr>
              <a:xfrm>
                <a:off x="1524000" y="1885950"/>
                <a:ext cx="655320" cy="426720"/>
              </a:xfrm>
              <a:prstGeom prst="rect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07" name="流程圖: 多重文件 106">
                <a:extLst>
                  <a:ext uri="{FF2B5EF4-FFF2-40B4-BE49-F238E27FC236}">
                    <a16:creationId xmlns:a16="http://schemas.microsoft.com/office/drawing/2014/main" id="{AFA0F480-5A02-9A04-B2A0-48F7FE0AD25C}"/>
                  </a:ext>
                </a:extLst>
              </p:cNvPr>
              <p:cNvSpPr/>
              <p:nvPr/>
            </p:nvSpPr>
            <p:spPr>
              <a:xfrm>
                <a:off x="1524000" y="1722120"/>
                <a:ext cx="655320" cy="266700"/>
              </a:xfrm>
              <a:prstGeom prst="flowChartMultidocument">
                <a:avLst/>
              </a:prstGeom>
              <a:solidFill>
                <a:srgbClr val="00B0F0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csv</a:t>
                </a:r>
                <a:endParaRPr kumimoji="0" lang="zh-TW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cxnSp>
            <p:nvCxnSpPr>
              <p:cNvPr id="108" name="直線接點 107">
                <a:extLst>
                  <a:ext uri="{FF2B5EF4-FFF2-40B4-BE49-F238E27FC236}">
                    <a16:creationId xmlns:a16="http://schemas.microsoft.com/office/drawing/2014/main" id="{68E76425-5AB4-C64B-093A-75AA84FE24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73847" y="2051685"/>
                <a:ext cx="477203" cy="0"/>
              </a:xfrm>
              <a:prstGeom prst="line">
                <a:avLst/>
              </a:prstGeom>
              <a:ln w="9525" cmpd="sng">
                <a:solidFill>
                  <a:schemeClr val="tx1"/>
                </a:solidFill>
                <a:prstDash val="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線接點 108">
                <a:extLst>
                  <a:ext uri="{FF2B5EF4-FFF2-40B4-BE49-F238E27FC236}">
                    <a16:creationId xmlns:a16="http://schemas.microsoft.com/office/drawing/2014/main" id="{822D4D6A-5547-2905-3094-A35C3CEF2E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73847" y="2099310"/>
                <a:ext cx="477203" cy="0"/>
              </a:xfrm>
              <a:prstGeom prst="line">
                <a:avLst/>
              </a:prstGeom>
              <a:ln w="9525" cmpd="sng">
                <a:solidFill>
                  <a:schemeClr val="tx1"/>
                </a:solidFill>
                <a:prstDash val="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線接點 109">
                <a:extLst>
                  <a:ext uri="{FF2B5EF4-FFF2-40B4-BE49-F238E27FC236}">
                    <a16:creationId xmlns:a16="http://schemas.microsoft.com/office/drawing/2014/main" id="{2073661A-35BE-FAB1-434B-D1E4E70919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73847" y="2146935"/>
                <a:ext cx="477203" cy="0"/>
              </a:xfrm>
              <a:prstGeom prst="line">
                <a:avLst/>
              </a:prstGeom>
              <a:ln w="9525" cmpd="sng">
                <a:solidFill>
                  <a:schemeClr val="tx1"/>
                </a:solidFill>
                <a:prstDash val="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線接點 110">
                <a:extLst>
                  <a:ext uri="{FF2B5EF4-FFF2-40B4-BE49-F238E27FC236}">
                    <a16:creationId xmlns:a16="http://schemas.microsoft.com/office/drawing/2014/main" id="{427C3FE1-03B1-1F3D-4C1D-56261A3617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73847" y="2188210"/>
                <a:ext cx="477203" cy="0"/>
              </a:xfrm>
              <a:prstGeom prst="line">
                <a:avLst/>
              </a:prstGeom>
              <a:ln w="9525" cmpd="sng">
                <a:solidFill>
                  <a:schemeClr val="tx1"/>
                </a:solidFill>
                <a:prstDash val="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線接點 111">
                <a:extLst>
                  <a:ext uri="{FF2B5EF4-FFF2-40B4-BE49-F238E27FC236}">
                    <a16:creationId xmlns:a16="http://schemas.microsoft.com/office/drawing/2014/main" id="{6EDA8E8D-E7DF-4581-EE95-0D776E321F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73847" y="2239010"/>
                <a:ext cx="477203" cy="0"/>
              </a:xfrm>
              <a:prstGeom prst="line">
                <a:avLst/>
              </a:prstGeom>
              <a:ln w="9525" cmpd="sng">
                <a:solidFill>
                  <a:schemeClr val="tx1"/>
                </a:solidFill>
                <a:prstDash val="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5" name="文字方塊 104">
              <a:extLst>
                <a:ext uri="{FF2B5EF4-FFF2-40B4-BE49-F238E27FC236}">
                  <a16:creationId xmlns:a16="http://schemas.microsoft.com/office/drawing/2014/main" id="{4F292864-AE6C-41F4-D9D8-1BB7D3BCF138}"/>
                </a:ext>
              </a:extLst>
            </p:cNvPr>
            <p:cNvSpPr txBox="1"/>
            <p:nvPr/>
          </p:nvSpPr>
          <p:spPr>
            <a:xfrm>
              <a:off x="6742343" y="2017453"/>
              <a:ext cx="16320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In silico glycan list.csv</a:t>
              </a:r>
              <a:endPara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113" name="箭號: 向下 112">
            <a:extLst>
              <a:ext uri="{FF2B5EF4-FFF2-40B4-BE49-F238E27FC236}">
                <a16:creationId xmlns:a16="http://schemas.microsoft.com/office/drawing/2014/main" id="{C2F47B30-5C39-5777-26E1-EBE28EB5D9D6}"/>
              </a:ext>
            </a:extLst>
          </p:cNvPr>
          <p:cNvSpPr/>
          <p:nvPr/>
        </p:nvSpPr>
        <p:spPr>
          <a:xfrm>
            <a:off x="4086482" y="5578778"/>
            <a:ext cx="485518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箭號: 向下 113">
            <a:extLst>
              <a:ext uri="{FF2B5EF4-FFF2-40B4-BE49-F238E27FC236}">
                <a16:creationId xmlns:a16="http://schemas.microsoft.com/office/drawing/2014/main" id="{ADBF811E-88AD-284B-37E2-7E25F2B68F06}"/>
              </a:ext>
            </a:extLst>
          </p:cNvPr>
          <p:cNvSpPr/>
          <p:nvPr/>
        </p:nvSpPr>
        <p:spPr>
          <a:xfrm rot="5400000">
            <a:off x="2829841" y="6065449"/>
            <a:ext cx="485518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5" name="群組 114">
            <a:extLst>
              <a:ext uri="{FF2B5EF4-FFF2-40B4-BE49-F238E27FC236}">
                <a16:creationId xmlns:a16="http://schemas.microsoft.com/office/drawing/2014/main" id="{0C20A5BA-211A-178C-8CBC-6FFB882C6EF3}"/>
              </a:ext>
            </a:extLst>
          </p:cNvPr>
          <p:cNvGrpSpPr/>
          <p:nvPr/>
        </p:nvGrpSpPr>
        <p:grpSpPr>
          <a:xfrm>
            <a:off x="1446555" y="6049549"/>
            <a:ext cx="1296718" cy="728239"/>
            <a:chOff x="6987337" y="1566213"/>
            <a:chExt cx="1296718" cy="728239"/>
          </a:xfrm>
        </p:grpSpPr>
        <p:grpSp>
          <p:nvGrpSpPr>
            <p:cNvPr id="116" name="群組 115">
              <a:extLst>
                <a:ext uri="{FF2B5EF4-FFF2-40B4-BE49-F238E27FC236}">
                  <a16:creationId xmlns:a16="http://schemas.microsoft.com/office/drawing/2014/main" id="{2E097043-981D-5616-5CB0-334DC1D8C985}"/>
                </a:ext>
              </a:extLst>
            </p:cNvPr>
            <p:cNvGrpSpPr/>
            <p:nvPr/>
          </p:nvGrpSpPr>
          <p:grpSpPr>
            <a:xfrm>
              <a:off x="7135085" y="1566213"/>
              <a:ext cx="530147" cy="461665"/>
              <a:chOff x="1524000" y="1722120"/>
              <a:chExt cx="655320" cy="590550"/>
            </a:xfrm>
          </p:grpSpPr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24815092-FC81-BBDB-059B-2AEDB59C990A}"/>
                  </a:ext>
                </a:extLst>
              </p:cNvPr>
              <p:cNvSpPr/>
              <p:nvPr/>
            </p:nvSpPr>
            <p:spPr>
              <a:xfrm>
                <a:off x="1524000" y="1885950"/>
                <a:ext cx="655320" cy="426720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19" name="流程圖: 多重文件 118">
                <a:extLst>
                  <a:ext uri="{FF2B5EF4-FFF2-40B4-BE49-F238E27FC236}">
                    <a16:creationId xmlns:a16="http://schemas.microsoft.com/office/drawing/2014/main" id="{47CD91DC-50B3-C226-BCC9-25658DE5F293}"/>
                  </a:ext>
                </a:extLst>
              </p:cNvPr>
              <p:cNvSpPr/>
              <p:nvPr/>
            </p:nvSpPr>
            <p:spPr>
              <a:xfrm>
                <a:off x="1524000" y="1722120"/>
                <a:ext cx="655320" cy="266700"/>
              </a:xfrm>
              <a:prstGeom prst="flowChartMultidocument">
                <a:avLst/>
              </a:prstGeom>
              <a:solidFill>
                <a:srgbClr val="92D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csv</a:t>
                </a:r>
                <a:endParaRPr kumimoji="0" lang="zh-TW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cxnSp>
            <p:nvCxnSpPr>
              <p:cNvPr id="120" name="直線接點 119">
                <a:extLst>
                  <a:ext uri="{FF2B5EF4-FFF2-40B4-BE49-F238E27FC236}">
                    <a16:creationId xmlns:a16="http://schemas.microsoft.com/office/drawing/2014/main" id="{A949E7DF-989E-986A-D9F8-D4839428B1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73847" y="2051685"/>
                <a:ext cx="477203" cy="0"/>
              </a:xfrm>
              <a:prstGeom prst="line">
                <a:avLst/>
              </a:prstGeom>
              <a:ln w="9525" cmpd="sng">
                <a:solidFill>
                  <a:schemeClr val="tx1"/>
                </a:solidFill>
                <a:prstDash val="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接點 120">
                <a:extLst>
                  <a:ext uri="{FF2B5EF4-FFF2-40B4-BE49-F238E27FC236}">
                    <a16:creationId xmlns:a16="http://schemas.microsoft.com/office/drawing/2014/main" id="{E644D3FC-E128-54B7-701B-D717015E62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73847" y="2099310"/>
                <a:ext cx="477203" cy="0"/>
              </a:xfrm>
              <a:prstGeom prst="line">
                <a:avLst/>
              </a:prstGeom>
              <a:ln w="9525" cmpd="sng">
                <a:solidFill>
                  <a:schemeClr val="tx1"/>
                </a:solidFill>
                <a:prstDash val="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線接點 121">
                <a:extLst>
                  <a:ext uri="{FF2B5EF4-FFF2-40B4-BE49-F238E27FC236}">
                    <a16:creationId xmlns:a16="http://schemas.microsoft.com/office/drawing/2014/main" id="{5407C0D0-91BD-8866-82B8-8D0FEEB514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73847" y="2146935"/>
                <a:ext cx="477203" cy="0"/>
              </a:xfrm>
              <a:prstGeom prst="line">
                <a:avLst/>
              </a:prstGeom>
              <a:ln w="9525" cmpd="sng">
                <a:solidFill>
                  <a:schemeClr val="tx1"/>
                </a:solidFill>
                <a:prstDash val="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接點 122">
                <a:extLst>
                  <a:ext uri="{FF2B5EF4-FFF2-40B4-BE49-F238E27FC236}">
                    <a16:creationId xmlns:a16="http://schemas.microsoft.com/office/drawing/2014/main" id="{0308CC3D-A744-6879-50F5-26892A5A1D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73847" y="2188210"/>
                <a:ext cx="477203" cy="0"/>
              </a:xfrm>
              <a:prstGeom prst="line">
                <a:avLst/>
              </a:prstGeom>
              <a:ln w="9525" cmpd="sng">
                <a:solidFill>
                  <a:schemeClr val="tx1"/>
                </a:solidFill>
                <a:prstDash val="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線接點 123">
                <a:extLst>
                  <a:ext uri="{FF2B5EF4-FFF2-40B4-BE49-F238E27FC236}">
                    <a16:creationId xmlns:a16="http://schemas.microsoft.com/office/drawing/2014/main" id="{28EFD20D-2BA7-097F-94A5-A5C719EA86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73847" y="2239010"/>
                <a:ext cx="477203" cy="0"/>
              </a:xfrm>
              <a:prstGeom prst="line">
                <a:avLst/>
              </a:prstGeom>
              <a:ln w="9525" cmpd="sng">
                <a:solidFill>
                  <a:schemeClr val="tx1"/>
                </a:solidFill>
                <a:prstDash val="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7" name="文字方塊 116">
              <a:extLst>
                <a:ext uri="{FF2B5EF4-FFF2-40B4-BE49-F238E27FC236}">
                  <a16:creationId xmlns:a16="http://schemas.microsoft.com/office/drawing/2014/main" id="{D987823E-AB1A-BB26-6D51-2BD84052E3C9}"/>
                </a:ext>
              </a:extLst>
            </p:cNvPr>
            <p:cNvSpPr txBox="1"/>
            <p:nvPr/>
          </p:nvSpPr>
          <p:spPr>
            <a:xfrm>
              <a:off x="6987337" y="2017453"/>
              <a:ext cx="12967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PseudoResult.csv</a:t>
              </a:r>
              <a:endPara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89FBB804-F8E5-60E9-7B78-290C830F591C}"/>
              </a:ext>
            </a:extLst>
          </p:cNvPr>
          <p:cNvSpPr txBox="1"/>
          <p:nvPr/>
        </p:nvSpPr>
        <p:spPr>
          <a:xfrm>
            <a:off x="503793" y="5726543"/>
            <a:ext cx="2865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Match the spectra by mass / 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7600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000AA-2FD3-AAD6-4F9A-0366387D7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1">
            <a:extLst>
              <a:ext uri="{FF2B5EF4-FFF2-40B4-BE49-F238E27FC236}">
                <a16:creationId xmlns:a16="http://schemas.microsoft.com/office/drawing/2014/main" id="{41D449F9-CC91-889F-EE95-96A6F94E3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kumimoji="1" lang="en-US" altLang="zh-TW" sz="2800" dirty="0"/>
              <a:t>auto-generate proper pseudo-labels progress</a:t>
            </a:r>
            <a:endParaRPr kumimoji="1" lang="zh-TW" altLang="en-US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E9F478-468B-7D78-F1EA-746FF5572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856" y="1494605"/>
            <a:ext cx="8264078" cy="1727971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Include </a:t>
            </a:r>
            <a:r>
              <a:rPr lang="en-US" altLang="zh-TW" sz="2400" dirty="0">
                <a:solidFill>
                  <a:srgbClr val="C00000"/>
                </a:solidFill>
              </a:rPr>
              <a:t>in silico glycan list generation (w/ smarter design), this slide</a:t>
            </a:r>
            <a:r>
              <a:rPr lang="en-US" altLang="zh-TW" sz="2400" dirty="0"/>
              <a:t> and fit composition part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D1E9520C-5F4C-C948-29D8-33A392D47168}"/>
              </a:ext>
            </a:extLst>
          </p:cNvPr>
          <p:cNvGrpSpPr/>
          <p:nvPr/>
        </p:nvGrpSpPr>
        <p:grpSpPr>
          <a:xfrm>
            <a:off x="78373" y="3126998"/>
            <a:ext cx="732465" cy="1854602"/>
            <a:chOff x="1980033" y="3666454"/>
            <a:chExt cx="901685" cy="2283066"/>
          </a:xfrm>
        </p:grpSpPr>
        <p:sp>
          <p:nvSpPr>
            <p:cNvPr id="19" name="Oval 13">
              <a:extLst>
                <a:ext uri="{FF2B5EF4-FFF2-40B4-BE49-F238E27FC236}">
                  <a16:creationId xmlns:a16="http://schemas.microsoft.com/office/drawing/2014/main" id="{1A8E6E96-879C-71D3-A12F-8A1F471EEA8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145945" y="3984187"/>
              <a:ext cx="209194" cy="208979"/>
            </a:xfrm>
            <a:prstGeom prst="ellipse">
              <a:avLst/>
            </a:prstGeom>
            <a:solidFill>
              <a:srgbClr val="FFD4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Line 31">
              <a:extLst>
                <a:ext uri="{FF2B5EF4-FFF2-40B4-BE49-F238E27FC236}">
                  <a16:creationId xmlns:a16="http://schemas.microsoft.com/office/drawing/2014/main" id="{A1B59703-2BC8-20E3-4E3A-E27DC31117C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62360" y="5592152"/>
              <a:ext cx="8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33">
              <a:extLst>
                <a:ext uri="{FF2B5EF4-FFF2-40B4-BE49-F238E27FC236}">
                  <a16:creationId xmlns:a16="http://schemas.microsoft.com/office/drawing/2014/main" id="{A15B6A8E-7D7C-08A3-E6F0-845E139A09A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411037" y="5361262"/>
              <a:ext cx="187817" cy="187624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" name="Rectangle 34">
              <a:extLst>
                <a:ext uri="{FF2B5EF4-FFF2-40B4-BE49-F238E27FC236}">
                  <a16:creationId xmlns:a16="http://schemas.microsoft.com/office/drawing/2014/main" id="{91AEF421-D819-B290-69A4-B1D3E02004A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410791" y="5075466"/>
              <a:ext cx="187817" cy="187624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" name="Oval 376">
              <a:extLst>
                <a:ext uri="{FF2B5EF4-FFF2-40B4-BE49-F238E27FC236}">
                  <a16:creationId xmlns:a16="http://schemas.microsoft.com/office/drawing/2014/main" id="{F409FF39-DAAD-20FF-6734-AE4A2DE9D6B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397754" y="4769512"/>
              <a:ext cx="209194" cy="208979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" name="Oval 377">
              <a:extLst>
                <a:ext uri="{FF2B5EF4-FFF2-40B4-BE49-F238E27FC236}">
                  <a16:creationId xmlns:a16="http://schemas.microsoft.com/office/drawing/2014/main" id="{C7DC0C84-3224-7B90-0B11-80B8C069B0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661865" y="4575527"/>
              <a:ext cx="209194" cy="208979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" name="Line 31">
              <a:extLst>
                <a:ext uri="{FF2B5EF4-FFF2-40B4-BE49-F238E27FC236}">
                  <a16:creationId xmlns:a16="http://schemas.microsoft.com/office/drawing/2014/main" id="{DA2D3542-41D6-BE9F-476B-8BEA3E3282E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59981" y="5301510"/>
              <a:ext cx="8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Line 31">
              <a:extLst>
                <a:ext uri="{FF2B5EF4-FFF2-40B4-BE49-F238E27FC236}">
                  <a16:creationId xmlns:a16="http://schemas.microsoft.com/office/drawing/2014/main" id="{9FF68F50-04BF-8ABB-BC9D-A60E85310C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59735" y="5028913"/>
              <a:ext cx="8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Line 10">
              <a:extLst>
                <a:ext uri="{FF2B5EF4-FFF2-40B4-BE49-F238E27FC236}">
                  <a16:creationId xmlns:a16="http://schemas.microsoft.com/office/drawing/2014/main" id="{FBC3DC9E-FF28-BB97-6D0E-CAC1AE4EFD1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2322836" y="4715443"/>
              <a:ext cx="88700" cy="97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Oval 378">
              <a:extLst>
                <a:ext uri="{FF2B5EF4-FFF2-40B4-BE49-F238E27FC236}">
                  <a16:creationId xmlns:a16="http://schemas.microsoft.com/office/drawing/2014/main" id="{D4183CEA-B0AD-683F-547A-23DA7A4E2A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148068" y="4560318"/>
              <a:ext cx="209194" cy="208979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4" name="Line 10">
              <a:extLst>
                <a:ext uri="{FF2B5EF4-FFF2-40B4-BE49-F238E27FC236}">
                  <a16:creationId xmlns:a16="http://schemas.microsoft.com/office/drawing/2014/main" id="{DF033909-05E6-2AB0-7BE6-EB918622640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589552" y="4721548"/>
              <a:ext cx="88700" cy="97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Rectangle 34">
              <a:extLst>
                <a:ext uri="{FF2B5EF4-FFF2-40B4-BE49-F238E27FC236}">
                  <a16:creationId xmlns:a16="http://schemas.microsoft.com/office/drawing/2014/main" id="{A785280A-9251-0687-BFF0-D386C14E27F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155834" y="4289286"/>
              <a:ext cx="187817" cy="187624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6" name="Rectangle 34">
              <a:extLst>
                <a:ext uri="{FF2B5EF4-FFF2-40B4-BE49-F238E27FC236}">
                  <a16:creationId xmlns:a16="http://schemas.microsoft.com/office/drawing/2014/main" id="{91DF1516-1453-BCAD-8BAE-7E0600A4D18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671032" y="4299054"/>
              <a:ext cx="187817" cy="187624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" name="Oval 13">
              <a:extLst>
                <a:ext uri="{FF2B5EF4-FFF2-40B4-BE49-F238E27FC236}">
                  <a16:creationId xmlns:a16="http://schemas.microsoft.com/office/drawing/2014/main" id="{51397892-A81D-69FA-FF47-00C345C134E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657646" y="3993163"/>
              <a:ext cx="209194" cy="208979"/>
            </a:xfrm>
            <a:prstGeom prst="ellipse">
              <a:avLst/>
            </a:prstGeom>
            <a:solidFill>
              <a:srgbClr val="FFD4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6" name="Line 31">
              <a:extLst>
                <a:ext uri="{FF2B5EF4-FFF2-40B4-BE49-F238E27FC236}">
                  <a16:creationId xmlns:a16="http://schemas.microsoft.com/office/drawing/2014/main" id="{CCAF26BD-DD3B-22DB-1054-73D53A18970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18448" y="4252635"/>
              <a:ext cx="8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AutoShape 167">
              <a:extLst>
                <a:ext uri="{FF2B5EF4-FFF2-40B4-BE49-F238E27FC236}">
                  <a16:creationId xmlns:a16="http://schemas.microsoft.com/office/drawing/2014/main" id="{2CC9CE85-CD1B-6385-EBDB-018A795DA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17" y="3666454"/>
              <a:ext cx="241301" cy="241379"/>
            </a:xfrm>
            <a:prstGeom prst="diamond">
              <a:avLst/>
            </a:prstGeom>
            <a:solidFill>
              <a:srgbClr val="AB4CA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8" name="Line 31">
              <a:extLst>
                <a:ext uri="{FF2B5EF4-FFF2-40B4-BE49-F238E27FC236}">
                  <a16:creationId xmlns:a16="http://schemas.microsoft.com/office/drawing/2014/main" id="{269A424A-22BE-B4B0-B48C-316079DF325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17921" y="3954787"/>
              <a:ext cx="8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Line 31">
              <a:extLst>
                <a:ext uri="{FF2B5EF4-FFF2-40B4-BE49-F238E27FC236}">
                  <a16:creationId xmlns:a16="http://schemas.microsoft.com/office/drawing/2014/main" id="{6698934B-B958-1979-A3D6-341EE6D6AA4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206747" y="4240486"/>
              <a:ext cx="8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Line 31">
              <a:extLst>
                <a:ext uri="{FF2B5EF4-FFF2-40B4-BE49-F238E27FC236}">
                  <a16:creationId xmlns:a16="http://schemas.microsoft.com/office/drawing/2014/main" id="{36D4E545-CF6A-2824-92E3-961FBB673D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206747" y="4527393"/>
              <a:ext cx="8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Line 31">
              <a:extLst>
                <a:ext uri="{FF2B5EF4-FFF2-40B4-BE49-F238E27FC236}">
                  <a16:creationId xmlns:a16="http://schemas.microsoft.com/office/drawing/2014/main" id="{F4150136-656B-FCC2-6D95-0D6EBE3E564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18448" y="4539642"/>
              <a:ext cx="8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" name="橢圓 131">
              <a:extLst>
                <a:ext uri="{FF2B5EF4-FFF2-40B4-BE49-F238E27FC236}">
                  <a16:creationId xmlns:a16="http://schemas.microsoft.com/office/drawing/2014/main" id="{3DE9A144-43A9-B513-732A-9386E3802152}"/>
                </a:ext>
              </a:extLst>
            </p:cNvPr>
            <p:cNvSpPr/>
            <p:nvPr/>
          </p:nvSpPr>
          <p:spPr>
            <a:xfrm>
              <a:off x="2402866" y="5630406"/>
              <a:ext cx="209195" cy="20919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33" name="橢圓 132">
              <a:extLst>
                <a:ext uri="{FF2B5EF4-FFF2-40B4-BE49-F238E27FC236}">
                  <a16:creationId xmlns:a16="http://schemas.microsoft.com/office/drawing/2014/main" id="{91A5EDEB-1F2A-AD6B-7D22-E1BD4D978DE5}"/>
                </a:ext>
              </a:extLst>
            </p:cNvPr>
            <p:cNvSpPr/>
            <p:nvPr/>
          </p:nvSpPr>
          <p:spPr>
            <a:xfrm>
              <a:off x="2607362" y="5631738"/>
              <a:ext cx="209195" cy="20919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34" name="橢圓 133">
              <a:extLst>
                <a:ext uri="{FF2B5EF4-FFF2-40B4-BE49-F238E27FC236}">
                  <a16:creationId xmlns:a16="http://schemas.microsoft.com/office/drawing/2014/main" id="{E6EAEAF2-52B0-CAC5-B495-BDAA821F68F8}"/>
                </a:ext>
              </a:extLst>
            </p:cNvPr>
            <p:cNvSpPr/>
            <p:nvPr/>
          </p:nvSpPr>
          <p:spPr>
            <a:xfrm>
              <a:off x="2193670" y="5683535"/>
              <a:ext cx="209195" cy="20919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35" name="橢圓 134">
              <a:extLst>
                <a:ext uri="{FF2B5EF4-FFF2-40B4-BE49-F238E27FC236}">
                  <a16:creationId xmlns:a16="http://schemas.microsoft.com/office/drawing/2014/main" id="{2B1AC4B6-E1D9-6515-7D63-B7458A7D1B29}"/>
                </a:ext>
              </a:extLst>
            </p:cNvPr>
            <p:cNvSpPr/>
            <p:nvPr/>
          </p:nvSpPr>
          <p:spPr>
            <a:xfrm>
              <a:off x="1980033" y="5740325"/>
              <a:ext cx="209195" cy="20919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pic>
        <p:nvPicPr>
          <p:cNvPr id="136" name="圖片 135">
            <a:extLst>
              <a:ext uri="{FF2B5EF4-FFF2-40B4-BE49-F238E27FC236}">
                <a16:creationId xmlns:a16="http://schemas.microsoft.com/office/drawing/2014/main" id="{927B1225-6C8F-EB55-4B81-0ECB5F8ABD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610"/>
          <a:stretch/>
        </p:blipFill>
        <p:spPr>
          <a:xfrm>
            <a:off x="947878" y="4315358"/>
            <a:ext cx="2797517" cy="2362200"/>
          </a:xfrm>
          <a:prstGeom prst="rect">
            <a:avLst/>
          </a:prstGeom>
        </p:spPr>
      </p:pic>
      <p:pic>
        <p:nvPicPr>
          <p:cNvPr id="137" name="圖片 136">
            <a:extLst>
              <a:ext uri="{FF2B5EF4-FFF2-40B4-BE49-F238E27FC236}">
                <a16:creationId xmlns:a16="http://schemas.microsoft.com/office/drawing/2014/main" id="{A9D82144-84F6-EB4B-70A5-37F8009C9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430718" y="3970411"/>
            <a:ext cx="237765" cy="225572"/>
          </a:xfrm>
          <a:prstGeom prst="rect">
            <a:avLst/>
          </a:prstGeom>
        </p:spPr>
      </p:pic>
      <p:pic>
        <p:nvPicPr>
          <p:cNvPr id="138" name="圖片 137">
            <a:extLst>
              <a:ext uri="{FF2B5EF4-FFF2-40B4-BE49-F238E27FC236}">
                <a16:creationId xmlns:a16="http://schemas.microsoft.com/office/drawing/2014/main" id="{8C32AD32-767D-284E-D100-50E530471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6937" y="3962273"/>
            <a:ext cx="219475" cy="225572"/>
          </a:xfrm>
          <a:prstGeom prst="rect">
            <a:avLst/>
          </a:prstGeom>
        </p:spPr>
      </p:pic>
      <p:pic>
        <p:nvPicPr>
          <p:cNvPr id="139" name="圖片 138">
            <a:extLst>
              <a:ext uri="{FF2B5EF4-FFF2-40B4-BE49-F238E27FC236}">
                <a16:creationId xmlns:a16="http://schemas.microsoft.com/office/drawing/2014/main" id="{AEE0238D-FE27-E5FF-07FA-24B990B97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9288" y="3963807"/>
            <a:ext cx="201185" cy="201185"/>
          </a:xfrm>
          <a:prstGeom prst="rect">
            <a:avLst/>
          </a:prstGeom>
        </p:spPr>
      </p:pic>
      <p:pic>
        <p:nvPicPr>
          <p:cNvPr id="140" name="圖片 139">
            <a:extLst>
              <a:ext uri="{FF2B5EF4-FFF2-40B4-BE49-F238E27FC236}">
                <a16:creationId xmlns:a16="http://schemas.microsoft.com/office/drawing/2014/main" id="{8B665C53-CC55-3918-EE06-6B36452D5F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3349" y="3931791"/>
            <a:ext cx="256054" cy="256054"/>
          </a:xfrm>
          <a:prstGeom prst="rect">
            <a:avLst/>
          </a:prstGeom>
        </p:spPr>
      </p:pic>
      <p:pic>
        <p:nvPicPr>
          <p:cNvPr id="141" name="圖片 140">
            <a:extLst>
              <a:ext uri="{FF2B5EF4-FFF2-40B4-BE49-F238E27FC236}">
                <a16:creationId xmlns:a16="http://schemas.microsoft.com/office/drawing/2014/main" id="{A4A4367C-FD98-2021-D57D-51EC9BDD18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9826" y="3946026"/>
            <a:ext cx="249958" cy="256054"/>
          </a:xfrm>
          <a:prstGeom prst="rect">
            <a:avLst/>
          </a:prstGeom>
        </p:spPr>
      </p:pic>
      <p:sp>
        <p:nvSpPr>
          <p:cNvPr id="142" name="文字方塊 141">
            <a:extLst>
              <a:ext uri="{FF2B5EF4-FFF2-40B4-BE49-F238E27FC236}">
                <a16:creationId xmlns:a16="http://schemas.microsoft.com/office/drawing/2014/main" id="{78FDBBE3-21DA-4E83-3212-3E62AE4F5E1D}"/>
              </a:ext>
            </a:extLst>
          </p:cNvPr>
          <p:cNvSpPr txBox="1"/>
          <p:nvPr/>
        </p:nvSpPr>
        <p:spPr>
          <a:xfrm>
            <a:off x="2383898" y="3657394"/>
            <a:ext cx="1391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(F, H, N, S, G)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487410FA-792E-070B-6C4D-10457499835A}"/>
              </a:ext>
            </a:extLst>
          </p:cNvPr>
          <p:cNvSpPr txBox="1"/>
          <p:nvPr/>
        </p:nvSpPr>
        <p:spPr>
          <a:xfrm>
            <a:off x="2207306" y="2468202"/>
            <a:ext cx="5349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Previous version: (brutal) expand the glycan list based on composition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144" name="圖片 143">
            <a:extLst>
              <a:ext uri="{FF2B5EF4-FFF2-40B4-BE49-F238E27FC236}">
                <a16:creationId xmlns:a16="http://schemas.microsoft.com/office/drawing/2014/main" id="{CD637579-CDC4-9138-E01D-46D501C3F2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5093" y="3650035"/>
            <a:ext cx="219475" cy="225572"/>
          </a:xfrm>
          <a:prstGeom prst="rect">
            <a:avLst/>
          </a:prstGeom>
        </p:spPr>
      </p:pic>
      <p:pic>
        <p:nvPicPr>
          <p:cNvPr id="145" name="圖片 144">
            <a:extLst>
              <a:ext uri="{FF2B5EF4-FFF2-40B4-BE49-F238E27FC236}">
                <a16:creationId xmlns:a16="http://schemas.microsoft.com/office/drawing/2014/main" id="{EC147F32-5910-7413-B5C2-DB8050A98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417502" y="3260518"/>
            <a:ext cx="237765" cy="225572"/>
          </a:xfrm>
          <a:prstGeom prst="rect">
            <a:avLst/>
          </a:prstGeom>
        </p:spPr>
      </p:pic>
      <p:pic>
        <p:nvPicPr>
          <p:cNvPr id="146" name="圖片 145">
            <a:extLst>
              <a:ext uri="{FF2B5EF4-FFF2-40B4-BE49-F238E27FC236}">
                <a16:creationId xmlns:a16="http://schemas.microsoft.com/office/drawing/2014/main" id="{160D4137-A125-AA63-B937-8DC90EF11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542" y="3641615"/>
            <a:ext cx="219475" cy="225572"/>
          </a:xfrm>
          <a:prstGeom prst="rect">
            <a:avLst/>
          </a:prstGeom>
        </p:spPr>
      </p:pic>
      <p:pic>
        <p:nvPicPr>
          <p:cNvPr id="147" name="圖片 146">
            <a:extLst>
              <a:ext uri="{FF2B5EF4-FFF2-40B4-BE49-F238E27FC236}">
                <a16:creationId xmlns:a16="http://schemas.microsoft.com/office/drawing/2014/main" id="{998F473D-F290-FFB4-E93C-EB563672E3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5122" y="4015018"/>
            <a:ext cx="201185" cy="201185"/>
          </a:xfrm>
          <a:prstGeom prst="rect">
            <a:avLst/>
          </a:prstGeom>
        </p:spPr>
      </p:pic>
      <p:pic>
        <p:nvPicPr>
          <p:cNvPr id="148" name="圖片 147">
            <a:extLst>
              <a:ext uri="{FF2B5EF4-FFF2-40B4-BE49-F238E27FC236}">
                <a16:creationId xmlns:a16="http://schemas.microsoft.com/office/drawing/2014/main" id="{A9863E0E-04BB-0F02-AF0C-77356A49F2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1887" y="4353104"/>
            <a:ext cx="256054" cy="256054"/>
          </a:xfrm>
          <a:prstGeom prst="rect">
            <a:avLst/>
          </a:prstGeom>
        </p:spPr>
      </p:pic>
      <p:pic>
        <p:nvPicPr>
          <p:cNvPr id="149" name="圖片 148">
            <a:extLst>
              <a:ext uri="{FF2B5EF4-FFF2-40B4-BE49-F238E27FC236}">
                <a16:creationId xmlns:a16="http://schemas.microsoft.com/office/drawing/2014/main" id="{37BB54CD-9708-706A-C3C1-4315D0AF12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0669" y="4351639"/>
            <a:ext cx="249958" cy="256054"/>
          </a:xfrm>
          <a:prstGeom prst="rect">
            <a:avLst/>
          </a:prstGeom>
        </p:spPr>
      </p:pic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D53CFBE0-28F4-13C5-FC57-20C6435E0B82}"/>
              </a:ext>
            </a:extLst>
          </p:cNvPr>
          <p:cNvSpPr txBox="1"/>
          <p:nvPr/>
        </p:nvSpPr>
        <p:spPr>
          <a:xfrm>
            <a:off x="5811166" y="3171172"/>
            <a:ext cx="33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3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5748B33F-50CF-C5ED-2C68-B35E9968E2A1}"/>
              </a:ext>
            </a:extLst>
          </p:cNvPr>
          <p:cNvSpPr txBox="1"/>
          <p:nvPr/>
        </p:nvSpPr>
        <p:spPr>
          <a:xfrm>
            <a:off x="5811166" y="3555380"/>
            <a:ext cx="963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3~7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2" name="文字方塊 151">
            <a:extLst>
              <a:ext uri="{FF2B5EF4-FFF2-40B4-BE49-F238E27FC236}">
                <a16:creationId xmlns:a16="http://schemas.microsoft.com/office/drawing/2014/main" id="{A596D5F1-15D7-381F-9547-4C197809AA15}"/>
              </a:ext>
            </a:extLst>
          </p:cNvPr>
          <p:cNvSpPr txBox="1"/>
          <p:nvPr/>
        </p:nvSpPr>
        <p:spPr>
          <a:xfrm>
            <a:off x="5811166" y="3939588"/>
            <a:ext cx="963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2~4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3" name="文字方塊 152">
            <a:extLst>
              <a:ext uri="{FF2B5EF4-FFF2-40B4-BE49-F238E27FC236}">
                <a16:creationId xmlns:a16="http://schemas.microsoft.com/office/drawing/2014/main" id="{402054B6-3FA3-C507-B6BC-83398D46F25D}"/>
              </a:ext>
            </a:extLst>
          </p:cNvPr>
          <p:cNvSpPr txBox="1"/>
          <p:nvPr/>
        </p:nvSpPr>
        <p:spPr>
          <a:xfrm>
            <a:off x="5811166" y="4295000"/>
            <a:ext cx="963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0~2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4" name="文字方塊 153">
            <a:extLst>
              <a:ext uri="{FF2B5EF4-FFF2-40B4-BE49-F238E27FC236}">
                <a16:creationId xmlns:a16="http://schemas.microsoft.com/office/drawing/2014/main" id="{9DE033DC-BC81-8CFC-70F5-A727DCA4801E}"/>
              </a:ext>
            </a:extLst>
          </p:cNvPr>
          <p:cNvSpPr txBox="1"/>
          <p:nvPr/>
        </p:nvSpPr>
        <p:spPr>
          <a:xfrm>
            <a:off x="3890800" y="4744180"/>
            <a:ext cx="3475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Current version: incorporate glycan synthesis restraints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2673C80D-1400-7A90-9788-4797CB1D8462}"/>
              </a:ext>
            </a:extLst>
          </p:cNvPr>
          <p:cNvSpPr txBox="1"/>
          <p:nvPr/>
        </p:nvSpPr>
        <p:spPr>
          <a:xfrm>
            <a:off x="6452519" y="3852788"/>
            <a:ext cx="2144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Time spent &lt; 0.1s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&gt;1k entities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7" name="文字方塊 156">
            <a:extLst>
              <a:ext uri="{FF2B5EF4-FFF2-40B4-BE49-F238E27FC236}">
                <a16:creationId xmlns:a16="http://schemas.microsoft.com/office/drawing/2014/main" id="{BFE771BC-0D25-71AB-1A0A-0D8617713ADC}"/>
              </a:ext>
            </a:extLst>
          </p:cNvPr>
          <p:cNvSpPr txBox="1"/>
          <p:nvPr/>
        </p:nvSpPr>
        <p:spPr>
          <a:xfrm>
            <a:off x="6190030" y="5788021"/>
            <a:ext cx="27513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Time spent can be ignored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Reduce by 30%~70% impossible combinations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C29DC873-48EA-2AA8-024B-74821DCECB51}"/>
              </a:ext>
            </a:extLst>
          </p:cNvPr>
          <p:cNvSpPr/>
          <p:nvPr/>
        </p:nvSpPr>
        <p:spPr>
          <a:xfrm>
            <a:off x="3970067" y="5339394"/>
            <a:ext cx="1942153" cy="34640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How many arms?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52375EA2-1AC6-7A7D-3DBB-E24E2DBC8113}"/>
              </a:ext>
            </a:extLst>
          </p:cNvPr>
          <p:cNvSpPr/>
          <p:nvPr/>
        </p:nvSpPr>
        <p:spPr>
          <a:xfrm>
            <a:off x="3889807" y="5780888"/>
            <a:ext cx="2116939" cy="45093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Special structure allowed? (species-specific)</a:t>
            </a:r>
            <a:endParaRPr kumimoji="0" lang="zh-TW" alt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FF379D5D-677C-F91A-E418-43EB67626167}"/>
              </a:ext>
            </a:extLst>
          </p:cNvPr>
          <p:cNvSpPr/>
          <p:nvPr/>
        </p:nvSpPr>
        <p:spPr>
          <a:xfrm>
            <a:off x="3889806" y="6330836"/>
            <a:ext cx="2116939" cy="32407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Total sugar unit limits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0F9106ED-E07A-6B7D-FED0-7B06722B4811}"/>
              </a:ext>
            </a:extLst>
          </p:cNvPr>
          <p:cNvSpPr/>
          <p:nvPr/>
        </p:nvSpPr>
        <p:spPr>
          <a:xfrm>
            <a:off x="6190030" y="5318587"/>
            <a:ext cx="1942153" cy="34640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Etc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…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3509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422CC-8F07-6C8F-C093-7D1EEC5A3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1">
            <a:extLst>
              <a:ext uri="{FF2B5EF4-FFF2-40B4-BE49-F238E27FC236}">
                <a16:creationId xmlns:a16="http://schemas.microsoft.com/office/drawing/2014/main" id="{5B60C3EE-CDDA-061B-5AAB-179C73D15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kumimoji="1" lang="en-US" altLang="zh-TW" sz="2800" dirty="0"/>
              <a:t>Adapted in silico glycan list generation flow (N-glycan)</a:t>
            </a:r>
            <a:endParaRPr kumimoji="1" lang="zh-TW" altLang="en-US" sz="2800" dirty="0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B7FE267-B635-F9A6-5597-93D43EF6E483}"/>
              </a:ext>
            </a:extLst>
          </p:cNvPr>
          <p:cNvSpPr/>
          <p:nvPr/>
        </p:nvSpPr>
        <p:spPr>
          <a:xfrm>
            <a:off x="1503476" y="1717642"/>
            <a:ext cx="1842687" cy="582263"/>
          </a:xfrm>
          <a:prstGeom prst="roundRect">
            <a:avLst>
              <a:gd name="adj" fmla="val 32644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Terminal permutations</a:t>
            </a:r>
            <a:endParaRPr lang="zh-TW" altLang="en-US" sz="2000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3B4AE58D-C6C7-605E-6C8E-A63233107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967" y="2339514"/>
            <a:ext cx="210025" cy="615073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374A31F0-CE75-D931-50FB-9A4986F5A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947" y="2342121"/>
            <a:ext cx="205025" cy="615073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FBF1A92F-76A6-1B4F-1333-09C0534B3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8819" y="2298033"/>
            <a:ext cx="469433" cy="487722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6ACAF4D2-BAB5-F5ED-2643-04C5FA79682F}"/>
              </a:ext>
            </a:extLst>
          </p:cNvPr>
          <p:cNvSpPr txBox="1"/>
          <p:nvPr/>
        </p:nvSpPr>
        <p:spPr>
          <a:xfrm>
            <a:off x="5685129" y="2049657"/>
            <a:ext cx="2830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Flags (driven by gene expression OR observation)</a:t>
            </a:r>
            <a:endParaRPr lang="zh-TW" altLang="en-US" dirty="0"/>
          </a:p>
        </p:txBody>
      </p:sp>
      <p:sp>
        <p:nvSpPr>
          <p:cNvPr id="29" name="箭號: 弧形下彎 28">
            <a:extLst>
              <a:ext uri="{FF2B5EF4-FFF2-40B4-BE49-F238E27FC236}">
                <a16:creationId xmlns:a16="http://schemas.microsoft.com/office/drawing/2014/main" id="{F98B4657-54C5-975C-6012-7F0EF0CC0BB3}"/>
              </a:ext>
            </a:extLst>
          </p:cNvPr>
          <p:cNvSpPr/>
          <p:nvPr/>
        </p:nvSpPr>
        <p:spPr>
          <a:xfrm rot="845382" flipH="1">
            <a:off x="4786446" y="1674954"/>
            <a:ext cx="935954" cy="75267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0" name="箭號: 弧形下彎 29">
            <a:extLst>
              <a:ext uri="{FF2B5EF4-FFF2-40B4-BE49-F238E27FC236}">
                <a16:creationId xmlns:a16="http://schemas.microsoft.com/office/drawing/2014/main" id="{7A602000-02B6-F39E-0386-D2CCF4B323A0}"/>
              </a:ext>
            </a:extLst>
          </p:cNvPr>
          <p:cNvSpPr/>
          <p:nvPr/>
        </p:nvSpPr>
        <p:spPr>
          <a:xfrm rot="845382" flipH="1">
            <a:off x="4292894" y="1734029"/>
            <a:ext cx="1204320" cy="75267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1" name="箭號: 弧形下彎 30">
            <a:extLst>
              <a:ext uri="{FF2B5EF4-FFF2-40B4-BE49-F238E27FC236}">
                <a16:creationId xmlns:a16="http://schemas.microsoft.com/office/drawing/2014/main" id="{2ED677BD-DA01-28B9-A9C5-AC9EE6AB1D44}"/>
              </a:ext>
            </a:extLst>
          </p:cNvPr>
          <p:cNvSpPr/>
          <p:nvPr/>
        </p:nvSpPr>
        <p:spPr>
          <a:xfrm rot="845382" flipH="1">
            <a:off x="3876754" y="1799029"/>
            <a:ext cx="1710927" cy="75267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367EA68B-DE27-005F-5D1D-08615F1C0A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865555" y="1604856"/>
            <a:ext cx="237765" cy="225572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84630B09-223C-AC73-A531-C7E4829EAD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443" y="1537632"/>
            <a:ext cx="256054" cy="256054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66528AD4-68E0-269D-90CF-DD996CF18E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6033" y="1501294"/>
            <a:ext cx="249958" cy="256054"/>
          </a:xfrm>
          <a:prstGeom prst="rect">
            <a:avLst/>
          </a:prstGeom>
        </p:spPr>
      </p:pic>
      <p:sp>
        <p:nvSpPr>
          <p:cNvPr id="35" name="箭號: 向下 34">
            <a:extLst>
              <a:ext uri="{FF2B5EF4-FFF2-40B4-BE49-F238E27FC236}">
                <a16:creationId xmlns:a16="http://schemas.microsoft.com/office/drawing/2014/main" id="{01EC17B5-3FE6-2352-B5AE-6A254830BE3B}"/>
              </a:ext>
            </a:extLst>
          </p:cNvPr>
          <p:cNvSpPr/>
          <p:nvPr/>
        </p:nvSpPr>
        <p:spPr>
          <a:xfrm>
            <a:off x="2190131" y="2431549"/>
            <a:ext cx="489098" cy="523038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6C2AAF35-C5A6-8E9A-2C43-130457ED1455}"/>
              </a:ext>
            </a:extLst>
          </p:cNvPr>
          <p:cNvSpPr/>
          <p:nvPr/>
        </p:nvSpPr>
        <p:spPr>
          <a:xfrm>
            <a:off x="1466899" y="3148297"/>
            <a:ext cx="1842687" cy="582263"/>
          </a:xfrm>
          <a:prstGeom prst="roundRect">
            <a:avLst>
              <a:gd name="adj" fmla="val 32644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Internal permutations</a:t>
            </a:r>
            <a:endParaRPr lang="zh-TW" altLang="en-US" sz="2000" dirty="0"/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304F34F5-2AFF-C1F0-BF3D-DDAEF02FAE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3032" y="3648261"/>
            <a:ext cx="219475" cy="225572"/>
          </a:xfrm>
          <a:prstGeom prst="rect">
            <a:avLst/>
          </a:prstGeom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F45E5BDA-BC48-CD32-CA79-054C53FDC5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1322" y="3892486"/>
            <a:ext cx="201185" cy="201185"/>
          </a:xfrm>
          <a:prstGeom prst="rect">
            <a:avLst/>
          </a:prstGeom>
        </p:spPr>
      </p:pic>
      <p:sp>
        <p:nvSpPr>
          <p:cNvPr id="39" name="箭號: 弧形下彎 38">
            <a:extLst>
              <a:ext uri="{FF2B5EF4-FFF2-40B4-BE49-F238E27FC236}">
                <a16:creationId xmlns:a16="http://schemas.microsoft.com/office/drawing/2014/main" id="{4BED8CD6-51C0-BDD4-9A1C-7D9A1BE0C803}"/>
              </a:ext>
            </a:extLst>
          </p:cNvPr>
          <p:cNvSpPr/>
          <p:nvPr/>
        </p:nvSpPr>
        <p:spPr>
          <a:xfrm rot="845382" flipH="1">
            <a:off x="4186835" y="3117223"/>
            <a:ext cx="1710927" cy="75267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40" name="圖片 39">
            <a:extLst>
              <a:ext uri="{FF2B5EF4-FFF2-40B4-BE49-F238E27FC236}">
                <a16:creationId xmlns:a16="http://schemas.microsoft.com/office/drawing/2014/main" id="{63A79304-02F8-4526-2BD9-78D8820760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148842" y="3161066"/>
            <a:ext cx="237765" cy="225572"/>
          </a:xfrm>
          <a:prstGeom prst="rect">
            <a:avLst/>
          </a:prstGeom>
        </p:spPr>
      </p:pic>
      <p:sp>
        <p:nvSpPr>
          <p:cNvPr id="41" name="左右中括弧 40">
            <a:extLst>
              <a:ext uri="{FF2B5EF4-FFF2-40B4-BE49-F238E27FC236}">
                <a16:creationId xmlns:a16="http://schemas.microsoft.com/office/drawing/2014/main" id="{EDD0645B-4385-2F8E-81EE-89C49E507C01}"/>
              </a:ext>
            </a:extLst>
          </p:cNvPr>
          <p:cNvSpPr/>
          <p:nvPr/>
        </p:nvSpPr>
        <p:spPr>
          <a:xfrm rot="5400000">
            <a:off x="3429535" y="3642355"/>
            <a:ext cx="582263" cy="500262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EC1CDFB8-876F-A846-A273-FC77EBF18268}"/>
              </a:ext>
            </a:extLst>
          </p:cNvPr>
          <p:cNvSpPr txBox="1"/>
          <p:nvPr/>
        </p:nvSpPr>
        <p:spPr>
          <a:xfrm>
            <a:off x="3907842" y="4023932"/>
            <a:ext cx="383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43" name="箭號: 弧形下彎 42">
            <a:extLst>
              <a:ext uri="{FF2B5EF4-FFF2-40B4-BE49-F238E27FC236}">
                <a16:creationId xmlns:a16="http://schemas.microsoft.com/office/drawing/2014/main" id="{BA5068E7-34B5-2B67-FC11-B8AA35B00771}"/>
              </a:ext>
            </a:extLst>
          </p:cNvPr>
          <p:cNvSpPr/>
          <p:nvPr/>
        </p:nvSpPr>
        <p:spPr>
          <a:xfrm rot="21329897" flipH="1">
            <a:off x="4036538" y="3389940"/>
            <a:ext cx="1710927" cy="75267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1429F77E-DC87-DA20-1B1F-1F76CFC66EAA}"/>
              </a:ext>
            </a:extLst>
          </p:cNvPr>
          <p:cNvSpPr txBox="1"/>
          <p:nvPr/>
        </p:nvSpPr>
        <p:spPr>
          <a:xfrm>
            <a:off x="5965351" y="3157991"/>
            <a:ext cx="2830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Flag and repeat number</a:t>
            </a:r>
            <a:endParaRPr lang="zh-TW" altLang="en-US" dirty="0"/>
          </a:p>
        </p:txBody>
      </p:sp>
      <p:sp>
        <p:nvSpPr>
          <p:cNvPr id="45" name="箭號: 向下 44">
            <a:extLst>
              <a:ext uri="{FF2B5EF4-FFF2-40B4-BE49-F238E27FC236}">
                <a16:creationId xmlns:a16="http://schemas.microsoft.com/office/drawing/2014/main" id="{D036E190-DC2A-985C-8A40-B98F8ECFD6FC}"/>
              </a:ext>
            </a:extLst>
          </p:cNvPr>
          <p:cNvSpPr/>
          <p:nvPr/>
        </p:nvSpPr>
        <p:spPr>
          <a:xfrm>
            <a:off x="2180271" y="5249094"/>
            <a:ext cx="489098" cy="523038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68465148-E84A-5F53-5C59-3D45F4C33B61}"/>
              </a:ext>
            </a:extLst>
          </p:cNvPr>
          <p:cNvSpPr/>
          <p:nvPr/>
        </p:nvSpPr>
        <p:spPr>
          <a:xfrm>
            <a:off x="1466899" y="5938185"/>
            <a:ext cx="1842687" cy="582263"/>
          </a:xfrm>
          <a:prstGeom prst="roundRect">
            <a:avLst>
              <a:gd name="adj" fmla="val 32644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Core additions and exceptions</a:t>
            </a:r>
            <a:endParaRPr lang="zh-TW" altLang="en-US" dirty="0"/>
          </a:p>
        </p:txBody>
      </p: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270A19F0-BC95-FCDE-FA9E-9097AA8563CB}"/>
              </a:ext>
            </a:extLst>
          </p:cNvPr>
          <p:cNvGrpSpPr/>
          <p:nvPr/>
        </p:nvGrpSpPr>
        <p:grpSpPr>
          <a:xfrm>
            <a:off x="3900441" y="5812807"/>
            <a:ext cx="543029" cy="890649"/>
            <a:chOff x="4435208" y="4927485"/>
            <a:chExt cx="543029" cy="890649"/>
          </a:xfrm>
        </p:grpSpPr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9C671773-079D-13CD-33D4-F99AA1624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00546" y="5437676"/>
              <a:ext cx="177691" cy="168578"/>
            </a:xfrm>
            <a:prstGeom prst="rect">
              <a:avLst/>
            </a:prstGeom>
          </p:spPr>
        </p:pic>
        <p:sp>
          <p:nvSpPr>
            <p:cNvPr id="50" name="Line 31">
              <a:extLst>
                <a:ext uri="{FF2B5EF4-FFF2-40B4-BE49-F238E27FC236}">
                  <a16:creationId xmlns:a16="http://schemas.microsoft.com/office/drawing/2014/main" id="{B4ADFF83-3453-1BD6-EF34-8710CE02E34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728021" y="5601181"/>
              <a:ext cx="545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Rectangle 33">
              <a:extLst>
                <a:ext uri="{FF2B5EF4-FFF2-40B4-BE49-F238E27FC236}">
                  <a16:creationId xmlns:a16="http://schemas.microsoft.com/office/drawing/2014/main" id="{6E15A3E2-6112-1EA0-DBA8-4F0FD1EA58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96864" y="5461012"/>
              <a:ext cx="114021" cy="113903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" name="Rectangle 34">
              <a:extLst>
                <a:ext uri="{FF2B5EF4-FFF2-40B4-BE49-F238E27FC236}">
                  <a16:creationId xmlns:a16="http://schemas.microsoft.com/office/drawing/2014/main" id="{D95743A9-6C19-E942-B9C7-3F0275FBDB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96714" y="5287509"/>
              <a:ext cx="114021" cy="113903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" name="Oval 376">
              <a:extLst>
                <a:ext uri="{FF2B5EF4-FFF2-40B4-BE49-F238E27FC236}">
                  <a16:creationId xmlns:a16="http://schemas.microsoft.com/office/drawing/2014/main" id="{9AA0CE97-3D34-BBC0-0470-3C8FED7D0E1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88800" y="5101770"/>
              <a:ext cx="126998" cy="126868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4" name="Oval 377">
              <a:extLst>
                <a:ext uri="{FF2B5EF4-FFF2-40B4-BE49-F238E27FC236}">
                  <a16:creationId xmlns:a16="http://schemas.microsoft.com/office/drawing/2014/main" id="{9AB87100-051A-89D8-6EDD-BE81AE15039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49138" y="4984004"/>
              <a:ext cx="126998" cy="126868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" name="Line 31">
              <a:extLst>
                <a:ext uri="{FF2B5EF4-FFF2-40B4-BE49-F238E27FC236}">
                  <a16:creationId xmlns:a16="http://schemas.microsoft.com/office/drawing/2014/main" id="{8C780764-1317-50A4-1401-7F872722953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726577" y="5424737"/>
              <a:ext cx="545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Line 31">
              <a:extLst>
                <a:ext uri="{FF2B5EF4-FFF2-40B4-BE49-F238E27FC236}">
                  <a16:creationId xmlns:a16="http://schemas.microsoft.com/office/drawing/2014/main" id="{EE4DFA1A-E1BA-FE82-7ED2-B968EC290FB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726428" y="5259248"/>
              <a:ext cx="545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Line 10">
              <a:extLst>
                <a:ext uri="{FF2B5EF4-FFF2-40B4-BE49-F238E27FC236}">
                  <a16:creationId xmlns:a16="http://schemas.microsoft.com/office/drawing/2014/main" id="{821687E9-9F2F-FCD4-F0FF-4D88FB84935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4643319" y="5068945"/>
              <a:ext cx="53849" cy="590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Oval 378">
              <a:extLst>
                <a:ext uri="{FF2B5EF4-FFF2-40B4-BE49-F238E27FC236}">
                  <a16:creationId xmlns:a16="http://schemas.microsoft.com/office/drawing/2014/main" id="{AE6AD074-BB7F-17B5-EA16-2AD5FF6E889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537220" y="4974771"/>
              <a:ext cx="126998" cy="126868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" name="Line 10">
              <a:extLst>
                <a:ext uri="{FF2B5EF4-FFF2-40B4-BE49-F238E27FC236}">
                  <a16:creationId xmlns:a16="http://schemas.microsoft.com/office/drawing/2014/main" id="{3E8827CC-40DD-51DC-359B-65FB47CDAE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4805238" y="5072651"/>
              <a:ext cx="53849" cy="590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Line 31">
              <a:extLst>
                <a:ext uri="{FF2B5EF4-FFF2-40B4-BE49-F238E27FC236}">
                  <a16:creationId xmlns:a16="http://schemas.microsoft.com/office/drawing/2014/main" id="{83B6C786-BC4C-E4B6-A7ED-F3186FBF6C1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572842" y="4954783"/>
              <a:ext cx="545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Line 31">
              <a:extLst>
                <a:ext uri="{FF2B5EF4-FFF2-40B4-BE49-F238E27FC236}">
                  <a16:creationId xmlns:a16="http://schemas.microsoft.com/office/drawing/2014/main" id="{60DD15C7-8BEE-67CD-89AA-9FE2BFBA3DB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883488" y="4962219"/>
              <a:ext cx="545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6250829D-DF19-9E45-522E-FB21399ADD3F}"/>
                </a:ext>
              </a:extLst>
            </p:cNvPr>
            <p:cNvSpPr/>
            <p:nvPr/>
          </p:nvSpPr>
          <p:spPr>
            <a:xfrm>
              <a:off x="4691904" y="5624405"/>
              <a:ext cx="126999" cy="12699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52FE92DA-4646-A1C8-4A16-87017EEE99E4}"/>
                </a:ext>
              </a:extLst>
            </p:cNvPr>
            <p:cNvSpPr/>
            <p:nvPr/>
          </p:nvSpPr>
          <p:spPr>
            <a:xfrm>
              <a:off x="4816050" y="5625213"/>
              <a:ext cx="126999" cy="12699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C014994C-03B6-3579-A37B-BEAF9A4AB526}"/>
                </a:ext>
              </a:extLst>
            </p:cNvPr>
            <p:cNvSpPr/>
            <p:nvPr/>
          </p:nvSpPr>
          <p:spPr>
            <a:xfrm>
              <a:off x="4564904" y="5656659"/>
              <a:ext cx="126999" cy="12699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2476F04E-CF94-B59E-2020-15785656AD49}"/>
                </a:ext>
              </a:extLst>
            </p:cNvPr>
            <p:cNvSpPr/>
            <p:nvPr/>
          </p:nvSpPr>
          <p:spPr>
            <a:xfrm>
              <a:off x="4435208" y="5691135"/>
              <a:ext cx="126999" cy="12699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44F22BFF-202C-C119-3272-57C575B42917}"/>
              </a:ext>
            </a:extLst>
          </p:cNvPr>
          <p:cNvGrpSpPr/>
          <p:nvPr/>
        </p:nvGrpSpPr>
        <p:grpSpPr>
          <a:xfrm>
            <a:off x="3433732" y="5599827"/>
            <a:ext cx="540864" cy="890665"/>
            <a:chOff x="3430171" y="4977375"/>
            <a:chExt cx="540864" cy="890665"/>
          </a:xfrm>
        </p:grpSpPr>
        <p:sp>
          <p:nvSpPr>
            <p:cNvPr id="77" name="Line 31">
              <a:extLst>
                <a:ext uri="{FF2B5EF4-FFF2-40B4-BE49-F238E27FC236}">
                  <a16:creationId xmlns:a16="http://schemas.microsoft.com/office/drawing/2014/main" id="{E0185A0A-AE39-A170-A0B7-A5AC879C5BF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22985" y="5651070"/>
              <a:ext cx="545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Rectangle 33">
              <a:extLst>
                <a:ext uri="{FF2B5EF4-FFF2-40B4-BE49-F238E27FC236}">
                  <a16:creationId xmlns:a16="http://schemas.microsoft.com/office/drawing/2014/main" id="{15B86C28-01FD-51B1-6D14-DBF4678E0CB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691828" y="5510901"/>
              <a:ext cx="114021" cy="113903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Rectangle 34">
              <a:extLst>
                <a:ext uri="{FF2B5EF4-FFF2-40B4-BE49-F238E27FC236}">
                  <a16:creationId xmlns:a16="http://schemas.microsoft.com/office/drawing/2014/main" id="{22E3B799-8BBB-E96F-5AC7-CE4603C31CB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691678" y="5337398"/>
              <a:ext cx="114021" cy="113903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1" name="Oval 376">
              <a:extLst>
                <a:ext uri="{FF2B5EF4-FFF2-40B4-BE49-F238E27FC236}">
                  <a16:creationId xmlns:a16="http://schemas.microsoft.com/office/drawing/2014/main" id="{E72EEC8F-1C0C-0065-18D5-80AA69CE89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683763" y="5151673"/>
              <a:ext cx="126999" cy="126868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Oval 377">
              <a:extLst>
                <a:ext uri="{FF2B5EF4-FFF2-40B4-BE49-F238E27FC236}">
                  <a16:creationId xmlns:a16="http://schemas.microsoft.com/office/drawing/2014/main" id="{0061DE01-8A63-7EB7-0D69-698A2F50D5D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844102" y="5033893"/>
              <a:ext cx="126998" cy="126868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Line 31">
              <a:extLst>
                <a:ext uri="{FF2B5EF4-FFF2-40B4-BE49-F238E27FC236}">
                  <a16:creationId xmlns:a16="http://schemas.microsoft.com/office/drawing/2014/main" id="{BB3EC185-51D8-B6D5-2CDD-CA8C047A931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21541" y="5474626"/>
              <a:ext cx="545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Line 31">
              <a:extLst>
                <a:ext uri="{FF2B5EF4-FFF2-40B4-BE49-F238E27FC236}">
                  <a16:creationId xmlns:a16="http://schemas.microsoft.com/office/drawing/2014/main" id="{D344404D-6FF2-0320-2A5E-24547BDEA06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21392" y="5309137"/>
              <a:ext cx="545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Line 10">
              <a:extLst>
                <a:ext uri="{FF2B5EF4-FFF2-40B4-BE49-F238E27FC236}">
                  <a16:creationId xmlns:a16="http://schemas.microsoft.com/office/drawing/2014/main" id="{C07CE976-5967-2894-8B82-628C4439351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3638282" y="5118834"/>
              <a:ext cx="53849" cy="590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Oval 378">
              <a:extLst>
                <a:ext uri="{FF2B5EF4-FFF2-40B4-BE49-F238E27FC236}">
                  <a16:creationId xmlns:a16="http://schemas.microsoft.com/office/drawing/2014/main" id="{824E7146-5F79-28E5-330B-50D2E60BF78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532184" y="5024660"/>
              <a:ext cx="126998" cy="126868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9" name="Line 10">
              <a:extLst>
                <a:ext uri="{FF2B5EF4-FFF2-40B4-BE49-F238E27FC236}">
                  <a16:creationId xmlns:a16="http://schemas.microsoft.com/office/drawing/2014/main" id="{A0232DD4-DF27-5D2D-5E6F-6D29F11FEF0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800201" y="5122540"/>
              <a:ext cx="53849" cy="590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Line 31">
              <a:extLst>
                <a:ext uri="{FF2B5EF4-FFF2-40B4-BE49-F238E27FC236}">
                  <a16:creationId xmlns:a16="http://schemas.microsoft.com/office/drawing/2014/main" id="{B933FF15-87E1-681E-1623-25883C80DEA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67807" y="5004673"/>
              <a:ext cx="545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Line 31">
              <a:extLst>
                <a:ext uri="{FF2B5EF4-FFF2-40B4-BE49-F238E27FC236}">
                  <a16:creationId xmlns:a16="http://schemas.microsoft.com/office/drawing/2014/main" id="{37ADA24A-F2D7-11A3-0808-A7FB373C60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878453" y="5012109"/>
              <a:ext cx="545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橢圓 102">
              <a:extLst>
                <a:ext uri="{FF2B5EF4-FFF2-40B4-BE49-F238E27FC236}">
                  <a16:creationId xmlns:a16="http://schemas.microsoft.com/office/drawing/2014/main" id="{38773B38-1C48-446A-BC97-ABAB6434866D}"/>
                </a:ext>
              </a:extLst>
            </p:cNvPr>
            <p:cNvSpPr/>
            <p:nvPr/>
          </p:nvSpPr>
          <p:spPr>
            <a:xfrm>
              <a:off x="3686869" y="5674297"/>
              <a:ext cx="126999" cy="12699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04" name="橢圓 103">
              <a:extLst>
                <a:ext uri="{FF2B5EF4-FFF2-40B4-BE49-F238E27FC236}">
                  <a16:creationId xmlns:a16="http://schemas.microsoft.com/office/drawing/2014/main" id="{CC28A28A-5F2F-EDFE-3F49-F2DABEAAF9EB}"/>
                </a:ext>
              </a:extLst>
            </p:cNvPr>
            <p:cNvSpPr/>
            <p:nvPr/>
          </p:nvSpPr>
          <p:spPr>
            <a:xfrm>
              <a:off x="3811015" y="5675108"/>
              <a:ext cx="126999" cy="12699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1F84AF5B-1C91-A379-17C1-A92BE82F35FE}"/>
                </a:ext>
              </a:extLst>
            </p:cNvPr>
            <p:cNvSpPr/>
            <p:nvPr/>
          </p:nvSpPr>
          <p:spPr>
            <a:xfrm>
              <a:off x="3559868" y="5706560"/>
              <a:ext cx="126999" cy="12699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06" name="橢圓 105">
              <a:extLst>
                <a:ext uri="{FF2B5EF4-FFF2-40B4-BE49-F238E27FC236}">
                  <a16:creationId xmlns:a16="http://schemas.microsoft.com/office/drawing/2014/main" id="{9B25ADA5-A9E3-EA41-F75A-F54E3C41FFA1}"/>
                </a:ext>
              </a:extLst>
            </p:cNvPr>
            <p:cNvSpPr/>
            <p:nvPr/>
          </p:nvSpPr>
          <p:spPr>
            <a:xfrm>
              <a:off x="3430171" y="5741041"/>
              <a:ext cx="126999" cy="12699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grpSp>
        <p:nvGrpSpPr>
          <p:cNvPr id="181" name="群組 180">
            <a:extLst>
              <a:ext uri="{FF2B5EF4-FFF2-40B4-BE49-F238E27FC236}">
                <a16:creationId xmlns:a16="http://schemas.microsoft.com/office/drawing/2014/main" id="{DF2A8D98-0A2C-0832-C40E-D0EDFF72D07A}"/>
              </a:ext>
            </a:extLst>
          </p:cNvPr>
          <p:cNvGrpSpPr/>
          <p:nvPr/>
        </p:nvGrpSpPr>
        <p:grpSpPr>
          <a:xfrm>
            <a:off x="5067201" y="5558151"/>
            <a:ext cx="707164" cy="1198784"/>
            <a:chOff x="4827965" y="4983088"/>
            <a:chExt cx="707164" cy="1198784"/>
          </a:xfrm>
        </p:grpSpPr>
        <p:sp>
          <p:nvSpPr>
            <p:cNvPr id="112" name="Line 31">
              <a:extLst>
                <a:ext uri="{FF2B5EF4-FFF2-40B4-BE49-F238E27FC236}">
                  <a16:creationId xmlns:a16="http://schemas.microsoft.com/office/drawing/2014/main" id="{30702CD6-313A-D13B-46F0-3FB40F6168D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120778" y="5964919"/>
              <a:ext cx="545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Rectangle 33">
              <a:extLst>
                <a:ext uri="{FF2B5EF4-FFF2-40B4-BE49-F238E27FC236}">
                  <a16:creationId xmlns:a16="http://schemas.microsoft.com/office/drawing/2014/main" id="{868BEB2F-3593-07F8-90D0-86856AF213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089621" y="5824750"/>
              <a:ext cx="114021" cy="113903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4" name="Rectangle 34">
              <a:extLst>
                <a:ext uri="{FF2B5EF4-FFF2-40B4-BE49-F238E27FC236}">
                  <a16:creationId xmlns:a16="http://schemas.microsoft.com/office/drawing/2014/main" id="{25687CDB-62AB-5EC6-6D76-2982DA4B675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089471" y="5651247"/>
              <a:ext cx="114021" cy="113903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5" name="Oval 376">
              <a:extLst>
                <a:ext uri="{FF2B5EF4-FFF2-40B4-BE49-F238E27FC236}">
                  <a16:creationId xmlns:a16="http://schemas.microsoft.com/office/drawing/2014/main" id="{68297EA1-F4D5-962D-7834-C2827B89B53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081557" y="5465508"/>
              <a:ext cx="126998" cy="126868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6" name="Oval 377">
              <a:extLst>
                <a:ext uri="{FF2B5EF4-FFF2-40B4-BE49-F238E27FC236}">
                  <a16:creationId xmlns:a16="http://schemas.microsoft.com/office/drawing/2014/main" id="{DEF07188-5172-CDCD-DC93-D7792922A76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241895" y="5347742"/>
              <a:ext cx="126998" cy="126868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7" name="Line 31">
              <a:extLst>
                <a:ext uri="{FF2B5EF4-FFF2-40B4-BE49-F238E27FC236}">
                  <a16:creationId xmlns:a16="http://schemas.microsoft.com/office/drawing/2014/main" id="{DCF66768-123A-4988-5C2A-91C367AA04A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119334" y="5788475"/>
              <a:ext cx="545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" name="Line 31">
              <a:extLst>
                <a:ext uri="{FF2B5EF4-FFF2-40B4-BE49-F238E27FC236}">
                  <a16:creationId xmlns:a16="http://schemas.microsoft.com/office/drawing/2014/main" id="{6A446F95-A30B-4CAA-1702-9E8C6C85852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119185" y="5622986"/>
              <a:ext cx="545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Line 10">
              <a:extLst>
                <a:ext uri="{FF2B5EF4-FFF2-40B4-BE49-F238E27FC236}">
                  <a16:creationId xmlns:a16="http://schemas.microsoft.com/office/drawing/2014/main" id="{4991C3F7-0145-4FDA-D35E-2826B2D081D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5036075" y="5432683"/>
              <a:ext cx="53849" cy="590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Oval 378">
              <a:extLst>
                <a:ext uri="{FF2B5EF4-FFF2-40B4-BE49-F238E27FC236}">
                  <a16:creationId xmlns:a16="http://schemas.microsoft.com/office/drawing/2014/main" id="{7D651AB6-2BBF-D8D8-850F-A236675F7AD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29977" y="5338509"/>
              <a:ext cx="126998" cy="126868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1" name="Line 10">
              <a:extLst>
                <a:ext uri="{FF2B5EF4-FFF2-40B4-BE49-F238E27FC236}">
                  <a16:creationId xmlns:a16="http://schemas.microsoft.com/office/drawing/2014/main" id="{DB75506C-472C-CB3F-3698-026E035DBF4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5197994" y="5436389"/>
              <a:ext cx="53849" cy="590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" name="Line 31">
              <a:extLst>
                <a:ext uri="{FF2B5EF4-FFF2-40B4-BE49-F238E27FC236}">
                  <a16:creationId xmlns:a16="http://schemas.microsoft.com/office/drawing/2014/main" id="{E708424E-181C-BAE5-3B75-E7B2878530B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965599" y="5318521"/>
              <a:ext cx="545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" name="橢圓 165">
              <a:extLst>
                <a:ext uri="{FF2B5EF4-FFF2-40B4-BE49-F238E27FC236}">
                  <a16:creationId xmlns:a16="http://schemas.microsoft.com/office/drawing/2014/main" id="{A607FA51-13D8-282E-09FB-C26994AC433A}"/>
                </a:ext>
              </a:extLst>
            </p:cNvPr>
            <p:cNvSpPr/>
            <p:nvPr/>
          </p:nvSpPr>
          <p:spPr>
            <a:xfrm>
              <a:off x="5084661" y="5988143"/>
              <a:ext cx="126999" cy="12699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67" name="橢圓 166">
              <a:extLst>
                <a:ext uri="{FF2B5EF4-FFF2-40B4-BE49-F238E27FC236}">
                  <a16:creationId xmlns:a16="http://schemas.microsoft.com/office/drawing/2014/main" id="{E685CCE3-2C89-9546-AFB1-F1C03AEFDE33}"/>
                </a:ext>
              </a:extLst>
            </p:cNvPr>
            <p:cNvSpPr/>
            <p:nvPr/>
          </p:nvSpPr>
          <p:spPr>
            <a:xfrm>
              <a:off x="5208807" y="5988951"/>
              <a:ext cx="126999" cy="12699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68" name="橢圓 167">
              <a:extLst>
                <a:ext uri="{FF2B5EF4-FFF2-40B4-BE49-F238E27FC236}">
                  <a16:creationId xmlns:a16="http://schemas.microsoft.com/office/drawing/2014/main" id="{E6A5FE24-251C-767D-5FAA-8BFF030289F4}"/>
                </a:ext>
              </a:extLst>
            </p:cNvPr>
            <p:cNvSpPr/>
            <p:nvPr/>
          </p:nvSpPr>
          <p:spPr>
            <a:xfrm>
              <a:off x="4957661" y="6020397"/>
              <a:ext cx="126999" cy="12699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69" name="橢圓 168">
              <a:extLst>
                <a:ext uri="{FF2B5EF4-FFF2-40B4-BE49-F238E27FC236}">
                  <a16:creationId xmlns:a16="http://schemas.microsoft.com/office/drawing/2014/main" id="{F853D221-771E-4D74-E70F-B4509F4EE33A}"/>
                </a:ext>
              </a:extLst>
            </p:cNvPr>
            <p:cNvSpPr/>
            <p:nvPr/>
          </p:nvSpPr>
          <p:spPr>
            <a:xfrm>
              <a:off x="4827965" y="6054873"/>
              <a:ext cx="126999" cy="12699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1" name="Oval 378">
              <a:extLst>
                <a:ext uri="{FF2B5EF4-FFF2-40B4-BE49-F238E27FC236}">
                  <a16:creationId xmlns:a16="http://schemas.microsoft.com/office/drawing/2014/main" id="{0E6178AA-00CD-C179-CE09-43C9FE3C4B0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29977" y="5166569"/>
              <a:ext cx="126998" cy="126868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4" name="Line 31">
              <a:extLst>
                <a:ext uri="{FF2B5EF4-FFF2-40B4-BE49-F238E27FC236}">
                  <a16:creationId xmlns:a16="http://schemas.microsoft.com/office/drawing/2014/main" id="{1A86F9C3-E5D4-8ECD-DB45-C9527ECBF5A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965599" y="5135105"/>
              <a:ext cx="545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Oval 378">
              <a:extLst>
                <a:ext uri="{FF2B5EF4-FFF2-40B4-BE49-F238E27FC236}">
                  <a16:creationId xmlns:a16="http://schemas.microsoft.com/office/drawing/2014/main" id="{B99FE730-0FDB-562D-B2DB-37BB9F44EF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29977" y="4983153"/>
              <a:ext cx="126998" cy="126868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7" name="Oval 377">
              <a:extLst>
                <a:ext uri="{FF2B5EF4-FFF2-40B4-BE49-F238E27FC236}">
                  <a16:creationId xmlns:a16="http://schemas.microsoft.com/office/drawing/2014/main" id="{072293B6-E202-E364-0E48-83A1691998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408196" y="5221926"/>
              <a:ext cx="126998" cy="126868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8" name="Line 10">
              <a:extLst>
                <a:ext uri="{FF2B5EF4-FFF2-40B4-BE49-F238E27FC236}">
                  <a16:creationId xmlns:a16="http://schemas.microsoft.com/office/drawing/2014/main" id="{F65F7A5A-2ED8-D5EA-5BCC-AA849B8B02E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5202376" y="5306867"/>
              <a:ext cx="53849" cy="590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" name="Oval 378">
              <a:extLst>
                <a:ext uri="{FF2B5EF4-FFF2-40B4-BE49-F238E27FC236}">
                  <a16:creationId xmlns:a16="http://schemas.microsoft.com/office/drawing/2014/main" id="{CD047C66-EF28-B938-FA1D-B6C74552E67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096278" y="5212693"/>
              <a:ext cx="126998" cy="126868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0" name="Line 10">
              <a:extLst>
                <a:ext uri="{FF2B5EF4-FFF2-40B4-BE49-F238E27FC236}">
                  <a16:creationId xmlns:a16="http://schemas.microsoft.com/office/drawing/2014/main" id="{831CEC7E-4B23-DA81-A7A9-4BD513B7F26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5364295" y="5310573"/>
              <a:ext cx="53849" cy="590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3" name="箭號: 向下 182">
            <a:extLst>
              <a:ext uri="{FF2B5EF4-FFF2-40B4-BE49-F238E27FC236}">
                <a16:creationId xmlns:a16="http://schemas.microsoft.com/office/drawing/2014/main" id="{678F760D-76B7-1FD5-C609-826A65F57C34}"/>
              </a:ext>
            </a:extLst>
          </p:cNvPr>
          <p:cNvSpPr/>
          <p:nvPr/>
        </p:nvSpPr>
        <p:spPr>
          <a:xfrm>
            <a:off x="2180271" y="3922099"/>
            <a:ext cx="489098" cy="523038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4" name="矩形: 圓角 183">
            <a:extLst>
              <a:ext uri="{FF2B5EF4-FFF2-40B4-BE49-F238E27FC236}">
                <a16:creationId xmlns:a16="http://schemas.microsoft.com/office/drawing/2014/main" id="{D60DBA85-1DAD-8690-9885-33BFC26C2A34}"/>
              </a:ext>
            </a:extLst>
          </p:cNvPr>
          <p:cNvSpPr/>
          <p:nvPr/>
        </p:nvSpPr>
        <p:spPr>
          <a:xfrm>
            <a:off x="1466899" y="4534517"/>
            <a:ext cx="1842687" cy="582263"/>
          </a:xfrm>
          <a:prstGeom prst="roundRect">
            <a:avLst>
              <a:gd name="adj" fmla="val 32644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Apply to arms</a:t>
            </a:r>
            <a:endParaRPr lang="zh-TW" altLang="en-US" sz="2000" dirty="0"/>
          </a:p>
        </p:txBody>
      </p:sp>
      <p:grpSp>
        <p:nvGrpSpPr>
          <p:cNvPr id="185" name="群組 184">
            <a:extLst>
              <a:ext uri="{FF2B5EF4-FFF2-40B4-BE49-F238E27FC236}">
                <a16:creationId xmlns:a16="http://schemas.microsoft.com/office/drawing/2014/main" id="{E3E9592B-ED9F-13D6-B0C8-04910F30ED1A}"/>
              </a:ext>
            </a:extLst>
          </p:cNvPr>
          <p:cNvGrpSpPr/>
          <p:nvPr/>
        </p:nvGrpSpPr>
        <p:grpSpPr>
          <a:xfrm>
            <a:off x="5477998" y="4393264"/>
            <a:ext cx="414261" cy="913885"/>
            <a:chOff x="1980033" y="3984089"/>
            <a:chExt cx="890922" cy="1965431"/>
          </a:xfrm>
        </p:grpSpPr>
        <p:sp>
          <p:nvSpPr>
            <p:cNvPr id="186" name="Oval 13">
              <a:extLst>
                <a:ext uri="{FF2B5EF4-FFF2-40B4-BE49-F238E27FC236}">
                  <a16:creationId xmlns:a16="http://schemas.microsoft.com/office/drawing/2014/main" id="{5053BA5C-7983-58D2-6D1E-44B0EC34207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145947" y="3984196"/>
              <a:ext cx="209194" cy="208980"/>
            </a:xfrm>
            <a:prstGeom prst="ellipse">
              <a:avLst/>
            </a:prstGeom>
            <a:solidFill>
              <a:srgbClr val="FFD4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7" name="Line 31">
              <a:extLst>
                <a:ext uri="{FF2B5EF4-FFF2-40B4-BE49-F238E27FC236}">
                  <a16:creationId xmlns:a16="http://schemas.microsoft.com/office/drawing/2014/main" id="{8A3AB717-C653-6042-27F2-2151EFBA837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62363" y="5592163"/>
              <a:ext cx="899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" name="Rectangle 33">
              <a:extLst>
                <a:ext uri="{FF2B5EF4-FFF2-40B4-BE49-F238E27FC236}">
                  <a16:creationId xmlns:a16="http://schemas.microsoft.com/office/drawing/2014/main" id="{EEA93C38-FE46-C7D7-C7D8-E114B1CAA3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411040" y="5361274"/>
              <a:ext cx="187817" cy="187624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9" name="Rectangle 34">
              <a:extLst>
                <a:ext uri="{FF2B5EF4-FFF2-40B4-BE49-F238E27FC236}">
                  <a16:creationId xmlns:a16="http://schemas.microsoft.com/office/drawing/2014/main" id="{D1B60E28-FE02-80C4-6A27-1C58C395FCB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410794" y="5075476"/>
              <a:ext cx="187817" cy="187624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0" name="Oval 376">
              <a:extLst>
                <a:ext uri="{FF2B5EF4-FFF2-40B4-BE49-F238E27FC236}">
                  <a16:creationId xmlns:a16="http://schemas.microsoft.com/office/drawing/2014/main" id="{44D293DF-D65F-1A92-520F-0C47F3D508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397757" y="4769522"/>
              <a:ext cx="209194" cy="208980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1" name="Oval 377">
              <a:extLst>
                <a:ext uri="{FF2B5EF4-FFF2-40B4-BE49-F238E27FC236}">
                  <a16:creationId xmlns:a16="http://schemas.microsoft.com/office/drawing/2014/main" id="{10E330BF-EB96-E439-9135-42522CD7EF3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661868" y="4575537"/>
              <a:ext cx="209194" cy="208980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2" name="Line 31">
              <a:extLst>
                <a:ext uri="{FF2B5EF4-FFF2-40B4-BE49-F238E27FC236}">
                  <a16:creationId xmlns:a16="http://schemas.microsoft.com/office/drawing/2014/main" id="{1B0A121F-CD58-B9F6-D0A3-738576D6414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59984" y="5301521"/>
              <a:ext cx="899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" name="Line 31">
              <a:extLst>
                <a:ext uri="{FF2B5EF4-FFF2-40B4-BE49-F238E27FC236}">
                  <a16:creationId xmlns:a16="http://schemas.microsoft.com/office/drawing/2014/main" id="{3D40BEDF-A7D6-C1F3-0690-28555F152AC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59738" y="5028924"/>
              <a:ext cx="899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" name="Line 10">
              <a:extLst>
                <a:ext uri="{FF2B5EF4-FFF2-40B4-BE49-F238E27FC236}">
                  <a16:creationId xmlns:a16="http://schemas.microsoft.com/office/drawing/2014/main" id="{90994EFF-A9F3-A120-E2DB-990AA4F7A9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2322839" y="4715453"/>
              <a:ext cx="88701" cy="97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" name="Oval 378">
              <a:extLst>
                <a:ext uri="{FF2B5EF4-FFF2-40B4-BE49-F238E27FC236}">
                  <a16:creationId xmlns:a16="http://schemas.microsoft.com/office/drawing/2014/main" id="{5AD9F2C3-0A92-BBE9-5F72-FFAEA9D227C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148071" y="4560327"/>
              <a:ext cx="209194" cy="208980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6" name="Line 10">
              <a:extLst>
                <a:ext uri="{FF2B5EF4-FFF2-40B4-BE49-F238E27FC236}">
                  <a16:creationId xmlns:a16="http://schemas.microsoft.com/office/drawing/2014/main" id="{7E809DE3-1985-C315-1BD0-555044B1AA5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589555" y="4721558"/>
              <a:ext cx="88701" cy="97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Rectangle 34">
              <a:extLst>
                <a:ext uri="{FF2B5EF4-FFF2-40B4-BE49-F238E27FC236}">
                  <a16:creationId xmlns:a16="http://schemas.microsoft.com/office/drawing/2014/main" id="{3C654CB1-B05F-A153-2ABE-8499F150F66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155836" y="4289295"/>
              <a:ext cx="187817" cy="187624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8" name="Rectangle 34">
              <a:extLst>
                <a:ext uri="{FF2B5EF4-FFF2-40B4-BE49-F238E27FC236}">
                  <a16:creationId xmlns:a16="http://schemas.microsoft.com/office/drawing/2014/main" id="{E05093A8-1344-C8A3-AD0D-9473AA20E9A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671036" y="4299063"/>
              <a:ext cx="187817" cy="187624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9" name="Oval 13">
              <a:extLst>
                <a:ext uri="{FF2B5EF4-FFF2-40B4-BE49-F238E27FC236}">
                  <a16:creationId xmlns:a16="http://schemas.microsoft.com/office/drawing/2014/main" id="{37C59085-1DF3-59FE-1E2E-B601590062D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657649" y="3993171"/>
              <a:ext cx="209194" cy="208980"/>
            </a:xfrm>
            <a:prstGeom prst="ellipse">
              <a:avLst/>
            </a:prstGeom>
            <a:solidFill>
              <a:srgbClr val="FFD4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0" name="Line 31">
              <a:extLst>
                <a:ext uri="{FF2B5EF4-FFF2-40B4-BE49-F238E27FC236}">
                  <a16:creationId xmlns:a16="http://schemas.microsoft.com/office/drawing/2014/main" id="{6C510658-DF06-285F-FA69-43996FB2A6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18451" y="4252644"/>
              <a:ext cx="899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" name="Line 31">
              <a:extLst>
                <a:ext uri="{FF2B5EF4-FFF2-40B4-BE49-F238E27FC236}">
                  <a16:creationId xmlns:a16="http://schemas.microsoft.com/office/drawing/2014/main" id="{14571C95-78BC-C2F6-97C7-3C61388140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206748" y="4240496"/>
              <a:ext cx="899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" name="Line 31">
              <a:extLst>
                <a:ext uri="{FF2B5EF4-FFF2-40B4-BE49-F238E27FC236}">
                  <a16:creationId xmlns:a16="http://schemas.microsoft.com/office/drawing/2014/main" id="{1405D8DD-0493-7688-4C30-D82757C54F7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206748" y="4527401"/>
              <a:ext cx="899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" name="Line 31">
              <a:extLst>
                <a:ext uri="{FF2B5EF4-FFF2-40B4-BE49-F238E27FC236}">
                  <a16:creationId xmlns:a16="http://schemas.microsoft.com/office/drawing/2014/main" id="{A2FC90C1-91A0-B8EA-2CC2-82E92B0AB5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18450" y="4539649"/>
              <a:ext cx="899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" name="橢圓 203">
              <a:extLst>
                <a:ext uri="{FF2B5EF4-FFF2-40B4-BE49-F238E27FC236}">
                  <a16:creationId xmlns:a16="http://schemas.microsoft.com/office/drawing/2014/main" id="{0B7177D3-4A58-C863-F97B-927BCD03B627}"/>
                </a:ext>
              </a:extLst>
            </p:cNvPr>
            <p:cNvSpPr/>
            <p:nvPr/>
          </p:nvSpPr>
          <p:spPr>
            <a:xfrm>
              <a:off x="2402868" y="5630415"/>
              <a:ext cx="209195" cy="20919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05" name="橢圓 204">
              <a:extLst>
                <a:ext uri="{FF2B5EF4-FFF2-40B4-BE49-F238E27FC236}">
                  <a16:creationId xmlns:a16="http://schemas.microsoft.com/office/drawing/2014/main" id="{1216FB2E-0613-BD87-9796-4F6D04024212}"/>
                </a:ext>
              </a:extLst>
            </p:cNvPr>
            <p:cNvSpPr/>
            <p:nvPr/>
          </p:nvSpPr>
          <p:spPr>
            <a:xfrm>
              <a:off x="2607364" y="5631747"/>
              <a:ext cx="209195" cy="20919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06" name="橢圓 205">
              <a:extLst>
                <a:ext uri="{FF2B5EF4-FFF2-40B4-BE49-F238E27FC236}">
                  <a16:creationId xmlns:a16="http://schemas.microsoft.com/office/drawing/2014/main" id="{F696F0A9-718C-D2EC-6435-59D024C1281F}"/>
                </a:ext>
              </a:extLst>
            </p:cNvPr>
            <p:cNvSpPr/>
            <p:nvPr/>
          </p:nvSpPr>
          <p:spPr>
            <a:xfrm>
              <a:off x="2193673" y="5683545"/>
              <a:ext cx="209195" cy="20919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07" name="橢圓 206">
              <a:extLst>
                <a:ext uri="{FF2B5EF4-FFF2-40B4-BE49-F238E27FC236}">
                  <a16:creationId xmlns:a16="http://schemas.microsoft.com/office/drawing/2014/main" id="{BC51F471-1AB7-0C87-BCF9-1B603E45246D}"/>
                </a:ext>
              </a:extLst>
            </p:cNvPr>
            <p:cNvSpPr/>
            <p:nvPr/>
          </p:nvSpPr>
          <p:spPr>
            <a:xfrm>
              <a:off x="1980033" y="5740325"/>
              <a:ext cx="209195" cy="20919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grpSp>
        <p:nvGrpSpPr>
          <p:cNvPr id="208" name="群組 207">
            <a:extLst>
              <a:ext uri="{FF2B5EF4-FFF2-40B4-BE49-F238E27FC236}">
                <a16:creationId xmlns:a16="http://schemas.microsoft.com/office/drawing/2014/main" id="{923DBA66-4AEA-5B67-4C72-F53348078F30}"/>
              </a:ext>
            </a:extLst>
          </p:cNvPr>
          <p:cNvGrpSpPr/>
          <p:nvPr/>
        </p:nvGrpSpPr>
        <p:grpSpPr>
          <a:xfrm>
            <a:off x="4816364" y="4498272"/>
            <a:ext cx="451868" cy="913885"/>
            <a:chOff x="1777027" y="3352044"/>
            <a:chExt cx="789422" cy="1596574"/>
          </a:xfrm>
        </p:grpSpPr>
        <p:sp>
          <p:nvSpPr>
            <p:cNvPr id="209" name="Oval 13">
              <a:extLst>
                <a:ext uri="{FF2B5EF4-FFF2-40B4-BE49-F238E27FC236}">
                  <a16:creationId xmlns:a16="http://schemas.microsoft.com/office/drawing/2014/main" id="{78BCF23A-68D4-3689-5CBE-C583EB7EC09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977505" y="3352131"/>
              <a:ext cx="169934" cy="169760"/>
            </a:xfrm>
            <a:prstGeom prst="ellipse">
              <a:avLst/>
            </a:prstGeom>
            <a:solidFill>
              <a:srgbClr val="FFD4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0" name="Line 31">
              <a:extLst>
                <a:ext uri="{FF2B5EF4-FFF2-40B4-BE49-F238E27FC236}">
                  <a16:creationId xmlns:a16="http://schemas.microsoft.com/office/drawing/2014/main" id="{5CCCE990-BDD9-B6E1-D72C-B2ACA0F4342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234538" y="4658327"/>
              <a:ext cx="730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Rectangle 33">
              <a:extLst>
                <a:ext uri="{FF2B5EF4-FFF2-40B4-BE49-F238E27FC236}">
                  <a16:creationId xmlns:a16="http://schemas.microsoft.com/office/drawing/2014/main" id="{D2265776-29AF-4F28-91DA-3E983013CDC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192847" y="4470769"/>
              <a:ext cx="152569" cy="152412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2" name="Rectangle 34">
              <a:extLst>
                <a:ext uri="{FF2B5EF4-FFF2-40B4-BE49-F238E27FC236}">
                  <a16:creationId xmlns:a16="http://schemas.microsoft.com/office/drawing/2014/main" id="{8977C8B0-E635-FAE1-6A6B-301307D97B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192647" y="4238608"/>
              <a:ext cx="152569" cy="152412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3" name="Oval 376">
              <a:extLst>
                <a:ext uri="{FF2B5EF4-FFF2-40B4-BE49-F238E27FC236}">
                  <a16:creationId xmlns:a16="http://schemas.microsoft.com/office/drawing/2014/main" id="{DCA44089-4375-9F9C-28F8-21AE49F60E6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182057" y="3990073"/>
              <a:ext cx="169934" cy="169760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4" name="Oval 377">
              <a:extLst>
                <a:ext uri="{FF2B5EF4-FFF2-40B4-BE49-F238E27FC236}">
                  <a16:creationId xmlns:a16="http://schemas.microsoft.com/office/drawing/2014/main" id="{530F02EA-1A8F-35DE-F4EF-1D9A4DE6B5D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396602" y="3832494"/>
              <a:ext cx="169934" cy="169760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5" name="Line 31">
              <a:extLst>
                <a:ext uri="{FF2B5EF4-FFF2-40B4-BE49-F238E27FC236}">
                  <a16:creationId xmlns:a16="http://schemas.microsoft.com/office/drawing/2014/main" id="{02EB17D7-7735-1B38-3487-AFE24EE85E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232606" y="4422230"/>
              <a:ext cx="730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6" name="Line 31">
              <a:extLst>
                <a:ext uri="{FF2B5EF4-FFF2-40B4-BE49-F238E27FC236}">
                  <a16:creationId xmlns:a16="http://schemas.microsoft.com/office/drawing/2014/main" id="{0A55FF86-8E24-B295-4BFE-5430376D94C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232406" y="4200792"/>
              <a:ext cx="730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Line 10">
              <a:extLst>
                <a:ext uri="{FF2B5EF4-FFF2-40B4-BE49-F238E27FC236}">
                  <a16:creationId xmlns:a16="http://schemas.microsoft.com/office/drawing/2014/main" id="{EA541CEE-6C27-2762-4A5B-AF7E688E07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2121199" y="3946151"/>
              <a:ext cx="72054" cy="789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Oval 378">
              <a:extLst>
                <a:ext uri="{FF2B5EF4-FFF2-40B4-BE49-F238E27FC236}">
                  <a16:creationId xmlns:a16="http://schemas.microsoft.com/office/drawing/2014/main" id="{8030383B-D970-1279-18E2-A43ECF178D6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979230" y="3820138"/>
              <a:ext cx="169934" cy="169760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9" name="Line 10">
              <a:extLst>
                <a:ext uri="{FF2B5EF4-FFF2-40B4-BE49-F238E27FC236}">
                  <a16:creationId xmlns:a16="http://schemas.microsoft.com/office/drawing/2014/main" id="{37BC5E14-1F65-9901-AA12-00C25A5A51A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337860" y="3951110"/>
              <a:ext cx="72054" cy="789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Rectangle 34">
              <a:extLst>
                <a:ext uri="{FF2B5EF4-FFF2-40B4-BE49-F238E27FC236}">
                  <a16:creationId xmlns:a16="http://schemas.microsoft.com/office/drawing/2014/main" id="{3C0FB864-A8B1-659A-C7F2-B85F3EB3E95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985538" y="3599971"/>
              <a:ext cx="152569" cy="152412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1" name="Rectangle 34">
              <a:extLst>
                <a:ext uri="{FF2B5EF4-FFF2-40B4-BE49-F238E27FC236}">
                  <a16:creationId xmlns:a16="http://schemas.microsoft.com/office/drawing/2014/main" id="{CBDA2789-D3BE-05A2-48A3-7CC76E2BD86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404049" y="3607906"/>
              <a:ext cx="152569" cy="152412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2" name="Oval 13">
              <a:extLst>
                <a:ext uri="{FF2B5EF4-FFF2-40B4-BE49-F238E27FC236}">
                  <a16:creationId xmlns:a16="http://schemas.microsoft.com/office/drawing/2014/main" id="{6C84A0C1-C2CB-BE59-7C3A-35D8475D25F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393175" y="3359422"/>
              <a:ext cx="169934" cy="169760"/>
            </a:xfrm>
            <a:prstGeom prst="ellipse">
              <a:avLst/>
            </a:prstGeom>
            <a:solidFill>
              <a:srgbClr val="FFD4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3" name="Line 31">
              <a:extLst>
                <a:ext uri="{FF2B5EF4-FFF2-40B4-BE49-F238E27FC236}">
                  <a16:creationId xmlns:a16="http://schemas.microsoft.com/office/drawing/2014/main" id="{091D3EA9-DCD3-528E-C140-0E4D02AD12F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42566" y="3570199"/>
              <a:ext cx="730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4" name="Line 31">
              <a:extLst>
                <a:ext uri="{FF2B5EF4-FFF2-40B4-BE49-F238E27FC236}">
                  <a16:creationId xmlns:a16="http://schemas.microsoft.com/office/drawing/2014/main" id="{D95C65BC-ACB6-CDFB-9477-014C8B2C0C5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026895" y="3560331"/>
              <a:ext cx="730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Line 31">
              <a:extLst>
                <a:ext uri="{FF2B5EF4-FFF2-40B4-BE49-F238E27FC236}">
                  <a16:creationId xmlns:a16="http://schemas.microsoft.com/office/drawing/2014/main" id="{3F4834DB-DAE6-EB6E-1D5E-428B989846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026895" y="3793391"/>
              <a:ext cx="730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6" name="Line 31">
              <a:extLst>
                <a:ext uri="{FF2B5EF4-FFF2-40B4-BE49-F238E27FC236}">
                  <a16:creationId xmlns:a16="http://schemas.microsoft.com/office/drawing/2014/main" id="{01768B46-56F7-5094-1099-1939CBC6A62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42565" y="3803341"/>
              <a:ext cx="730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7" name="橢圓 226">
              <a:extLst>
                <a:ext uri="{FF2B5EF4-FFF2-40B4-BE49-F238E27FC236}">
                  <a16:creationId xmlns:a16="http://schemas.microsoft.com/office/drawing/2014/main" id="{740FF15B-B2C6-275D-58FB-79A6C96E29AE}"/>
                </a:ext>
              </a:extLst>
            </p:cNvPr>
            <p:cNvSpPr/>
            <p:nvPr/>
          </p:nvSpPr>
          <p:spPr>
            <a:xfrm>
              <a:off x="2186209" y="4689400"/>
              <a:ext cx="169935" cy="16993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28" name="橢圓 227">
              <a:extLst>
                <a:ext uri="{FF2B5EF4-FFF2-40B4-BE49-F238E27FC236}">
                  <a16:creationId xmlns:a16="http://schemas.microsoft.com/office/drawing/2014/main" id="{63EE4BB7-6416-CF23-E75E-BD0259CA9EBC}"/>
                </a:ext>
              </a:extLst>
            </p:cNvPr>
            <p:cNvSpPr/>
            <p:nvPr/>
          </p:nvSpPr>
          <p:spPr>
            <a:xfrm>
              <a:off x="2352327" y="4690482"/>
              <a:ext cx="169935" cy="16993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29" name="橢圓 228">
              <a:extLst>
                <a:ext uri="{FF2B5EF4-FFF2-40B4-BE49-F238E27FC236}">
                  <a16:creationId xmlns:a16="http://schemas.microsoft.com/office/drawing/2014/main" id="{DF89114B-97B4-E3CA-D327-D30AA4B58741}"/>
                </a:ext>
              </a:extLst>
            </p:cNvPr>
            <p:cNvSpPr/>
            <p:nvPr/>
          </p:nvSpPr>
          <p:spPr>
            <a:xfrm>
              <a:off x="2016274" y="4732559"/>
              <a:ext cx="169935" cy="16993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30" name="橢圓 229">
              <a:extLst>
                <a:ext uri="{FF2B5EF4-FFF2-40B4-BE49-F238E27FC236}">
                  <a16:creationId xmlns:a16="http://schemas.microsoft.com/office/drawing/2014/main" id="{6511760D-AB30-EEC7-05E7-AA3187117B3D}"/>
                </a:ext>
              </a:extLst>
            </p:cNvPr>
            <p:cNvSpPr/>
            <p:nvPr/>
          </p:nvSpPr>
          <p:spPr>
            <a:xfrm>
              <a:off x="1842728" y="4778683"/>
              <a:ext cx="169935" cy="16993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31" name="Oval 13">
              <a:extLst>
                <a:ext uri="{FF2B5EF4-FFF2-40B4-BE49-F238E27FC236}">
                  <a16:creationId xmlns:a16="http://schemas.microsoft.com/office/drawing/2014/main" id="{3A2CDF8E-18C0-4E1A-B71D-F142B7252AE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776940" y="3360067"/>
              <a:ext cx="169934" cy="169760"/>
            </a:xfrm>
            <a:prstGeom prst="ellipse">
              <a:avLst/>
            </a:prstGeom>
            <a:solidFill>
              <a:srgbClr val="FFD4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2" name="Rectangle 34">
              <a:extLst>
                <a:ext uri="{FF2B5EF4-FFF2-40B4-BE49-F238E27FC236}">
                  <a16:creationId xmlns:a16="http://schemas.microsoft.com/office/drawing/2014/main" id="{0C81378F-BBA3-9F64-8B76-CF7ED530F17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784973" y="3607907"/>
              <a:ext cx="152569" cy="152412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3" name="Line 31">
              <a:extLst>
                <a:ext uri="{FF2B5EF4-FFF2-40B4-BE49-F238E27FC236}">
                  <a16:creationId xmlns:a16="http://schemas.microsoft.com/office/drawing/2014/main" id="{FB3E0985-9A40-3489-98C2-41D6634ADF8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826330" y="3568267"/>
              <a:ext cx="730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4" name="Line 31">
              <a:extLst>
                <a:ext uri="{FF2B5EF4-FFF2-40B4-BE49-F238E27FC236}">
                  <a16:creationId xmlns:a16="http://schemas.microsoft.com/office/drawing/2014/main" id="{0358DAFE-2C12-C542-DC36-3AC5B65DD29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875132" y="3752525"/>
              <a:ext cx="98210" cy="1227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35" name="群組 234">
            <a:extLst>
              <a:ext uri="{FF2B5EF4-FFF2-40B4-BE49-F238E27FC236}">
                <a16:creationId xmlns:a16="http://schemas.microsoft.com/office/drawing/2014/main" id="{50C16401-963C-62DB-AB0B-ECA5922F4FCD}"/>
              </a:ext>
            </a:extLst>
          </p:cNvPr>
          <p:cNvGrpSpPr/>
          <p:nvPr/>
        </p:nvGrpSpPr>
        <p:grpSpPr>
          <a:xfrm>
            <a:off x="4060347" y="4373701"/>
            <a:ext cx="561898" cy="921991"/>
            <a:chOff x="2587802" y="3370975"/>
            <a:chExt cx="981646" cy="1610735"/>
          </a:xfrm>
        </p:grpSpPr>
        <p:sp>
          <p:nvSpPr>
            <p:cNvPr id="236" name="Oval 13">
              <a:extLst>
                <a:ext uri="{FF2B5EF4-FFF2-40B4-BE49-F238E27FC236}">
                  <a16:creationId xmlns:a16="http://schemas.microsoft.com/office/drawing/2014/main" id="{07B97760-925C-8495-6D42-2CA3BC0C0D6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81162" y="3385223"/>
              <a:ext cx="169934" cy="169760"/>
            </a:xfrm>
            <a:prstGeom prst="ellipse">
              <a:avLst/>
            </a:prstGeom>
            <a:solidFill>
              <a:srgbClr val="FFD4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7" name="Line 31">
              <a:extLst>
                <a:ext uri="{FF2B5EF4-FFF2-40B4-BE49-F238E27FC236}">
                  <a16:creationId xmlns:a16="http://schemas.microsoft.com/office/drawing/2014/main" id="{3D9B1C0F-A736-0924-3D67-B6C45CADD5A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038195" y="4691419"/>
              <a:ext cx="730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8" name="Rectangle 33">
              <a:extLst>
                <a:ext uri="{FF2B5EF4-FFF2-40B4-BE49-F238E27FC236}">
                  <a16:creationId xmlns:a16="http://schemas.microsoft.com/office/drawing/2014/main" id="{E9971A61-FC7B-7AB8-3E1B-39C958586F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996504" y="4503861"/>
              <a:ext cx="152569" cy="152412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Rectangle 34">
              <a:extLst>
                <a:ext uri="{FF2B5EF4-FFF2-40B4-BE49-F238E27FC236}">
                  <a16:creationId xmlns:a16="http://schemas.microsoft.com/office/drawing/2014/main" id="{2C0665E3-5C42-E960-014A-713A4F81D08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996304" y="4271700"/>
              <a:ext cx="152569" cy="152412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0" name="Oval 376">
              <a:extLst>
                <a:ext uri="{FF2B5EF4-FFF2-40B4-BE49-F238E27FC236}">
                  <a16:creationId xmlns:a16="http://schemas.microsoft.com/office/drawing/2014/main" id="{2E8288EB-67E8-B068-7FB0-41985DA940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985714" y="4023165"/>
              <a:ext cx="169934" cy="169760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Oval 377">
              <a:extLst>
                <a:ext uri="{FF2B5EF4-FFF2-40B4-BE49-F238E27FC236}">
                  <a16:creationId xmlns:a16="http://schemas.microsoft.com/office/drawing/2014/main" id="{E62C198E-B912-6159-A397-0639524F4AB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00259" y="3865586"/>
              <a:ext cx="169934" cy="169760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2" name="Line 31">
              <a:extLst>
                <a:ext uri="{FF2B5EF4-FFF2-40B4-BE49-F238E27FC236}">
                  <a16:creationId xmlns:a16="http://schemas.microsoft.com/office/drawing/2014/main" id="{D7D1AB26-A221-B8D0-09BE-8AE7378D705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036263" y="4455322"/>
              <a:ext cx="730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3" name="Line 31">
              <a:extLst>
                <a:ext uri="{FF2B5EF4-FFF2-40B4-BE49-F238E27FC236}">
                  <a16:creationId xmlns:a16="http://schemas.microsoft.com/office/drawing/2014/main" id="{E1CE35C2-F8A5-4143-B928-3888FDAABE8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036063" y="4233884"/>
              <a:ext cx="730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4" name="Line 10">
              <a:extLst>
                <a:ext uri="{FF2B5EF4-FFF2-40B4-BE49-F238E27FC236}">
                  <a16:creationId xmlns:a16="http://schemas.microsoft.com/office/drawing/2014/main" id="{6F8A7BC0-BB46-FAB5-6E22-4D5B4BDF22A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2924856" y="3979243"/>
              <a:ext cx="72054" cy="789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" name="Oval 378">
              <a:extLst>
                <a:ext uri="{FF2B5EF4-FFF2-40B4-BE49-F238E27FC236}">
                  <a16:creationId xmlns:a16="http://schemas.microsoft.com/office/drawing/2014/main" id="{9424B6AF-EA65-61E8-5264-406186DD9F2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82887" y="3853230"/>
              <a:ext cx="169934" cy="169760"/>
            </a:xfrm>
            <a:prstGeom prst="ellipse">
              <a:avLst/>
            </a:prstGeom>
            <a:solidFill>
              <a:srgbClr val="00A65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6" name="Line 10">
              <a:extLst>
                <a:ext uri="{FF2B5EF4-FFF2-40B4-BE49-F238E27FC236}">
                  <a16:creationId xmlns:a16="http://schemas.microsoft.com/office/drawing/2014/main" id="{0B30BFD4-8670-4173-3A4A-5F5627120CE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141517" y="3984202"/>
              <a:ext cx="72054" cy="789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7" name="Rectangle 34">
              <a:extLst>
                <a:ext uri="{FF2B5EF4-FFF2-40B4-BE49-F238E27FC236}">
                  <a16:creationId xmlns:a16="http://schemas.microsoft.com/office/drawing/2014/main" id="{21F4CD89-A578-0376-60E9-9CAFB312BB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89195" y="3633063"/>
              <a:ext cx="152569" cy="152412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8" name="Rectangle 34">
              <a:extLst>
                <a:ext uri="{FF2B5EF4-FFF2-40B4-BE49-F238E27FC236}">
                  <a16:creationId xmlns:a16="http://schemas.microsoft.com/office/drawing/2014/main" id="{6B5A4C84-1250-41D1-1FAC-7B9A2EF7AD8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07706" y="3640998"/>
              <a:ext cx="152569" cy="152412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Oval 13">
              <a:extLst>
                <a:ext uri="{FF2B5EF4-FFF2-40B4-BE49-F238E27FC236}">
                  <a16:creationId xmlns:a16="http://schemas.microsoft.com/office/drawing/2014/main" id="{655BA663-5BAC-56F2-8250-74E22AABE97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96832" y="3392514"/>
              <a:ext cx="169934" cy="169760"/>
            </a:xfrm>
            <a:prstGeom prst="ellipse">
              <a:avLst/>
            </a:prstGeom>
            <a:solidFill>
              <a:srgbClr val="FFD4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0" name="Line 31">
              <a:extLst>
                <a:ext uri="{FF2B5EF4-FFF2-40B4-BE49-F238E27FC236}">
                  <a16:creationId xmlns:a16="http://schemas.microsoft.com/office/drawing/2014/main" id="{9321B314-0D9E-6033-47CA-DC1C7662FC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246223" y="3603291"/>
              <a:ext cx="730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1" name="Line 31">
              <a:extLst>
                <a:ext uri="{FF2B5EF4-FFF2-40B4-BE49-F238E27FC236}">
                  <a16:creationId xmlns:a16="http://schemas.microsoft.com/office/drawing/2014/main" id="{C5DBACE6-37CC-727D-288A-2A345ADC58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830552" y="3593423"/>
              <a:ext cx="730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Line 31">
              <a:extLst>
                <a:ext uri="{FF2B5EF4-FFF2-40B4-BE49-F238E27FC236}">
                  <a16:creationId xmlns:a16="http://schemas.microsoft.com/office/drawing/2014/main" id="{071FCB50-EE93-CE3F-6A23-001B907D040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830552" y="3826483"/>
              <a:ext cx="730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3" name="Line 31">
              <a:extLst>
                <a:ext uri="{FF2B5EF4-FFF2-40B4-BE49-F238E27FC236}">
                  <a16:creationId xmlns:a16="http://schemas.microsoft.com/office/drawing/2014/main" id="{E82168CE-B74C-A9A4-3053-4C71AE59D1E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246222" y="3836433"/>
              <a:ext cx="730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4" name="橢圓 253">
              <a:extLst>
                <a:ext uri="{FF2B5EF4-FFF2-40B4-BE49-F238E27FC236}">
                  <a16:creationId xmlns:a16="http://schemas.microsoft.com/office/drawing/2014/main" id="{0BE31727-D5F5-C961-2EF0-0A660206BDEC}"/>
                </a:ext>
              </a:extLst>
            </p:cNvPr>
            <p:cNvSpPr/>
            <p:nvPr/>
          </p:nvSpPr>
          <p:spPr>
            <a:xfrm>
              <a:off x="2989866" y="4722492"/>
              <a:ext cx="169935" cy="16993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55" name="橢圓 254">
              <a:extLst>
                <a:ext uri="{FF2B5EF4-FFF2-40B4-BE49-F238E27FC236}">
                  <a16:creationId xmlns:a16="http://schemas.microsoft.com/office/drawing/2014/main" id="{3E39F3CF-38FE-0150-B1E4-D64010EB38BE}"/>
                </a:ext>
              </a:extLst>
            </p:cNvPr>
            <p:cNvSpPr/>
            <p:nvPr/>
          </p:nvSpPr>
          <p:spPr>
            <a:xfrm>
              <a:off x="3155984" y="4723574"/>
              <a:ext cx="169935" cy="16993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56" name="橢圓 255">
              <a:extLst>
                <a:ext uri="{FF2B5EF4-FFF2-40B4-BE49-F238E27FC236}">
                  <a16:creationId xmlns:a16="http://schemas.microsoft.com/office/drawing/2014/main" id="{E15AAA84-B321-D6A7-74B9-17D2D799C7B7}"/>
                </a:ext>
              </a:extLst>
            </p:cNvPr>
            <p:cNvSpPr/>
            <p:nvPr/>
          </p:nvSpPr>
          <p:spPr>
            <a:xfrm>
              <a:off x="2819931" y="4765651"/>
              <a:ext cx="169935" cy="16993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57" name="橢圓 256">
              <a:extLst>
                <a:ext uri="{FF2B5EF4-FFF2-40B4-BE49-F238E27FC236}">
                  <a16:creationId xmlns:a16="http://schemas.microsoft.com/office/drawing/2014/main" id="{4E433826-49D8-F9A9-B86F-467A3A94CD45}"/>
                </a:ext>
              </a:extLst>
            </p:cNvPr>
            <p:cNvSpPr/>
            <p:nvPr/>
          </p:nvSpPr>
          <p:spPr>
            <a:xfrm>
              <a:off x="2646385" y="4811775"/>
              <a:ext cx="169935" cy="16993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58" name="Oval 13">
              <a:extLst>
                <a:ext uri="{FF2B5EF4-FFF2-40B4-BE49-F238E27FC236}">
                  <a16:creationId xmlns:a16="http://schemas.microsoft.com/office/drawing/2014/main" id="{18F5336A-3423-D0BB-2AAD-7D10DBE7D2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587715" y="3382189"/>
              <a:ext cx="169934" cy="169760"/>
            </a:xfrm>
            <a:prstGeom prst="ellipse">
              <a:avLst/>
            </a:prstGeom>
            <a:solidFill>
              <a:srgbClr val="FFD4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9" name="Rectangle 34">
              <a:extLst>
                <a:ext uri="{FF2B5EF4-FFF2-40B4-BE49-F238E27FC236}">
                  <a16:creationId xmlns:a16="http://schemas.microsoft.com/office/drawing/2014/main" id="{068B0B81-C822-2051-9B49-44E16416506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595748" y="3630029"/>
              <a:ext cx="152569" cy="152412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0" name="Line 31">
              <a:extLst>
                <a:ext uri="{FF2B5EF4-FFF2-40B4-BE49-F238E27FC236}">
                  <a16:creationId xmlns:a16="http://schemas.microsoft.com/office/drawing/2014/main" id="{650A6F4B-7214-B8D8-5F04-9FD3D039011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637105" y="3590389"/>
              <a:ext cx="730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1" name="Line 31">
              <a:extLst>
                <a:ext uri="{FF2B5EF4-FFF2-40B4-BE49-F238E27FC236}">
                  <a16:creationId xmlns:a16="http://schemas.microsoft.com/office/drawing/2014/main" id="{2710C9C6-B943-641E-E7CB-79A519DEB23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680212" y="3780341"/>
              <a:ext cx="113667" cy="1268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2" name="Rectangle 34">
              <a:extLst>
                <a:ext uri="{FF2B5EF4-FFF2-40B4-BE49-F238E27FC236}">
                  <a16:creationId xmlns:a16="http://schemas.microsoft.com/office/drawing/2014/main" id="{27C94C3F-401F-C15C-DBB6-35490EEC7A2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410475" y="3619546"/>
              <a:ext cx="152569" cy="152412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3" name="Oval 13">
              <a:extLst>
                <a:ext uri="{FF2B5EF4-FFF2-40B4-BE49-F238E27FC236}">
                  <a16:creationId xmlns:a16="http://schemas.microsoft.com/office/drawing/2014/main" id="{B33AA986-9E27-FD5C-CE5B-D3EB4950F0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399601" y="3371062"/>
              <a:ext cx="169934" cy="169760"/>
            </a:xfrm>
            <a:prstGeom prst="ellipse">
              <a:avLst/>
            </a:prstGeom>
            <a:solidFill>
              <a:srgbClr val="FFD4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4" name="Line 31">
              <a:extLst>
                <a:ext uri="{FF2B5EF4-FFF2-40B4-BE49-F238E27FC236}">
                  <a16:creationId xmlns:a16="http://schemas.microsoft.com/office/drawing/2014/main" id="{AE9F5EC9-5BC3-C852-6558-50B8E243045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48992" y="3581839"/>
              <a:ext cx="730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5" name="Line 31">
              <a:extLst>
                <a:ext uri="{FF2B5EF4-FFF2-40B4-BE49-F238E27FC236}">
                  <a16:creationId xmlns:a16="http://schemas.microsoft.com/office/drawing/2014/main" id="{28047F97-24DA-A109-FE6C-4940BF9929F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364268" y="3779338"/>
              <a:ext cx="122135" cy="1203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66" name="文字方塊 265">
            <a:extLst>
              <a:ext uri="{FF2B5EF4-FFF2-40B4-BE49-F238E27FC236}">
                <a16:creationId xmlns:a16="http://schemas.microsoft.com/office/drawing/2014/main" id="{FF68727D-FFDF-9B8F-4369-8F4FDE772F86}"/>
              </a:ext>
            </a:extLst>
          </p:cNvPr>
          <p:cNvSpPr txBox="1"/>
          <p:nvPr/>
        </p:nvSpPr>
        <p:spPr>
          <a:xfrm>
            <a:off x="5965351" y="4318378"/>
            <a:ext cx="28302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Set </a:t>
            </a:r>
            <a:r>
              <a:rPr lang="en-US" altLang="zh-TW" dirty="0">
                <a:highlight>
                  <a:srgbClr val="FFFF00"/>
                </a:highlight>
              </a:rPr>
              <a:t>maximum arm numbers </a:t>
            </a:r>
            <a:r>
              <a:rPr lang="en-US" altLang="zh-TW" dirty="0"/>
              <a:t>to add terminal and internal glycotopes</a:t>
            </a:r>
            <a:endParaRPr lang="zh-TW" altLang="en-US" dirty="0"/>
          </a:p>
        </p:txBody>
      </p:sp>
      <p:sp>
        <p:nvSpPr>
          <p:cNvPr id="268" name="箭號: 向下 267">
            <a:extLst>
              <a:ext uri="{FF2B5EF4-FFF2-40B4-BE49-F238E27FC236}">
                <a16:creationId xmlns:a16="http://schemas.microsoft.com/office/drawing/2014/main" id="{6B9A81D3-DCB9-52B7-1522-E1B5C29D009B}"/>
              </a:ext>
            </a:extLst>
          </p:cNvPr>
          <p:cNvSpPr/>
          <p:nvPr/>
        </p:nvSpPr>
        <p:spPr>
          <a:xfrm rot="6928717">
            <a:off x="1096887" y="6121447"/>
            <a:ext cx="402872" cy="370426"/>
          </a:xfrm>
          <a:prstGeom prst="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9" name="矩形: 圓角 268">
            <a:extLst>
              <a:ext uri="{FF2B5EF4-FFF2-40B4-BE49-F238E27FC236}">
                <a16:creationId xmlns:a16="http://schemas.microsoft.com/office/drawing/2014/main" id="{259F6873-1122-230E-7C9A-6347433A2215}"/>
              </a:ext>
            </a:extLst>
          </p:cNvPr>
          <p:cNvSpPr/>
          <p:nvPr/>
        </p:nvSpPr>
        <p:spPr>
          <a:xfrm>
            <a:off x="64818" y="5771048"/>
            <a:ext cx="1319938" cy="352057"/>
          </a:xfrm>
          <a:prstGeom prst="roundRect">
            <a:avLst>
              <a:gd name="adj" fmla="val 32644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Sugar unit limits filter</a:t>
            </a:r>
            <a:endParaRPr lang="zh-TW" altLang="en-US" sz="1200" dirty="0"/>
          </a:p>
        </p:txBody>
      </p:sp>
      <p:sp>
        <p:nvSpPr>
          <p:cNvPr id="270" name="文字方塊 269">
            <a:extLst>
              <a:ext uri="{FF2B5EF4-FFF2-40B4-BE49-F238E27FC236}">
                <a16:creationId xmlns:a16="http://schemas.microsoft.com/office/drawing/2014/main" id="{2E161CCD-5118-0691-1B3E-0701EBA21510}"/>
              </a:ext>
            </a:extLst>
          </p:cNvPr>
          <p:cNvSpPr txBox="1"/>
          <p:nvPr/>
        </p:nvSpPr>
        <p:spPr>
          <a:xfrm>
            <a:off x="36840" y="6357381"/>
            <a:ext cx="1183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(optional)</a:t>
            </a:r>
            <a:endParaRPr lang="zh-TW" altLang="en-US" dirty="0"/>
          </a:p>
        </p:txBody>
      </p:sp>
      <p:sp>
        <p:nvSpPr>
          <p:cNvPr id="271" name="文字方塊 270">
            <a:extLst>
              <a:ext uri="{FF2B5EF4-FFF2-40B4-BE49-F238E27FC236}">
                <a16:creationId xmlns:a16="http://schemas.microsoft.com/office/drawing/2014/main" id="{D966F712-2152-68EF-0CC9-1221A9CF26D8}"/>
              </a:ext>
            </a:extLst>
          </p:cNvPr>
          <p:cNvSpPr txBox="1"/>
          <p:nvPr/>
        </p:nvSpPr>
        <p:spPr>
          <a:xfrm>
            <a:off x="5965351" y="5901980"/>
            <a:ext cx="31786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Finish building glycan sets</a:t>
            </a:r>
          </a:p>
          <a:p>
            <a:r>
              <a:rPr lang="en-US" altLang="zh-TW" dirty="0"/>
              <a:t>Add out-of-rules glycans</a:t>
            </a:r>
            <a:br>
              <a:rPr lang="en-US" altLang="zh-TW" dirty="0"/>
            </a:br>
            <a:r>
              <a:rPr lang="en-US" altLang="zh-TW" dirty="0"/>
              <a:t>(less and varieties are limited)</a:t>
            </a:r>
            <a:endParaRPr lang="zh-TW" altLang="en-US" dirty="0"/>
          </a:p>
        </p:txBody>
      </p:sp>
      <p:sp>
        <p:nvSpPr>
          <p:cNvPr id="272" name="文字方塊 271">
            <a:extLst>
              <a:ext uri="{FF2B5EF4-FFF2-40B4-BE49-F238E27FC236}">
                <a16:creationId xmlns:a16="http://schemas.microsoft.com/office/drawing/2014/main" id="{5DF8B946-6906-2925-1349-91F3F847E117}"/>
              </a:ext>
            </a:extLst>
          </p:cNvPr>
          <p:cNvSpPr txBox="1"/>
          <p:nvPr/>
        </p:nvSpPr>
        <p:spPr>
          <a:xfrm>
            <a:off x="0" y="0"/>
            <a:ext cx="1701209" cy="412194"/>
          </a:xfrm>
          <a:prstGeom prst="roundRect">
            <a:avLst>
              <a:gd name="adj" fmla="val 18974"/>
            </a:avLst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 Confidential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73" name="文字方塊 272">
            <a:extLst>
              <a:ext uri="{FF2B5EF4-FFF2-40B4-BE49-F238E27FC236}">
                <a16:creationId xmlns:a16="http://schemas.microsoft.com/office/drawing/2014/main" id="{7913A055-A165-CAB9-839E-CFA825A391E7}"/>
              </a:ext>
            </a:extLst>
          </p:cNvPr>
          <p:cNvSpPr txBox="1"/>
          <p:nvPr/>
        </p:nvSpPr>
        <p:spPr>
          <a:xfrm>
            <a:off x="136262" y="1757348"/>
            <a:ext cx="11545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G_n</a:t>
            </a:r>
            <a:r>
              <a:rPr lang="en-US" altLang="zh-TW" dirty="0"/>
              <a:t>=</a:t>
            </a:r>
          </a:p>
          <a:p>
            <a:r>
              <a:rPr lang="en-US" altLang="zh-TW" dirty="0"/>
              <a:t>(t1, t2…tm)</a:t>
            </a:r>
            <a:endParaRPr lang="zh-TW" altLang="en-US" dirty="0"/>
          </a:p>
        </p:txBody>
      </p:sp>
      <p:sp>
        <p:nvSpPr>
          <p:cNvPr id="274" name="文字方塊 273">
            <a:extLst>
              <a:ext uri="{FF2B5EF4-FFF2-40B4-BE49-F238E27FC236}">
                <a16:creationId xmlns:a16="http://schemas.microsoft.com/office/drawing/2014/main" id="{1E0057C2-CA00-6CDD-53E2-F03CDCC7FC63}"/>
              </a:ext>
            </a:extLst>
          </p:cNvPr>
          <p:cNvSpPr txBox="1"/>
          <p:nvPr/>
        </p:nvSpPr>
        <p:spPr>
          <a:xfrm>
            <a:off x="136262" y="2996625"/>
            <a:ext cx="1154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G_i</a:t>
            </a:r>
            <a:r>
              <a:rPr lang="en-US" altLang="zh-TW" dirty="0"/>
              <a:t>=</a:t>
            </a:r>
          </a:p>
          <a:p>
            <a:r>
              <a:rPr lang="en-US" altLang="zh-TW" dirty="0"/>
              <a:t>(i1,i2…in)</a:t>
            </a:r>
            <a:endParaRPr lang="zh-TW" altLang="en-US" dirty="0"/>
          </a:p>
        </p:txBody>
      </p:sp>
      <p:sp>
        <p:nvSpPr>
          <p:cNvPr id="275" name="文字方塊 274">
            <a:extLst>
              <a:ext uri="{FF2B5EF4-FFF2-40B4-BE49-F238E27FC236}">
                <a16:creationId xmlns:a16="http://schemas.microsoft.com/office/drawing/2014/main" id="{1529C2C0-F559-F09E-A596-610045DB6B4B}"/>
              </a:ext>
            </a:extLst>
          </p:cNvPr>
          <p:cNvSpPr txBox="1"/>
          <p:nvPr/>
        </p:nvSpPr>
        <p:spPr>
          <a:xfrm>
            <a:off x="128828" y="3774237"/>
            <a:ext cx="1154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G_n</a:t>
            </a:r>
            <a:r>
              <a:rPr lang="en-US" altLang="zh-TW" dirty="0"/>
              <a:t> x </a:t>
            </a:r>
            <a:r>
              <a:rPr lang="en-US" altLang="zh-TW" dirty="0" err="1"/>
              <a:t>G_i</a:t>
            </a:r>
            <a:endParaRPr lang="zh-TW" altLang="en-US" dirty="0"/>
          </a:p>
        </p:txBody>
      </p:sp>
      <p:sp>
        <p:nvSpPr>
          <p:cNvPr id="279" name="文字方塊 278">
            <a:extLst>
              <a:ext uri="{FF2B5EF4-FFF2-40B4-BE49-F238E27FC236}">
                <a16:creationId xmlns:a16="http://schemas.microsoft.com/office/drawing/2014/main" id="{D649E7DC-E378-C03E-D405-4241A46D3FC8}"/>
              </a:ext>
            </a:extLst>
          </p:cNvPr>
          <p:cNvSpPr txBox="1"/>
          <p:nvPr/>
        </p:nvSpPr>
        <p:spPr>
          <a:xfrm>
            <a:off x="53547" y="4339141"/>
            <a:ext cx="14873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(remove topological info before core additions or you’ll get </a:t>
            </a:r>
            <a:r>
              <a:rPr lang="en-US" altLang="zh-TW" sz="1400" dirty="0" err="1"/>
              <a:t>mn</a:t>
            </a:r>
            <a:r>
              <a:rPr lang="en-US" altLang="zh-TW" sz="1400" baseline="30000" dirty="0" err="1"/>
              <a:t>arm</a:t>
            </a:r>
            <a:r>
              <a:rPr lang="en-US" altLang="zh-TW" sz="1400" dirty="0"/>
              <a:t>)</a:t>
            </a:r>
            <a:endParaRPr lang="zh-TW" altLang="en-US" sz="1400" dirty="0"/>
          </a:p>
        </p:txBody>
      </p:sp>
      <p:sp>
        <p:nvSpPr>
          <p:cNvPr id="280" name="文字方塊 279">
            <a:extLst>
              <a:ext uri="{FF2B5EF4-FFF2-40B4-BE49-F238E27FC236}">
                <a16:creationId xmlns:a16="http://schemas.microsoft.com/office/drawing/2014/main" id="{0DDF0773-2AFD-D1EF-1393-4505DEABA76D}"/>
              </a:ext>
            </a:extLst>
          </p:cNvPr>
          <p:cNvSpPr txBox="1"/>
          <p:nvPr/>
        </p:nvSpPr>
        <p:spPr>
          <a:xfrm>
            <a:off x="191224" y="4008724"/>
            <a:ext cx="2233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</a:t>
            </a:r>
            <a:r>
              <a:rPr lang="en-US" altLang="zh-TW" dirty="0" err="1"/>
              <a:t>mxn</a:t>
            </a:r>
            <a:r>
              <a:rPr lang="en-US" altLang="zh-TW" dirty="0"/>
              <a:t> combinations)</a:t>
            </a:r>
            <a:endParaRPr lang="zh-TW" altLang="en-US" dirty="0"/>
          </a:p>
        </p:txBody>
      </p:sp>
      <p:sp>
        <p:nvSpPr>
          <p:cNvPr id="281" name="文字方塊 280">
            <a:extLst>
              <a:ext uri="{FF2B5EF4-FFF2-40B4-BE49-F238E27FC236}">
                <a16:creationId xmlns:a16="http://schemas.microsoft.com/office/drawing/2014/main" id="{2DDDC605-3178-1F4D-F2D2-482CE905DCC5}"/>
              </a:ext>
            </a:extLst>
          </p:cNvPr>
          <p:cNvSpPr txBox="1"/>
          <p:nvPr/>
        </p:nvSpPr>
        <p:spPr>
          <a:xfrm>
            <a:off x="6315740" y="5271608"/>
            <a:ext cx="978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0498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8B048-7113-18B0-0450-F4E4B0884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1">
            <a:extLst>
              <a:ext uri="{FF2B5EF4-FFF2-40B4-BE49-F238E27FC236}">
                <a16:creationId xmlns:a16="http://schemas.microsoft.com/office/drawing/2014/main" id="{DC06D5AA-94F6-1F0D-365D-AC0B810B7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kumimoji="1" lang="en-US" altLang="zh-TW" sz="2800" dirty="0"/>
              <a:t>Adapted in silico glycan list generation flow (O-glycan)</a:t>
            </a:r>
            <a:endParaRPr kumimoji="1" lang="zh-TW" altLang="en-US" sz="2800" dirty="0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9FD6E3E-CDDF-5634-CC64-175B9E9997B2}"/>
              </a:ext>
            </a:extLst>
          </p:cNvPr>
          <p:cNvSpPr/>
          <p:nvPr/>
        </p:nvSpPr>
        <p:spPr>
          <a:xfrm>
            <a:off x="1503476" y="1717642"/>
            <a:ext cx="1842687" cy="582263"/>
          </a:xfrm>
          <a:prstGeom prst="roundRect">
            <a:avLst>
              <a:gd name="adj" fmla="val 32644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Terminal permutations</a:t>
            </a:r>
            <a:endParaRPr lang="zh-TW" altLang="en-US" sz="2000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B07A1BE9-33F9-71A4-4E83-92D221E25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967" y="2339514"/>
            <a:ext cx="210025" cy="615073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D0102E0D-53F2-2E8C-F739-05B845A0A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947" y="2342121"/>
            <a:ext cx="205025" cy="615073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30BE6A26-64BA-446D-EDA1-9FBC2F553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8819" y="2298033"/>
            <a:ext cx="469433" cy="487722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D8DF5197-5D2D-9AAF-255D-89EED8266952}"/>
              </a:ext>
            </a:extLst>
          </p:cNvPr>
          <p:cNvSpPr txBox="1"/>
          <p:nvPr/>
        </p:nvSpPr>
        <p:spPr>
          <a:xfrm>
            <a:off x="5685129" y="2049657"/>
            <a:ext cx="2830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Flags (driven by gene expression OR observation)</a:t>
            </a:r>
            <a:endParaRPr lang="zh-TW" altLang="en-US" dirty="0"/>
          </a:p>
        </p:txBody>
      </p:sp>
      <p:sp>
        <p:nvSpPr>
          <p:cNvPr id="29" name="箭號: 弧形下彎 28">
            <a:extLst>
              <a:ext uri="{FF2B5EF4-FFF2-40B4-BE49-F238E27FC236}">
                <a16:creationId xmlns:a16="http://schemas.microsoft.com/office/drawing/2014/main" id="{EFDF0CC4-2284-1170-5869-EF098609CF66}"/>
              </a:ext>
            </a:extLst>
          </p:cNvPr>
          <p:cNvSpPr/>
          <p:nvPr/>
        </p:nvSpPr>
        <p:spPr>
          <a:xfrm rot="845382" flipH="1">
            <a:off x="4786446" y="1674954"/>
            <a:ext cx="935954" cy="75267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0" name="箭號: 弧形下彎 29">
            <a:extLst>
              <a:ext uri="{FF2B5EF4-FFF2-40B4-BE49-F238E27FC236}">
                <a16:creationId xmlns:a16="http://schemas.microsoft.com/office/drawing/2014/main" id="{291556E1-30CE-218E-B239-EF4CF8051121}"/>
              </a:ext>
            </a:extLst>
          </p:cNvPr>
          <p:cNvSpPr/>
          <p:nvPr/>
        </p:nvSpPr>
        <p:spPr>
          <a:xfrm rot="845382" flipH="1">
            <a:off x="4292894" y="1734029"/>
            <a:ext cx="1204320" cy="75267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1" name="箭號: 弧形下彎 30">
            <a:extLst>
              <a:ext uri="{FF2B5EF4-FFF2-40B4-BE49-F238E27FC236}">
                <a16:creationId xmlns:a16="http://schemas.microsoft.com/office/drawing/2014/main" id="{5FEF3880-7D3C-0EDE-2047-8191A999314C}"/>
              </a:ext>
            </a:extLst>
          </p:cNvPr>
          <p:cNvSpPr/>
          <p:nvPr/>
        </p:nvSpPr>
        <p:spPr>
          <a:xfrm rot="845382" flipH="1">
            <a:off x="3876754" y="1799029"/>
            <a:ext cx="1710927" cy="75267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5C892929-00B1-6397-89F8-B59BA9BB51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865555" y="1604856"/>
            <a:ext cx="237765" cy="225572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F9DB4588-1F9B-34C5-EF0F-58D63CEABF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443" y="1537632"/>
            <a:ext cx="256054" cy="256054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6FF1092A-D9DF-1F83-7034-B4118A836C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6033" y="1501294"/>
            <a:ext cx="249958" cy="256054"/>
          </a:xfrm>
          <a:prstGeom prst="rect">
            <a:avLst/>
          </a:prstGeom>
        </p:spPr>
      </p:pic>
      <p:sp>
        <p:nvSpPr>
          <p:cNvPr id="35" name="箭號: 向下 34">
            <a:extLst>
              <a:ext uri="{FF2B5EF4-FFF2-40B4-BE49-F238E27FC236}">
                <a16:creationId xmlns:a16="http://schemas.microsoft.com/office/drawing/2014/main" id="{51F837C4-CE97-9BA6-0C1D-CA58CCF13B27}"/>
              </a:ext>
            </a:extLst>
          </p:cNvPr>
          <p:cNvSpPr/>
          <p:nvPr/>
        </p:nvSpPr>
        <p:spPr>
          <a:xfrm>
            <a:off x="2190131" y="2431549"/>
            <a:ext cx="489098" cy="523038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892DBC55-8097-94F0-91A1-C66366462D9D}"/>
              </a:ext>
            </a:extLst>
          </p:cNvPr>
          <p:cNvSpPr/>
          <p:nvPr/>
        </p:nvSpPr>
        <p:spPr>
          <a:xfrm>
            <a:off x="1466899" y="3148297"/>
            <a:ext cx="1842687" cy="582263"/>
          </a:xfrm>
          <a:prstGeom prst="roundRect">
            <a:avLst>
              <a:gd name="adj" fmla="val 32644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Internal permutations</a:t>
            </a:r>
            <a:endParaRPr lang="zh-TW" altLang="en-US" sz="2000" dirty="0"/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43FBB471-A1EC-8FE7-4541-5D8C42AD6D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3032" y="3648261"/>
            <a:ext cx="219475" cy="225572"/>
          </a:xfrm>
          <a:prstGeom prst="rect">
            <a:avLst/>
          </a:prstGeom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081CC4AC-18D0-47A5-7DA0-BB83056C18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1322" y="3892486"/>
            <a:ext cx="201185" cy="201185"/>
          </a:xfrm>
          <a:prstGeom prst="rect">
            <a:avLst/>
          </a:prstGeom>
        </p:spPr>
      </p:pic>
      <p:sp>
        <p:nvSpPr>
          <p:cNvPr id="39" name="箭號: 弧形下彎 38">
            <a:extLst>
              <a:ext uri="{FF2B5EF4-FFF2-40B4-BE49-F238E27FC236}">
                <a16:creationId xmlns:a16="http://schemas.microsoft.com/office/drawing/2014/main" id="{68064D8A-64B1-7CFE-D1CC-3628F7D5FDC8}"/>
              </a:ext>
            </a:extLst>
          </p:cNvPr>
          <p:cNvSpPr/>
          <p:nvPr/>
        </p:nvSpPr>
        <p:spPr>
          <a:xfrm rot="845382" flipH="1">
            <a:off x="4186835" y="3117223"/>
            <a:ext cx="1710927" cy="75267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40" name="圖片 39">
            <a:extLst>
              <a:ext uri="{FF2B5EF4-FFF2-40B4-BE49-F238E27FC236}">
                <a16:creationId xmlns:a16="http://schemas.microsoft.com/office/drawing/2014/main" id="{1358EE85-9F8E-93EC-B173-7D1E56923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148842" y="3161066"/>
            <a:ext cx="237765" cy="225572"/>
          </a:xfrm>
          <a:prstGeom prst="rect">
            <a:avLst/>
          </a:prstGeom>
        </p:spPr>
      </p:pic>
      <p:sp>
        <p:nvSpPr>
          <p:cNvPr id="41" name="左右中括弧 40">
            <a:extLst>
              <a:ext uri="{FF2B5EF4-FFF2-40B4-BE49-F238E27FC236}">
                <a16:creationId xmlns:a16="http://schemas.microsoft.com/office/drawing/2014/main" id="{D5DF347E-435E-CAE9-BFB6-5C88D12F17A9}"/>
              </a:ext>
            </a:extLst>
          </p:cNvPr>
          <p:cNvSpPr/>
          <p:nvPr/>
        </p:nvSpPr>
        <p:spPr>
          <a:xfrm rot="5400000">
            <a:off x="3429535" y="3642355"/>
            <a:ext cx="582263" cy="500262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64E6A5CA-024A-A358-DC27-2951BEBB3072}"/>
              </a:ext>
            </a:extLst>
          </p:cNvPr>
          <p:cNvSpPr txBox="1"/>
          <p:nvPr/>
        </p:nvSpPr>
        <p:spPr>
          <a:xfrm>
            <a:off x="3907842" y="4023932"/>
            <a:ext cx="383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43" name="箭號: 弧形下彎 42">
            <a:extLst>
              <a:ext uri="{FF2B5EF4-FFF2-40B4-BE49-F238E27FC236}">
                <a16:creationId xmlns:a16="http://schemas.microsoft.com/office/drawing/2014/main" id="{D4142A2F-4218-DF2E-2116-265546568931}"/>
              </a:ext>
            </a:extLst>
          </p:cNvPr>
          <p:cNvSpPr/>
          <p:nvPr/>
        </p:nvSpPr>
        <p:spPr>
          <a:xfrm rot="21329897" flipH="1">
            <a:off x="4036538" y="3389940"/>
            <a:ext cx="1710927" cy="75267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726CA12B-116D-120A-1B1F-A9ED7A7183F4}"/>
              </a:ext>
            </a:extLst>
          </p:cNvPr>
          <p:cNvSpPr txBox="1"/>
          <p:nvPr/>
        </p:nvSpPr>
        <p:spPr>
          <a:xfrm>
            <a:off x="5965351" y="3157991"/>
            <a:ext cx="2830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Flag and repeat number</a:t>
            </a:r>
            <a:endParaRPr lang="zh-TW" altLang="en-US" dirty="0"/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C456E4BC-B6C4-A1BF-CBDC-69C661217C5A}"/>
              </a:ext>
            </a:extLst>
          </p:cNvPr>
          <p:cNvSpPr/>
          <p:nvPr/>
        </p:nvSpPr>
        <p:spPr>
          <a:xfrm>
            <a:off x="1553330" y="4810905"/>
            <a:ext cx="1842687" cy="582263"/>
          </a:xfrm>
          <a:prstGeom prst="roundRect">
            <a:avLst>
              <a:gd name="adj" fmla="val 32644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Core combinations</a:t>
            </a:r>
            <a:endParaRPr lang="zh-TW" altLang="en-US" dirty="0"/>
          </a:p>
        </p:txBody>
      </p:sp>
      <p:sp>
        <p:nvSpPr>
          <p:cNvPr id="183" name="箭號: 向下 182">
            <a:extLst>
              <a:ext uri="{FF2B5EF4-FFF2-40B4-BE49-F238E27FC236}">
                <a16:creationId xmlns:a16="http://schemas.microsoft.com/office/drawing/2014/main" id="{590FF033-4B28-73C6-46E0-1884D786BE01}"/>
              </a:ext>
            </a:extLst>
          </p:cNvPr>
          <p:cNvSpPr/>
          <p:nvPr/>
        </p:nvSpPr>
        <p:spPr>
          <a:xfrm>
            <a:off x="2180271" y="4066831"/>
            <a:ext cx="489098" cy="523038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6" name="文字方塊 265">
            <a:extLst>
              <a:ext uri="{FF2B5EF4-FFF2-40B4-BE49-F238E27FC236}">
                <a16:creationId xmlns:a16="http://schemas.microsoft.com/office/drawing/2014/main" id="{65C8B5BB-8518-4473-3829-D80D3FDAA87A}"/>
              </a:ext>
            </a:extLst>
          </p:cNvPr>
          <p:cNvSpPr txBox="1"/>
          <p:nvPr/>
        </p:nvSpPr>
        <p:spPr>
          <a:xfrm>
            <a:off x="5796096" y="4477308"/>
            <a:ext cx="29322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Based on </a:t>
            </a:r>
            <a:r>
              <a:rPr lang="en-US" altLang="zh-TW" dirty="0">
                <a:highlight>
                  <a:srgbClr val="FFFF00"/>
                </a:highlight>
              </a:rPr>
              <a:t>core types to assign proper permutation sets based on the restraints</a:t>
            </a:r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268" name="箭號: 向下 267">
            <a:extLst>
              <a:ext uri="{FF2B5EF4-FFF2-40B4-BE49-F238E27FC236}">
                <a16:creationId xmlns:a16="http://schemas.microsoft.com/office/drawing/2014/main" id="{A489A392-6A01-6E39-CE47-0731707B8199}"/>
              </a:ext>
            </a:extLst>
          </p:cNvPr>
          <p:cNvSpPr/>
          <p:nvPr/>
        </p:nvSpPr>
        <p:spPr>
          <a:xfrm>
            <a:off x="2264808" y="5716766"/>
            <a:ext cx="402872" cy="370426"/>
          </a:xfrm>
          <a:prstGeom prst="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9" name="矩形: 圓角 268">
            <a:extLst>
              <a:ext uri="{FF2B5EF4-FFF2-40B4-BE49-F238E27FC236}">
                <a16:creationId xmlns:a16="http://schemas.microsoft.com/office/drawing/2014/main" id="{8EDBE30F-9096-F9D5-DC43-7A3489D520D4}"/>
              </a:ext>
            </a:extLst>
          </p:cNvPr>
          <p:cNvSpPr/>
          <p:nvPr/>
        </p:nvSpPr>
        <p:spPr>
          <a:xfrm>
            <a:off x="1774711" y="6181218"/>
            <a:ext cx="1319938" cy="352057"/>
          </a:xfrm>
          <a:prstGeom prst="roundRect">
            <a:avLst>
              <a:gd name="adj" fmla="val 32644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Sugar unit limits filter</a:t>
            </a:r>
            <a:endParaRPr lang="zh-TW" altLang="en-US" sz="1200" dirty="0"/>
          </a:p>
        </p:txBody>
      </p:sp>
      <p:sp>
        <p:nvSpPr>
          <p:cNvPr id="270" name="文字方塊 269">
            <a:extLst>
              <a:ext uri="{FF2B5EF4-FFF2-40B4-BE49-F238E27FC236}">
                <a16:creationId xmlns:a16="http://schemas.microsoft.com/office/drawing/2014/main" id="{2ADE48B6-7AFA-708C-324F-A338ECAE0A71}"/>
              </a:ext>
            </a:extLst>
          </p:cNvPr>
          <p:cNvSpPr txBox="1"/>
          <p:nvPr/>
        </p:nvSpPr>
        <p:spPr>
          <a:xfrm>
            <a:off x="3485601" y="6393165"/>
            <a:ext cx="1183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(optional)</a:t>
            </a:r>
            <a:endParaRPr lang="zh-TW" altLang="en-US" dirty="0"/>
          </a:p>
        </p:txBody>
      </p:sp>
      <p:sp>
        <p:nvSpPr>
          <p:cNvPr id="271" name="文字方塊 270">
            <a:extLst>
              <a:ext uri="{FF2B5EF4-FFF2-40B4-BE49-F238E27FC236}">
                <a16:creationId xmlns:a16="http://schemas.microsoft.com/office/drawing/2014/main" id="{B139B85F-DD87-7F45-8CFE-D83FC150CA51}"/>
              </a:ext>
            </a:extLst>
          </p:cNvPr>
          <p:cNvSpPr txBox="1"/>
          <p:nvPr/>
        </p:nvSpPr>
        <p:spPr>
          <a:xfrm>
            <a:off x="5965351" y="5901980"/>
            <a:ext cx="31786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Finish building glycan sets</a:t>
            </a:r>
          </a:p>
          <a:p>
            <a:r>
              <a:rPr lang="en-US" altLang="zh-TW" dirty="0"/>
              <a:t>Add out-of-rules glycans</a:t>
            </a:r>
            <a:br>
              <a:rPr lang="en-US" altLang="zh-TW" dirty="0"/>
            </a:br>
            <a:r>
              <a:rPr lang="en-US" altLang="zh-TW" dirty="0"/>
              <a:t>(less and varieties are limited)</a:t>
            </a:r>
            <a:endParaRPr lang="zh-TW" altLang="en-US" dirty="0"/>
          </a:p>
        </p:txBody>
      </p:sp>
      <p:sp>
        <p:nvSpPr>
          <p:cNvPr id="272" name="文字方塊 271">
            <a:extLst>
              <a:ext uri="{FF2B5EF4-FFF2-40B4-BE49-F238E27FC236}">
                <a16:creationId xmlns:a16="http://schemas.microsoft.com/office/drawing/2014/main" id="{E74A8D6D-8FE4-30BC-D09E-FD75A3BC25CA}"/>
              </a:ext>
            </a:extLst>
          </p:cNvPr>
          <p:cNvSpPr txBox="1"/>
          <p:nvPr/>
        </p:nvSpPr>
        <p:spPr>
          <a:xfrm>
            <a:off x="0" y="0"/>
            <a:ext cx="1701209" cy="412194"/>
          </a:xfrm>
          <a:prstGeom prst="roundRect">
            <a:avLst>
              <a:gd name="adj" fmla="val 18974"/>
            </a:avLst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 Confidential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73" name="文字方塊 272">
            <a:extLst>
              <a:ext uri="{FF2B5EF4-FFF2-40B4-BE49-F238E27FC236}">
                <a16:creationId xmlns:a16="http://schemas.microsoft.com/office/drawing/2014/main" id="{471A427A-7B15-18D3-08F6-E85132B12D21}"/>
              </a:ext>
            </a:extLst>
          </p:cNvPr>
          <p:cNvSpPr txBox="1"/>
          <p:nvPr/>
        </p:nvSpPr>
        <p:spPr>
          <a:xfrm>
            <a:off x="136262" y="1757348"/>
            <a:ext cx="11545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G_n</a:t>
            </a:r>
            <a:r>
              <a:rPr lang="en-US" altLang="zh-TW" dirty="0"/>
              <a:t>=</a:t>
            </a:r>
          </a:p>
          <a:p>
            <a:r>
              <a:rPr lang="en-US" altLang="zh-TW" dirty="0"/>
              <a:t>(t1, t2…tm)</a:t>
            </a:r>
            <a:endParaRPr lang="zh-TW" altLang="en-US" dirty="0"/>
          </a:p>
        </p:txBody>
      </p:sp>
      <p:sp>
        <p:nvSpPr>
          <p:cNvPr id="274" name="文字方塊 273">
            <a:extLst>
              <a:ext uri="{FF2B5EF4-FFF2-40B4-BE49-F238E27FC236}">
                <a16:creationId xmlns:a16="http://schemas.microsoft.com/office/drawing/2014/main" id="{C2F0758C-836A-0749-E84C-30F028E75CA7}"/>
              </a:ext>
            </a:extLst>
          </p:cNvPr>
          <p:cNvSpPr txBox="1"/>
          <p:nvPr/>
        </p:nvSpPr>
        <p:spPr>
          <a:xfrm>
            <a:off x="136262" y="2996625"/>
            <a:ext cx="1154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G_i</a:t>
            </a:r>
            <a:r>
              <a:rPr lang="en-US" altLang="zh-TW" dirty="0"/>
              <a:t>=</a:t>
            </a:r>
          </a:p>
          <a:p>
            <a:r>
              <a:rPr lang="en-US" altLang="zh-TW" dirty="0"/>
              <a:t>(i1,i2…in)</a:t>
            </a:r>
            <a:endParaRPr lang="zh-TW" altLang="en-US" dirty="0"/>
          </a:p>
        </p:txBody>
      </p:sp>
      <p:sp>
        <p:nvSpPr>
          <p:cNvPr id="275" name="文字方塊 274">
            <a:extLst>
              <a:ext uri="{FF2B5EF4-FFF2-40B4-BE49-F238E27FC236}">
                <a16:creationId xmlns:a16="http://schemas.microsoft.com/office/drawing/2014/main" id="{1616F9E5-ACE5-FCEA-E3B5-2F5F8D745AD3}"/>
              </a:ext>
            </a:extLst>
          </p:cNvPr>
          <p:cNvSpPr txBox="1"/>
          <p:nvPr/>
        </p:nvSpPr>
        <p:spPr>
          <a:xfrm>
            <a:off x="128828" y="3774237"/>
            <a:ext cx="1154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G_n</a:t>
            </a:r>
            <a:r>
              <a:rPr lang="en-US" altLang="zh-TW" dirty="0"/>
              <a:t> x </a:t>
            </a:r>
            <a:r>
              <a:rPr lang="en-US" altLang="zh-TW" dirty="0" err="1"/>
              <a:t>G_i</a:t>
            </a:r>
            <a:endParaRPr lang="zh-TW" altLang="en-US" dirty="0"/>
          </a:p>
        </p:txBody>
      </p:sp>
      <p:sp>
        <p:nvSpPr>
          <p:cNvPr id="279" name="文字方塊 278">
            <a:extLst>
              <a:ext uri="{FF2B5EF4-FFF2-40B4-BE49-F238E27FC236}">
                <a16:creationId xmlns:a16="http://schemas.microsoft.com/office/drawing/2014/main" id="{EA58E6EC-8536-1E32-6EA7-CB94EAA0B440}"/>
              </a:ext>
            </a:extLst>
          </p:cNvPr>
          <p:cNvSpPr txBox="1"/>
          <p:nvPr/>
        </p:nvSpPr>
        <p:spPr>
          <a:xfrm>
            <a:off x="53547" y="4339141"/>
            <a:ext cx="14873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(remove topological info before core additions or you’ll get </a:t>
            </a:r>
            <a:r>
              <a:rPr lang="en-US" altLang="zh-TW" sz="1400" dirty="0" err="1"/>
              <a:t>mn</a:t>
            </a:r>
            <a:r>
              <a:rPr lang="en-US" altLang="zh-TW" sz="1400" baseline="30000" dirty="0" err="1"/>
              <a:t>arm</a:t>
            </a:r>
            <a:r>
              <a:rPr lang="en-US" altLang="zh-TW" sz="1400" dirty="0"/>
              <a:t>)</a:t>
            </a:r>
            <a:endParaRPr lang="zh-TW" altLang="en-US" sz="1400" dirty="0"/>
          </a:p>
        </p:txBody>
      </p:sp>
      <p:sp>
        <p:nvSpPr>
          <p:cNvPr id="280" name="文字方塊 279">
            <a:extLst>
              <a:ext uri="{FF2B5EF4-FFF2-40B4-BE49-F238E27FC236}">
                <a16:creationId xmlns:a16="http://schemas.microsoft.com/office/drawing/2014/main" id="{0C1ECA56-3E2F-6418-232E-EE641F76176F}"/>
              </a:ext>
            </a:extLst>
          </p:cNvPr>
          <p:cNvSpPr txBox="1"/>
          <p:nvPr/>
        </p:nvSpPr>
        <p:spPr>
          <a:xfrm>
            <a:off x="191224" y="4008724"/>
            <a:ext cx="2233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</a:t>
            </a:r>
            <a:r>
              <a:rPr lang="en-US" altLang="zh-TW" dirty="0" err="1"/>
              <a:t>mxn</a:t>
            </a:r>
            <a:r>
              <a:rPr lang="en-US" altLang="zh-TW" dirty="0"/>
              <a:t> combinations)</a:t>
            </a:r>
            <a:endParaRPr lang="zh-TW" altLang="en-US" dirty="0"/>
          </a:p>
        </p:txBody>
      </p:sp>
      <p:sp>
        <p:nvSpPr>
          <p:cNvPr id="281" name="文字方塊 280">
            <a:extLst>
              <a:ext uri="{FF2B5EF4-FFF2-40B4-BE49-F238E27FC236}">
                <a16:creationId xmlns:a16="http://schemas.microsoft.com/office/drawing/2014/main" id="{CB59F4C1-FB99-0F0A-BD26-3DAD76C9E569}"/>
              </a:ext>
            </a:extLst>
          </p:cNvPr>
          <p:cNvSpPr txBox="1"/>
          <p:nvPr/>
        </p:nvSpPr>
        <p:spPr>
          <a:xfrm>
            <a:off x="6315740" y="5271608"/>
            <a:ext cx="978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grpSp>
        <p:nvGrpSpPr>
          <p:cNvPr id="73" name="群組 72">
            <a:extLst>
              <a:ext uri="{FF2B5EF4-FFF2-40B4-BE49-F238E27FC236}">
                <a16:creationId xmlns:a16="http://schemas.microsoft.com/office/drawing/2014/main" id="{C8592920-CE4D-0E31-ECC5-FCB653069DCB}"/>
              </a:ext>
            </a:extLst>
          </p:cNvPr>
          <p:cNvGrpSpPr/>
          <p:nvPr/>
        </p:nvGrpSpPr>
        <p:grpSpPr>
          <a:xfrm>
            <a:off x="4802238" y="4589316"/>
            <a:ext cx="399546" cy="411716"/>
            <a:chOff x="4219393" y="4686911"/>
            <a:chExt cx="399546" cy="411716"/>
          </a:xfrm>
        </p:grpSpPr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832A2E5E-288A-67BF-A75D-A39E843D5A25}"/>
                </a:ext>
              </a:extLst>
            </p:cNvPr>
            <p:cNvGrpSpPr/>
            <p:nvPr/>
          </p:nvGrpSpPr>
          <p:grpSpPr>
            <a:xfrm rot="16200000">
              <a:off x="4502320" y="4829626"/>
              <a:ext cx="97271" cy="135966"/>
              <a:chOff x="4717451" y="4969651"/>
              <a:chExt cx="97271" cy="135966"/>
            </a:xfrm>
          </p:grpSpPr>
          <p:sp>
            <p:nvSpPr>
              <p:cNvPr id="210" name="Line 31">
                <a:extLst>
                  <a:ext uri="{FF2B5EF4-FFF2-40B4-BE49-F238E27FC236}">
                    <a16:creationId xmlns:a16="http://schemas.microsoft.com/office/drawing/2014/main" id="{5AA0C01F-3EEC-B85C-2A9A-7433B3E659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745115" y="4990559"/>
                <a:ext cx="41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" name="橢圓 226">
                <a:extLst>
                  <a:ext uri="{FF2B5EF4-FFF2-40B4-BE49-F238E27FC236}">
                    <a16:creationId xmlns:a16="http://schemas.microsoft.com/office/drawing/2014/main" id="{61E2C8EE-6E04-B621-A8EE-523F5CE82711}"/>
                  </a:ext>
                </a:extLst>
              </p:cNvPr>
              <p:cNvSpPr/>
              <p:nvPr/>
            </p:nvSpPr>
            <p:spPr>
              <a:xfrm>
                <a:off x="4717451" y="5008346"/>
                <a:ext cx="97271" cy="97271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p:grpSp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7FE293CC-9705-2843-C091-FAC0F16A475B}"/>
                </a:ext>
              </a:extLst>
            </p:cNvPr>
            <p:cNvGrpSpPr/>
            <p:nvPr/>
          </p:nvGrpSpPr>
          <p:grpSpPr>
            <a:xfrm>
              <a:off x="4219393" y="4686911"/>
              <a:ext cx="261372" cy="411716"/>
              <a:chOff x="4323267" y="4702367"/>
              <a:chExt cx="261372" cy="411716"/>
            </a:xfrm>
          </p:grpSpPr>
          <p:sp>
            <p:nvSpPr>
              <p:cNvPr id="259" name="Rectangle 34">
                <a:extLst>
                  <a:ext uri="{FF2B5EF4-FFF2-40B4-BE49-F238E27FC236}">
                    <a16:creationId xmlns:a16="http://schemas.microsoft.com/office/drawing/2014/main" id="{F5354BB8-24C4-CF6D-3E4B-FF8017521E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323222" y="5026797"/>
                <a:ext cx="87331" cy="87241"/>
              </a:xfrm>
              <a:prstGeom prst="rect">
                <a:avLst/>
              </a:prstGeom>
              <a:solidFill>
                <a:srgbClr val="0073B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" name="Rectangle 34">
                <a:extLst>
                  <a:ext uri="{FF2B5EF4-FFF2-40B4-BE49-F238E27FC236}">
                    <a16:creationId xmlns:a16="http://schemas.microsoft.com/office/drawing/2014/main" id="{848863C0-8733-9A43-F283-469A73B14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4327092" y="4702416"/>
                <a:ext cx="96570" cy="96471"/>
              </a:xfrm>
              <a:prstGeom prst="rect">
                <a:avLst/>
              </a:prstGeom>
              <a:solidFill>
                <a:srgbClr val="0073B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" name="Line 31">
                <a:extLst>
                  <a:ext uri="{FF2B5EF4-FFF2-40B4-BE49-F238E27FC236}">
                    <a16:creationId xmlns:a16="http://schemas.microsoft.com/office/drawing/2014/main" id="{451F400E-F5D4-BAA5-96C1-D7ECF504AB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4423829" y="4789094"/>
                <a:ext cx="77307" cy="761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Rectangle 34">
                <a:extLst>
                  <a:ext uri="{FF2B5EF4-FFF2-40B4-BE49-F238E27FC236}">
                    <a16:creationId xmlns:a16="http://schemas.microsoft.com/office/drawing/2014/main" id="{F7FAE04A-1BC0-A61E-EB17-3A7899008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4488119" y="4866741"/>
                <a:ext cx="96570" cy="96471"/>
              </a:xfrm>
              <a:prstGeom prst="rect">
                <a:avLst/>
              </a:prstGeom>
              <a:solidFill>
                <a:srgbClr val="FFD4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" name="Line 31">
                <a:extLst>
                  <a:ext uri="{FF2B5EF4-FFF2-40B4-BE49-F238E27FC236}">
                    <a16:creationId xmlns:a16="http://schemas.microsoft.com/office/drawing/2014/main" id="{5A924A26-4BFB-3133-A8E8-A6DDEDA22F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4413659" y="4954423"/>
                <a:ext cx="71946" cy="802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E9AF2605-FA5A-952F-1E02-27559EA2DB9C}"/>
              </a:ext>
            </a:extLst>
          </p:cNvPr>
          <p:cNvGrpSpPr/>
          <p:nvPr/>
        </p:nvGrpSpPr>
        <p:grpSpPr>
          <a:xfrm>
            <a:off x="4759388" y="5208530"/>
            <a:ext cx="396837" cy="247744"/>
            <a:chOff x="4171157" y="5363414"/>
            <a:chExt cx="396837" cy="247744"/>
          </a:xfrm>
        </p:grpSpPr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2E3968F5-84E3-E005-2294-9F12B94292A9}"/>
                </a:ext>
              </a:extLst>
            </p:cNvPr>
            <p:cNvGrpSpPr/>
            <p:nvPr/>
          </p:nvGrpSpPr>
          <p:grpSpPr>
            <a:xfrm>
              <a:off x="4171157" y="5363767"/>
              <a:ext cx="261372" cy="247391"/>
              <a:chOff x="4323267" y="4866692"/>
              <a:chExt cx="261372" cy="247391"/>
            </a:xfrm>
          </p:grpSpPr>
          <p:sp>
            <p:nvSpPr>
              <p:cNvPr id="19" name="Rectangle 34">
                <a:extLst>
                  <a:ext uri="{FF2B5EF4-FFF2-40B4-BE49-F238E27FC236}">
                    <a16:creationId xmlns:a16="http://schemas.microsoft.com/office/drawing/2014/main" id="{55D0E6D9-CC96-5E02-4B36-7F94515AC4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323222" y="5026797"/>
                <a:ext cx="87331" cy="87241"/>
              </a:xfrm>
              <a:prstGeom prst="rect">
                <a:avLst/>
              </a:prstGeom>
              <a:solidFill>
                <a:srgbClr val="0073B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" name="Rectangle 34">
                <a:extLst>
                  <a:ext uri="{FF2B5EF4-FFF2-40B4-BE49-F238E27FC236}">
                    <a16:creationId xmlns:a16="http://schemas.microsoft.com/office/drawing/2014/main" id="{D4B94466-CF90-430C-F183-C7719E1C5D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4488119" y="4866741"/>
                <a:ext cx="96570" cy="96471"/>
              </a:xfrm>
              <a:prstGeom prst="rect">
                <a:avLst/>
              </a:prstGeom>
              <a:solidFill>
                <a:srgbClr val="FFD4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" name="Line 31">
                <a:extLst>
                  <a:ext uri="{FF2B5EF4-FFF2-40B4-BE49-F238E27FC236}">
                    <a16:creationId xmlns:a16="http://schemas.microsoft.com/office/drawing/2014/main" id="{DA9AF29C-D8A0-3E48-D7C8-BB3840EB8A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4413659" y="4954423"/>
                <a:ext cx="71946" cy="802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7" name="群組 46">
              <a:extLst>
                <a:ext uri="{FF2B5EF4-FFF2-40B4-BE49-F238E27FC236}">
                  <a16:creationId xmlns:a16="http://schemas.microsoft.com/office/drawing/2014/main" id="{B9026008-F50E-1EAA-CC2D-EB742B6F669A}"/>
                </a:ext>
              </a:extLst>
            </p:cNvPr>
            <p:cNvGrpSpPr/>
            <p:nvPr/>
          </p:nvGrpSpPr>
          <p:grpSpPr>
            <a:xfrm rot="16200000">
              <a:off x="4451375" y="5344067"/>
              <a:ext cx="97271" cy="135966"/>
              <a:chOff x="4717451" y="4969651"/>
              <a:chExt cx="97271" cy="135966"/>
            </a:xfrm>
          </p:grpSpPr>
          <p:sp>
            <p:nvSpPr>
              <p:cNvPr id="49" name="Line 31">
                <a:extLst>
                  <a:ext uri="{FF2B5EF4-FFF2-40B4-BE49-F238E27FC236}">
                    <a16:creationId xmlns:a16="http://schemas.microsoft.com/office/drawing/2014/main" id="{92877232-2F99-1266-3F24-C68820F790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745115" y="4990559"/>
                <a:ext cx="41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橢圓 59">
                <a:extLst>
                  <a:ext uri="{FF2B5EF4-FFF2-40B4-BE49-F238E27FC236}">
                    <a16:creationId xmlns:a16="http://schemas.microsoft.com/office/drawing/2014/main" id="{C35616A7-11A1-0542-52EB-CADA287463BD}"/>
                  </a:ext>
                </a:extLst>
              </p:cNvPr>
              <p:cNvSpPr/>
              <p:nvPr/>
            </p:nvSpPr>
            <p:spPr>
              <a:xfrm>
                <a:off x="4717451" y="5008346"/>
                <a:ext cx="97271" cy="97271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p:grpSp>
      </p:grp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D20E998B-D0D1-9B9A-8D2D-ABF96394F526}"/>
              </a:ext>
            </a:extLst>
          </p:cNvPr>
          <p:cNvGrpSpPr/>
          <p:nvPr/>
        </p:nvGrpSpPr>
        <p:grpSpPr>
          <a:xfrm>
            <a:off x="4010453" y="4471843"/>
            <a:ext cx="406799" cy="416559"/>
            <a:chOff x="3695680" y="4738611"/>
            <a:chExt cx="406799" cy="416559"/>
          </a:xfrm>
        </p:grpSpPr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D83EB51B-8657-C4A2-38FF-C55718866667}"/>
                </a:ext>
              </a:extLst>
            </p:cNvPr>
            <p:cNvGrpSpPr/>
            <p:nvPr/>
          </p:nvGrpSpPr>
          <p:grpSpPr>
            <a:xfrm>
              <a:off x="3695680" y="4738611"/>
              <a:ext cx="276220" cy="416559"/>
              <a:chOff x="3695680" y="4738611"/>
              <a:chExt cx="276220" cy="416559"/>
            </a:xfrm>
          </p:grpSpPr>
          <p:sp>
            <p:nvSpPr>
              <p:cNvPr id="262" name="Rectangle 34">
                <a:extLst>
                  <a:ext uri="{FF2B5EF4-FFF2-40B4-BE49-F238E27FC236}">
                    <a16:creationId xmlns:a16="http://schemas.microsoft.com/office/drawing/2014/main" id="{529B7069-F733-CA76-5ECE-A007A48E1A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3714353" y="4738660"/>
                <a:ext cx="96570" cy="96471"/>
              </a:xfrm>
              <a:prstGeom prst="rect">
                <a:avLst/>
              </a:prstGeom>
              <a:solidFill>
                <a:srgbClr val="0073B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5" name="Line 31">
                <a:extLst>
                  <a:ext uri="{FF2B5EF4-FFF2-40B4-BE49-F238E27FC236}">
                    <a16:creationId xmlns:a16="http://schemas.microsoft.com/office/drawing/2014/main" id="{F576F301-A53D-EC69-8E57-6E071F28E1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3811090" y="4825338"/>
                <a:ext cx="77307" cy="761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" name="Rectangle 34">
                <a:extLst>
                  <a:ext uri="{FF2B5EF4-FFF2-40B4-BE49-F238E27FC236}">
                    <a16:creationId xmlns:a16="http://schemas.microsoft.com/office/drawing/2014/main" id="{7F175DC4-3306-3F87-AB56-B2A53F783E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3875380" y="4902985"/>
                <a:ext cx="96570" cy="96471"/>
              </a:xfrm>
              <a:prstGeom prst="rect">
                <a:avLst/>
              </a:prstGeom>
              <a:solidFill>
                <a:srgbClr val="FFD4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" name="Oval 13">
                <a:extLst>
                  <a:ext uri="{FF2B5EF4-FFF2-40B4-BE49-F238E27FC236}">
                    <a16:creationId xmlns:a16="http://schemas.microsoft.com/office/drawing/2014/main" id="{F8D01B74-8D55-94C1-19C5-16A972BE3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3695625" y="5047663"/>
                <a:ext cx="107562" cy="107451"/>
              </a:xfrm>
              <a:prstGeom prst="ellipse">
                <a:avLst/>
              </a:prstGeom>
              <a:solidFill>
                <a:srgbClr val="FFD4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" name="Line 31">
                <a:extLst>
                  <a:ext uri="{FF2B5EF4-FFF2-40B4-BE49-F238E27FC236}">
                    <a16:creationId xmlns:a16="http://schemas.microsoft.com/office/drawing/2014/main" id="{E8C0B11B-3E1B-81BD-F9AE-D98C130D03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3800920" y="4990667"/>
                <a:ext cx="71946" cy="802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1" name="群組 60">
              <a:extLst>
                <a:ext uri="{FF2B5EF4-FFF2-40B4-BE49-F238E27FC236}">
                  <a16:creationId xmlns:a16="http://schemas.microsoft.com/office/drawing/2014/main" id="{FE584BDB-36ED-1B9F-3441-2523A75ECC1B}"/>
                </a:ext>
              </a:extLst>
            </p:cNvPr>
            <p:cNvGrpSpPr/>
            <p:nvPr/>
          </p:nvGrpSpPr>
          <p:grpSpPr>
            <a:xfrm rot="16200000">
              <a:off x="3985860" y="4878260"/>
              <a:ext cx="97271" cy="135966"/>
              <a:chOff x="4717451" y="4969651"/>
              <a:chExt cx="97271" cy="135966"/>
            </a:xfrm>
          </p:grpSpPr>
          <p:sp>
            <p:nvSpPr>
              <p:cNvPr id="62" name="Line 31">
                <a:extLst>
                  <a:ext uri="{FF2B5EF4-FFF2-40B4-BE49-F238E27FC236}">
                    <a16:creationId xmlns:a16="http://schemas.microsoft.com/office/drawing/2014/main" id="{000FF149-F105-C9CC-92A9-D0266B2BE9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745115" y="4990559"/>
                <a:ext cx="41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橢圓 62">
                <a:extLst>
                  <a:ext uri="{FF2B5EF4-FFF2-40B4-BE49-F238E27FC236}">
                    <a16:creationId xmlns:a16="http://schemas.microsoft.com/office/drawing/2014/main" id="{0B56CDFD-8D31-F2B6-D922-CA9FFCB98496}"/>
                  </a:ext>
                </a:extLst>
              </p:cNvPr>
              <p:cNvSpPr/>
              <p:nvPr/>
            </p:nvSpPr>
            <p:spPr>
              <a:xfrm>
                <a:off x="4717451" y="5008346"/>
                <a:ext cx="97271" cy="97271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p:grpSp>
      </p:grpSp>
      <p:grpSp>
        <p:nvGrpSpPr>
          <p:cNvPr id="75" name="群組 74">
            <a:extLst>
              <a:ext uri="{FF2B5EF4-FFF2-40B4-BE49-F238E27FC236}">
                <a16:creationId xmlns:a16="http://schemas.microsoft.com/office/drawing/2014/main" id="{2D647E01-10A7-6778-267A-10E9A163FFB5}"/>
              </a:ext>
            </a:extLst>
          </p:cNvPr>
          <p:cNvGrpSpPr/>
          <p:nvPr/>
        </p:nvGrpSpPr>
        <p:grpSpPr>
          <a:xfrm>
            <a:off x="4019040" y="5280491"/>
            <a:ext cx="400705" cy="240294"/>
            <a:chOff x="3583733" y="5309929"/>
            <a:chExt cx="400705" cy="240294"/>
          </a:xfrm>
        </p:grpSpPr>
        <p:grpSp>
          <p:nvGrpSpPr>
            <p:cNvPr id="2" name="群組 1">
              <a:extLst>
                <a:ext uri="{FF2B5EF4-FFF2-40B4-BE49-F238E27FC236}">
                  <a16:creationId xmlns:a16="http://schemas.microsoft.com/office/drawing/2014/main" id="{DDB94FB9-73DA-AC83-E692-E32771559BCF}"/>
                </a:ext>
              </a:extLst>
            </p:cNvPr>
            <p:cNvGrpSpPr/>
            <p:nvPr/>
          </p:nvGrpSpPr>
          <p:grpSpPr>
            <a:xfrm flipV="1">
              <a:off x="3583733" y="5314886"/>
              <a:ext cx="257716" cy="235337"/>
              <a:chOff x="4488592" y="4758038"/>
              <a:chExt cx="249793" cy="228102"/>
            </a:xfrm>
          </p:grpSpPr>
          <p:sp>
            <p:nvSpPr>
              <p:cNvPr id="247" name="Rectangle 34">
                <a:extLst>
                  <a:ext uri="{FF2B5EF4-FFF2-40B4-BE49-F238E27FC236}">
                    <a16:creationId xmlns:a16="http://schemas.microsoft.com/office/drawing/2014/main" id="{C1EA6833-C276-C01F-E523-12AA52BCE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651099" y="4898854"/>
                <a:ext cx="87331" cy="87241"/>
              </a:xfrm>
              <a:prstGeom prst="rect">
                <a:avLst/>
              </a:prstGeom>
              <a:solidFill>
                <a:srgbClr val="FFD4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8" name="Oval 13">
                <a:extLst>
                  <a:ext uri="{FF2B5EF4-FFF2-40B4-BE49-F238E27FC236}">
                    <a16:creationId xmlns:a16="http://schemas.microsoft.com/office/drawing/2014/main" id="{CFE246C9-9959-C6AB-CEE4-810E6E9AC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488542" y="4758088"/>
                <a:ext cx="97271" cy="97171"/>
              </a:xfrm>
              <a:prstGeom prst="ellipse">
                <a:avLst/>
              </a:prstGeom>
              <a:solidFill>
                <a:srgbClr val="FFD4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1" name="Line 31">
                <a:extLst>
                  <a:ext uri="{FF2B5EF4-FFF2-40B4-BE49-F238E27FC236}">
                    <a16:creationId xmlns:a16="http://schemas.microsoft.com/office/drawing/2014/main" id="{7728410C-559D-E438-7E30-F505562BD0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4583763" y="4834205"/>
                <a:ext cx="65063" cy="725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4" name="群組 63">
              <a:extLst>
                <a:ext uri="{FF2B5EF4-FFF2-40B4-BE49-F238E27FC236}">
                  <a16:creationId xmlns:a16="http://schemas.microsoft.com/office/drawing/2014/main" id="{5C4DBDD2-ABAA-5E7D-7864-616CFA129E30}"/>
                </a:ext>
              </a:extLst>
            </p:cNvPr>
            <p:cNvGrpSpPr/>
            <p:nvPr/>
          </p:nvGrpSpPr>
          <p:grpSpPr>
            <a:xfrm rot="16200000">
              <a:off x="3867819" y="5290582"/>
              <a:ext cx="97271" cy="135966"/>
              <a:chOff x="4717451" y="4969651"/>
              <a:chExt cx="97271" cy="135966"/>
            </a:xfrm>
          </p:grpSpPr>
          <p:sp>
            <p:nvSpPr>
              <p:cNvPr id="65" name="Line 31">
                <a:extLst>
                  <a:ext uri="{FF2B5EF4-FFF2-40B4-BE49-F238E27FC236}">
                    <a16:creationId xmlns:a16="http://schemas.microsoft.com/office/drawing/2014/main" id="{B910EB24-351A-2222-8DA5-CEC007168C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745115" y="4990559"/>
                <a:ext cx="41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橢圓 65">
                <a:extLst>
                  <a:ext uri="{FF2B5EF4-FFF2-40B4-BE49-F238E27FC236}">
                    <a16:creationId xmlns:a16="http://schemas.microsoft.com/office/drawing/2014/main" id="{EF897825-6074-D6FA-AB17-7635AED56DCF}"/>
                  </a:ext>
                </a:extLst>
              </p:cNvPr>
              <p:cNvSpPr/>
              <p:nvPr/>
            </p:nvSpPr>
            <p:spPr>
              <a:xfrm>
                <a:off x="4717451" y="5008346"/>
                <a:ext cx="97271" cy="97271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p:grpSp>
      </p:grpSp>
      <p:pic>
        <p:nvPicPr>
          <p:cNvPr id="78" name="圖片 77">
            <a:extLst>
              <a:ext uri="{FF2B5EF4-FFF2-40B4-BE49-F238E27FC236}">
                <a16:creationId xmlns:a16="http://schemas.microsoft.com/office/drawing/2014/main" id="{42FBAB14-21B3-EB4C-6447-5BD5C3B698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6439" y="5036335"/>
            <a:ext cx="183084" cy="183084"/>
          </a:xfrm>
          <a:prstGeom prst="rect">
            <a:avLst/>
          </a:prstGeom>
        </p:spPr>
      </p:pic>
      <p:pic>
        <p:nvPicPr>
          <p:cNvPr id="82" name="圖片 81">
            <a:extLst>
              <a:ext uri="{FF2B5EF4-FFF2-40B4-BE49-F238E27FC236}">
                <a16:creationId xmlns:a16="http://schemas.microsoft.com/office/drawing/2014/main" id="{9E76DEE0-2DFD-9374-F1AD-5F23E8920D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908388" y="4972606"/>
            <a:ext cx="152097" cy="144297"/>
          </a:xfrm>
          <a:prstGeom prst="rect">
            <a:avLst/>
          </a:prstGeom>
        </p:spPr>
      </p:pic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11DE72E3-EF7F-DD0C-5589-0A975E16C061}"/>
              </a:ext>
            </a:extLst>
          </p:cNvPr>
          <p:cNvCxnSpPr/>
          <p:nvPr/>
        </p:nvCxnSpPr>
        <p:spPr>
          <a:xfrm>
            <a:off x="4117905" y="5127877"/>
            <a:ext cx="120533" cy="1212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>
            <a:extLst>
              <a:ext uri="{FF2B5EF4-FFF2-40B4-BE49-F238E27FC236}">
                <a16:creationId xmlns:a16="http://schemas.microsoft.com/office/drawing/2014/main" id="{20BF62A9-9186-ED23-AD37-183BC3184A7F}"/>
              </a:ext>
            </a:extLst>
          </p:cNvPr>
          <p:cNvCxnSpPr>
            <a:cxnSpLocks/>
          </p:cNvCxnSpPr>
          <p:nvPr/>
        </p:nvCxnSpPr>
        <p:spPr>
          <a:xfrm>
            <a:off x="3905482" y="5179134"/>
            <a:ext cx="291786" cy="40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632675FE-AD99-1007-1D51-00DDD5B910E8}"/>
              </a:ext>
            </a:extLst>
          </p:cNvPr>
          <p:cNvSpPr txBox="1"/>
          <p:nvPr/>
        </p:nvSpPr>
        <p:spPr>
          <a:xfrm>
            <a:off x="3725713" y="4859145"/>
            <a:ext cx="3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?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78026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6AB8A5-A76E-A289-79A9-65F946820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/>
              <a:t>Comparing with manual annotation</a:t>
            </a:r>
            <a:endParaRPr lang="zh-TW" altLang="en-US" sz="4000" dirty="0"/>
          </a:p>
        </p:txBody>
      </p:sp>
      <p:graphicFrame>
        <p:nvGraphicFramePr>
          <p:cNvPr id="11" name="內容版面配置區 10">
            <a:extLst>
              <a:ext uri="{FF2B5EF4-FFF2-40B4-BE49-F238E27FC236}">
                <a16:creationId xmlns:a16="http://schemas.microsoft.com/office/drawing/2014/main" id="{BE1C0BC2-E1C9-8D6D-FE73-1798D1F54D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8701165"/>
              </p:ext>
            </p:extLst>
          </p:nvPr>
        </p:nvGraphicFramePr>
        <p:xfrm>
          <a:off x="-755651" y="1368124"/>
          <a:ext cx="7172325" cy="3957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" name="圖片 39">
            <a:extLst>
              <a:ext uri="{FF2B5EF4-FFF2-40B4-BE49-F238E27FC236}">
                <a16:creationId xmlns:a16="http://schemas.microsoft.com/office/drawing/2014/main" id="{DB65529B-2964-9321-520B-88EA96449F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325319"/>
            <a:ext cx="9144000" cy="1439393"/>
          </a:xfrm>
          <a:prstGeom prst="rect">
            <a:avLst/>
          </a:prstGeom>
        </p:spPr>
      </p:pic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421C9334-7DF3-C834-9C06-E22DD5711051}"/>
              </a:ext>
            </a:extLst>
          </p:cNvPr>
          <p:cNvCxnSpPr/>
          <p:nvPr/>
        </p:nvCxnSpPr>
        <p:spPr>
          <a:xfrm flipH="1" flipV="1">
            <a:off x="4178300" y="3441943"/>
            <a:ext cx="1066800" cy="660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3786FE9-D66A-1615-C427-494A05DC87EF}"/>
              </a:ext>
            </a:extLst>
          </p:cNvPr>
          <p:cNvSpPr txBox="1"/>
          <p:nvPr/>
        </p:nvSpPr>
        <p:spPr>
          <a:xfrm>
            <a:off x="4597400" y="4205999"/>
            <a:ext cx="20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Not overlapped: 1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60A202C-005C-A559-4336-811A1F851618}"/>
              </a:ext>
            </a:extLst>
          </p:cNvPr>
          <p:cNvSpPr txBox="1"/>
          <p:nvPr/>
        </p:nvSpPr>
        <p:spPr>
          <a:xfrm>
            <a:off x="4321175" y="4601193"/>
            <a:ext cx="314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Reason: out of configured constraints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A3FCC91-6BAD-8604-A296-8B96E5936EC9}"/>
              </a:ext>
            </a:extLst>
          </p:cNvPr>
          <p:cNvSpPr txBox="1"/>
          <p:nvPr/>
        </p:nvSpPr>
        <p:spPr>
          <a:xfrm>
            <a:off x="3959225" y="3364148"/>
            <a:ext cx="361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1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2BD31EE-AC80-FD21-4655-51AD9B08E2AA}"/>
              </a:ext>
            </a:extLst>
          </p:cNvPr>
          <p:cNvSpPr txBox="1"/>
          <p:nvPr/>
        </p:nvSpPr>
        <p:spPr>
          <a:xfrm>
            <a:off x="5651500" y="1499748"/>
            <a:ext cx="34672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Reduce the in silico glycans from (brutal expansion) ~38k to 3.9k (reduced by 88%)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By turning on/off flags, in silico glycans can vary from ~1k - ~10k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Estimated type of N-glycans in one sample is around ~100</a:t>
            </a:r>
            <a:endParaRPr lang="zh-TW" altLang="en-US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2103716A-5AD3-F567-6A7B-0EE62C660C2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18171"/>
          <a:stretch>
            <a:fillRect/>
          </a:stretch>
        </p:blipFill>
        <p:spPr>
          <a:xfrm>
            <a:off x="3829051" y="1368124"/>
            <a:ext cx="1822449" cy="95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275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C0B21-B6EA-07C3-DD71-FE3F2BA01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9FC6AF-BD56-1F6E-3120-954A0B866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Features in ML analysis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F1F8F6-2026-9DE1-1566-4CE369872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12335" y="1449388"/>
            <a:ext cx="8867774" cy="5043486"/>
          </a:xfrm>
        </p:spPr>
        <p:txBody>
          <a:bodyPr>
            <a:normAutofit/>
          </a:bodyPr>
          <a:lstStyle/>
          <a:p>
            <a:pPr lvl="1"/>
            <a:r>
              <a:rPr lang="en-US" altLang="zh-TW" sz="2000" dirty="0"/>
              <a:t>Train model</a:t>
            </a:r>
          </a:p>
          <a:p>
            <a:pPr lvl="2"/>
            <a:r>
              <a:rPr lang="en-US" altLang="zh-TW" sz="1800" dirty="0"/>
              <a:t>Require trainable csv</a:t>
            </a:r>
          </a:p>
          <a:p>
            <a:pPr lvl="2"/>
            <a:r>
              <a:rPr lang="en-US" altLang="zh-TW" sz="1800" dirty="0"/>
              <a:t>Select Label column (as classes being trained)</a:t>
            </a:r>
          </a:p>
          <a:p>
            <a:pPr lvl="2"/>
            <a:r>
              <a:rPr lang="en-US" altLang="zh-TW" sz="1800" dirty="0"/>
              <a:t>Random Forest available </a:t>
            </a:r>
          </a:p>
          <a:p>
            <a:pPr lvl="2"/>
            <a:r>
              <a:rPr lang="en-US" altLang="zh-TW" sz="1800" dirty="0" err="1"/>
              <a:t>XGBoost</a:t>
            </a:r>
            <a:r>
              <a:rPr lang="en-US" altLang="zh-TW" sz="1800" dirty="0"/>
              <a:t> (CLI, not optimized)</a:t>
            </a:r>
          </a:p>
          <a:p>
            <a:pPr lvl="2"/>
            <a:r>
              <a:rPr lang="en-US" altLang="zh-TW" sz="1800" dirty="0"/>
              <a:t>SVM and KNN are not implemented</a:t>
            </a:r>
          </a:p>
          <a:p>
            <a:pPr lvl="1"/>
            <a:r>
              <a:rPr lang="en-US" altLang="zh-TW" sz="2000" dirty="0"/>
              <a:t>Possible to adjust the parameters</a:t>
            </a:r>
            <a:br>
              <a:rPr lang="en-US" altLang="zh-TW" sz="2000" dirty="0"/>
            </a:br>
            <a:r>
              <a:rPr lang="en-US" altLang="zh-TW" sz="2000" dirty="0"/>
              <a:t>(see next slide)</a:t>
            </a:r>
          </a:p>
          <a:p>
            <a:pPr lvl="1"/>
            <a:r>
              <a:rPr lang="en-US" altLang="zh-TW" sz="2000" dirty="0"/>
              <a:t>Combine multiple trainable datasets</a:t>
            </a:r>
            <a:br>
              <a:rPr lang="en-US" altLang="zh-TW" sz="2000" dirty="0"/>
            </a:br>
            <a:r>
              <a:rPr lang="en-US" altLang="zh-TW" sz="2000" dirty="0"/>
              <a:t>into one single dataset</a:t>
            </a:r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FDC4B25-057F-C7FA-77F1-063B6A116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192" y="2774951"/>
            <a:ext cx="4438808" cy="386097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7AA7326-83B6-B56A-F3B4-1BBD7FAFD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362" y="1690689"/>
            <a:ext cx="3099357" cy="82397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F8F73CB-CBE8-CF1F-0E18-5908BEE28988}"/>
              </a:ext>
            </a:extLst>
          </p:cNvPr>
          <p:cNvSpPr/>
          <p:nvPr/>
        </p:nvSpPr>
        <p:spPr>
          <a:xfrm>
            <a:off x="7767686" y="1950976"/>
            <a:ext cx="987753" cy="2266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1647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23F742-CD01-189D-28FC-500924B6F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Random forest train parameters</a:t>
            </a:r>
            <a:endParaRPr lang="zh-TW" altLang="en-US" sz="3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6F4A30-3AA1-41EB-DCDA-C8751BEB7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1800" dirty="0"/>
              <a:t>Test (0.05-0.50, +0.05 per level, default 0.25)</a:t>
            </a:r>
            <a:br>
              <a:rPr lang="en-US" altLang="zh-TW" sz="1800" dirty="0"/>
            </a:br>
            <a:r>
              <a:rPr lang="en-US" altLang="zh-TW" sz="1800" dirty="0"/>
              <a:t>Validation (0.00-0.30, +0.05 per level, default 0.1)</a:t>
            </a:r>
            <a:br>
              <a:rPr lang="en-US" altLang="zh-TW" sz="1800" dirty="0"/>
            </a:br>
            <a:r>
              <a:rPr lang="en-US" altLang="zh-TW" sz="1800" dirty="0"/>
              <a:t>Train (remaining, max 0.95, min 0.2)</a:t>
            </a:r>
          </a:p>
          <a:p>
            <a:r>
              <a:rPr lang="en-US" altLang="zh-TW" sz="1800" dirty="0"/>
              <a:t>Minimal count for each class (default 5)</a:t>
            </a:r>
          </a:p>
          <a:p>
            <a:r>
              <a:rPr lang="en-US" altLang="zh-TW" sz="1800" dirty="0"/>
              <a:t>Cap majority (prevent Non-glycan flooding)</a:t>
            </a:r>
          </a:p>
          <a:p>
            <a:r>
              <a:rPr lang="en-US" altLang="zh-TW" sz="1800" dirty="0"/>
              <a:t>Stratify (keep per-class proportions across Tr/Va/</a:t>
            </a:r>
            <a:r>
              <a:rPr lang="en-US" altLang="zh-TW" sz="1800" dirty="0" err="1"/>
              <a:t>Te</a:t>
            </a:r>
            <a:endParaRPr lang="en-US" altLang="zh-TW" sz="1800" dirty="0"/>
          </a:p>
          <a:p>
            <a:r>
              <a:rPr lang="en-US" altLang="zh-TW" sz="1800" dirty="0"/>
              <a:t>Trees numbers (estimators): 0~800</a:t>
            </a:r>
          </a:p>
          <a:p>
            <a:r>
              <a:rPr lang="en-US" altLang="zh-TW" sz="1800" dirty="0"/>
              <a:t>State = 42 for current study</a:t>
            </a:r>
          </a:p>
          <a:p>
            <a:r>
              <a:rPr lang="en-US" altLang="zh-TW" sz="1800" dirty="0"/>
              <a:t>Balance the class</a:t>
            </a:r>
          </a:p>
          <a:p>
            <a:r>
              <a:rPr lang="en-US" altLang="zh-TW" sz="1800" dirty="0"/>
              <a:t>Cap non-glycans only during training</a:t>
            </a:r>
          </a:p>
          <a:p>
            <a:endParaRPr lang="en-US" altLang="zh-TW" sz="1800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D415562-429B-06A4-211F-77C9860DA1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423"/>
          <a:stretch>
            <a:fillRect/>
          </a:stretch>
        </p:blipFill>
        <p:spPr>
          <a:xfrm>
            <a:off x="6245120" y="2102701"/>
            <a:ext cx="2748051" cy="420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368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FEE78-4D51-33C0-C520-EC4CD1C29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D41B68-9FB4-85BD-52DD-61A2E09A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Filtering pseudo-labeling datasets for training</a:t>
            </a:r>
            <a:endParaRPr lang="zh-TW" altLang="en-US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C3CE0A-5B36-3B4E-3AAF-B255CFE9D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100571" cy="4351338"/>
          </a:xfrm>
        </p:spPr>
        <p:txBody>
          <a:bodyPr>
            <a:normAutofit/>
          </a:bodyPr>
          <a:lstStyle/>
          <a:p>
            <a:r>
              <a:rPr lang="en-US" altLang="zh-TW" sz="1800" dirty="0"/>
              <a:t>Further filter the spectra labeled with composition using the feature scoring (presenting ion feature count/ total ion feature count)</a:t>
            </a:r>
          </a:p>
          <a:p>
            <a:r>
              <a:rPr lang="en-US" altLang="zh-TW" sz="1800" dirty="0"/>
              <a:t>(Working)  Add pre-filtering (GUI only, CLI has been implemented) options</a:t>
            </a:r>
            <a:br>
              <a:rPr lang="en-US" altLang="zh-TW" sz="1800" dirty="0"/>
            </a:br>
            <a:r>
              <a:rPr lang="en-US" altLang="zh-TW" sz="1800" dirty="0"/>
              <a:t>which generates feature/merged CSV </a:t>
            </a:r>
          </a:p>
          <a:p>
            <a:r>
              <a:rPr lang="en-US" altLang="zh-TW" sz="1800" dirty="0"/>
              <a:t>(Future function)Top N will pick the highest score of assigned composition</a:t>
            </a:r>
          </a:p>
          <a:p>
            <a:pPr lvl="1"/>
            <a:r>
              <a:rPr lang="en-US" altLang="zh-TW" sz="1600" dirty="0"/>
              <a:t>Need another combination score that is sensitive to composition/structure</a:t>
            </a:r>
          </a:p>
          <a:p>
            <a:r>
              <a:rPr lang="en-US" altLang="zh-TW" sz="1800" dirty="0"/>
              <a:t>Rebuild and add Non-glycan back</a:t>
            </a:r>
            <a:br>
              <a:rPr lang="en-US" altLang="zh-TW" sz="1800" dirty="0"/>
            </a:br>
            <a:endParaRPr lang="en-US" altLang="zh-TW" sz="18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56140CA-BF83-AFDD-80E7-6392AF089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704526"/>
            <a:ext cx="3657599" cy="315347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2537997-7740-4259-D5F7-BA87DD8D3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32" y="4147507"/>
            <a:ext cx="3934587" cy="271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55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CBD79-8355-6FBF-C0D1-B96CBB0EB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9F8954-9692-1383-0313-1184838F5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Features in ML analysis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E2DC14-6471-25C5-599C-179CD0986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1" y="1449388"/>
            <a:ext cx="8867774" cy="5043486"/>
          </a:xfrm>
        </p:spPr>
        <p:txBody>
          <a:bodyPr>
            <a:normAutofit/>
          </a:bodyPr>
          <a:lstStyle/>
          <a:p>
            <a:pPr lvl="1"/>
            <a:r>
              <a:rPr lang="en-US" altLang="zh-TW" sz="2000" dirty="0"/>
              <a:t>Prediction tab</a:t>
            </a:r>
          </a:p>
          <a:p>
            <a:pPr lvl="1"/>
            <a:r>
              <a:rPr lang="en-US" altLang="zh-TW" sz="2000" dirty="0"/>
              <a:t>Requires raw converted csv and feature (ion list)</a:t>
            </a:r>
          </a:p>
          <a:p>
            <a:pPr lvl="1"/>
            <a:r>
              <a:rPr lang="en-US" altLang="zh-TW" sz="2000" dirty="0"/>
              <a:t>Will flatten the peak list and intensity into ML-compatible csv</a:t>
            </a:r>
          </a:p>
          <a:p>
            <a:pPr lvl="1"/>
            <a:r>
              <a:rPr lang="en-US" altLang="zh-TW" sz="2000" dirty="0">
                <a:solidFill>
                  <a:srgbClr val="FF0000"/>
                </a:solidFill>
              </a:rPr>
              <a:t>(Working) Statistics on prediction results</a:t>
            </a:r>
            <a:endParaRPr lang="en-US" altLang="zh-TW" sz="1600" dirty="0">
              <a:solidFill>
                <a:srgbClr val="FF0000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7860E48-DE9A-AAD6-ABC1-CC8F58F30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2941448"/>
            <a:ext cx="4076689" cy="346640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947DEBD-02E7-0099-4664-8AFAE783F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5346289"/>
            <a:ext cx="2501829" cy="81886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E01712C-DB68-1393-3F57-AD3D66207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324" y="4905387"/>
            <a:ext cx="5034651" cy="150246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97D79DE3-7129-7260-A815-0EB59B93C3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25" y="6492872"/>
            <a:ext cx="9040487" cy="304843"/>
          </a:xfrm>
          <a:prstGeom prst="rect">
            <a:avLst/>
          </a:prstGeom>
        </p:spPr>
      </p:pic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FA8C55E5-2091-34BD-7A93-B19D8058CC6E}"/>
              </a:ext>
            </a:extLst>
          </p:cNvPr>
          <p:cNvCxnSpPr>
            <a:cxnSpLocks/>
          </p:cNvCxnSpPr>
          <p:nvPr/>
        </p:nvCxnSpPr>
        <p:spPr>
          <a:xfrm>
            <a:off x="2592371" y="3791782"/>
            <a:ext cx="1316953" cy="11136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29A699D-F39D-D077-FD60-A1714ABAE36D}"/>
              </a:ext>
            </a:extLst>
          </p:cNvPr>
          <p:cNvSpPr txBox="1"/>
          <p:nvPr/>
        </p:nvSpPr>
        <p:spPr>
          <a:xfrm>
            <a:off x="3553905" y="3629320"/>
            <a:ext cx="3996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Need experiment </a:t>
            </a:r>
            <a:r>
              <a:rPr lang="en-US" altLang="zh-TW" sz="1400" dirty="0" err="1"/>
              <a:t>json</a:t>
            </a:r>
            <a:r>
              <a:rPr lang="en-US" altLang="zh-TW" sz="1400" dirty="0"/>
              <a:t> to automatically retrieve feature (from Excel) and raw csv</a:t>
            </a:r>
            <a:endParaRPr lang="zh-TW" altLang="en-US" sz="1400" dirty="0"/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6B0D476E-6426-D861-783B-8A29A00C51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5386" y="3997594"/>
            <a:ext cx="2742413" cy="930461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00E5B3E9-0A8B-06F5-AF3A-2847CDB174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5386" y="2804954"/>
            <a:ext cx="2311629" cy="910642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18CEE9C0-7D6D-3539-4246-05C7A42165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6041" y="2582940"/>
            <a:ext cx="2095803" cy="411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027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38EC99-8AD0-CCD2-9D83-F01AD8851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Quick comparison of train results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7CC07B-DE64-19CA-5449-90C08CF7B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971" y="1457779"/>
            <a:ext cx="7886700" cy="4351338"/>
          </a:xfrm>
        </p:spPr>
        <p:txBody>
          <a:bodyPr>
            <a:normAutofit/>
          </a:bodyPr>
          <a:lstStyle/>
          <a:p>
            <a:r>
              <a:rPr lang="en-US" altLang="zh-TW" sz="1800" dirty="0"/>
              <a:t>Low macro F1 -&gt; underperforms on less frequent glycan classes </a:t>
            </a:r>
            <a:br>
              <a:rPr lang="en-US" altLang="zh-TW" sz="1800" dirty="0"/>
            </a:br>
            <a:r>
              <a:rPr lang="en-US" altLang="zh-TW" sz="1800" dirty="0"/>
              <a:t>despite strong overall accuracy, reflecting </a:t>
            </a:r>
            <a:r>
              <a:rPr lang="en-US" altLang="zh-TW" sz="1800" u="sng" dirty="0">
                <a:solidFill>
                  <a:srgbClr val="FF0000"/>
                </a:solidFill>
              </a:rPr>
              <a:t>class-imbalance and confusion among rare subclasses</a:t>
            </a:r>
            <a:r>
              <a:rPr lang="en-US" altLang="zh-TW" sz="1800" dirty="0"/>
              <a:t>.” * Test set dominated by Non-glycan</a:t>
            </a:r>
            <a:endParaRPr lang="zh-TW" altLang="en-US" sz="1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016FF90-1D27-5E82-6532-1BD5058DC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88" y="3807823"/>
            <a:ext cx="4940656" cy="298724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91B670B-BAA1-201E-41EA-7EC1DA75A8B6}"/>
              </a:ext>
            </a:extLst>
          </p:cNvPr>
          <p:cNvSpPr txBox="1"/>
          <p:nvPr/>
        </p:nvSpPr>
        <p:spPr>
          <a:xfrm>
            <a:off x="5157644" y="3890815"/>
            <a:ext cx="42485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test 0.2, val0.0, min count=15, cap 3x, stratify on, balanced, 400 trees</a:t>
            </a:r>
            <a:endParaRPr lang="zh-TW" altLang="en-US" sz="10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B0EC0C0-8D3C-6838-BE6B-43D6DFAAC8C6}"/>
              </a:ext>
            </a:extLst>
          </p:cNvPr>
          <p:cNvSpPr txBox="1"/>
          <p:nvPr/>
        </p:nvSpPr>
        <p:spPr>
          <a:xfrm>
            <a:off x="5157644" y="4105331"/>
            <a:ext cx="4248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test 0.2, val0.0, min count=15, cap train 3x, stratify on, balanced, 400 trees</a:t>
            </a:r>
            <a:endParaRPr lang="zh-TW" altLang="en-US" sz="1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2C20E08-FB5B-5464-1E22-3C1C5692B345}"/>
              </a:ext>
            </a:extLst>
          </p:cNvPr>
          <p:cNvSpPr txBox="1"/>
          <p:nvPr/>
        </p:nvSpPr>
        <p:spPr>
          <a:xfrm>
            <a:off x="5072803" y="5969772"/>
            <a:ext cx="4248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test 0.2, val0.0, min count=15, cap train 3x, stratify on, balanced, 400 trees, tau = 0.65</a:t>
            </a:r>
            <a:endParaRPr lang="zh-TW" altLang="en-US" sz="10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50B87D9-93A0-BEDD-BF73-C76F36D4F334}"/>
              </a:ext>
            </a:extLst>
          </p:cNvPr>
          <p:cNvSpPr txBox="1"/>
          <p:nvPr/>
        </p:nvSpPr>
        <p:spPr>
          <a:xfrm>
            <a:off x="5072803" y="5609062"/>
            <a:ext cx="4248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test 0.2, val0.0, min count=15, cap train 3x, stratify on, balanced, 400 trees, tau = 0.6</a:t>
            </a:r>
            <a:endParaRPr lang="zh-TW" altLang="en-US" sz="10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44547C8-0ECC-BEE4-DD80-8BBD76A62CC5}"/>
              </a:ext>
            </a:extLst>
          </p:cNvPr>
          <p:cNvSpPr txBox="1"/>
          <p:nvPr/>
        </p:nvSpPr>
        <p:spPr>
          <a:xfrm>
            <a:off x="5072802" y="5268384"/>
            <a:ext cx="4248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test 0.2, val0.0, min count=15, cap train 3x, stratify on, balanced, 400 trees, tau = 0.6, margin = 0.05</a:t>
            </a:r>
            <a:endParaRPr lang="zh-TW" altLang="en-US" sz="10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D5F2BED-7267-961D-67B3-E767C052D092}"/>
              </a:ext>
            </a:extLst>
          </p:cNvPr>
          <p:cNvSpPr txBox="1"/>
          <p:nvPr/>
        </p:nvSpPr>
        <p:spPr>
          <a:xfrm>
            <a:off x="5072802" y="4876605"/>
            <a:ext cx="4248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test 0.2, val0.0, min count=15, cap train 3x, stratify on, balanced, 400 trees, tau = 0.62, margin = 0.05</a:t>
            </a:r>
            <a:endParaRPr lang="zh-TW" altLang="en-US" sz="10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D061226-1156-A440-D610-3AA87EDBC844}"/>
              </a:ext>
            </a:extLst>
          </p:cNvPr>
          <p:cNvSpPr txBox="1"/>
          <p:nvPr/>
        </p:nvSpPr>
        <p:spPr>
          <a:xfrm>
            <a:off x="5072802" y="4440322"/>
            <a:ext cx="4248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test 0.2, val0.0, min count=15, cap train 3x, stratify on, balanced, 400 trees, tau = 0.62, margin = 0.08</a:t>
            </a:r>
            <a:endParaRPr lang="zh-TW" altLang="en-US" sz="10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AB86C25-779C-C7DB-71C8-A6F56E89A387}"/>
              </a:ext>
            </a:extLst>
          </p:cNvPr>
          <p:cNvSpPr txBox="1"/>
          <p:nvPr/>
        </p:nvSpPr>
        <p:spPr>
          <a:xfrm>
            <a:off x="5072803" y="6457890"/>
            <a:ext cx="4248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test 0.2, val0.0, min count=5, cap train 3x, stratify on, balanced, 600 trees, tau = 0.6</a:t>
            </a:r>
            <a:endParaRPr lang="zh-TW" altLang="en-US" sz="1000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830B87CF-4CF8-6BA3-9ECA-294AAF13FB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52" y="2350735"/>
            <a:ext cx="7810021" cy="457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06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4A7A92-8E4F-FE3E-5728-744669103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A quick glance at classification report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594B45-6AB9-460F-A1D2-4D4DE51ED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9B2392F-9B48-BACF-E68F-CF264954F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21" y="1765383"/>
            <a:ext cx="2957124" cy="441158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DFB9668-CE3C-4243-F4D6-D023E8BAA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174" y="2043633"/>
            <a:ext cx="4029637" cy="391532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462C11D-FF11-7EF9-E17F-8D00B879C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12" y="5919099"/>
            <a:ext cx="6287377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4910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F6C98C5-3E67-CAD6-C3D5-3EEE87A353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488"/>
          <a:stretch>
            <a:fillRect/>
          </a:stretch>
        </p:blipFill>
        <p:spPr>
          <a:xfrm>
            <a:off x="245953" y="2733773"/>
            <a:ext cx="3656744" cy="4126746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22F881F-6FE5-1072-E3CC-D8AF9AF8D436}"/>
              </a:ext>
            </a:extLst>
          </p:cNvPr>
          <p:cNvSpPr txBox="1"/>
          <p:nvPr/>
        </p:nvSpPr>
        <p:spPr>
          <a:xfrm>
            <a:off x="141402" y="1800768"/>
            <a:ext cx="37612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/>
              <a:t>test 0.2, val0.0, min count=15, cap train 3x, stratify on, balanced, 400 trees, tau = 0.62, margin = 0.08</a:t>
            </a:r>
            <a:endParaRPr lang="zh-TW" altLang="en-US" sz="1800" dirty="0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A63642F-461C-B2B3-662E-38636CBE5AE3}"/>
              </a:ext>
            </a:extLst>
          </p:cNvPr>
          <p:cNvSpPr/>
          <p:nvPr/>
        </p:nvSpPr>
        <p:spPr>
          <a:xfrm>
            <a:off x="678730" y="1329178"/>
            <a:ext cx="2441542" cy="3205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Pseudo-labeled</a:t>
            </a:r>
            <a:endParaRPr lang="zh-TW" altLang="en-US" dirty="0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C9E2294-0683-6388-E0FB-678663620431}"/>
              </a:ext>
            </a:extLst>
          </p:cNvPr>
          <p:cNvSpPr/>
          <p:nvPr/>
        </p:nvSpPr>
        <p:spPr>
          <a:xfrm>
            <a:off x="5373278" y="1348030"/>
            <a:ext cx="2441542" cy="32051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Manually-labeled</a:t>
            </a:r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A2105DC-2D27-9B6D-7DD1-A492E1C70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402" y="3026004"/>
            <a:ext cx="4276044" cy="3542285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DDBEFA9B-FB68-6665-A9A1-871CBE5C30D7}"/>
              </a:ext>
            </a:extLst>
          </p:cNvPr>
          <p:cNvSpPr txBox="1"/>
          <p:nvPr/>
        </p:nvSpPr>
        <p:spPr>
          <a:xfrm>
            <a:off x="4713402" y="1800768"/>
            <a:ext cx="37612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/>
              <a:t>test 0.2, val0.0, min count=</a:t>
            </a:r>
            <a:r>
              <a:rPr lang="en-US" altLang="zh-TW" sz="1800" dirty="0">
                <a:solidFill>
                  <a:srgbClr val="FF0000"/>
                </a:solidFill>
              </a:rPr>
              <a:t>5</a:t>
            </a:r>
            <a:r>
              <a:rPr lang="en-US" altLang="zh-TW" sz="1800" dirty="0"/>
              <a:t>, cap train 3x, stratify on, balanced, 400 trees</a:t>
            </a:r>
            <a:endParaRPr lang="zh-TW" altLang="en-US" sz="1800" dirty="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F6F27CF8-B900-B875-F7AB-5027042E003F}"/>
              </a:ext>
            </a:extLst>
          </p:cNvPr>
          <p:cNvCxnSpPr>
            <a:cxnSpLocks/>
          </p:cNvCxnSpPr>
          <p:nvPr/>
        </p:nvCxnSpPr>
        <p:spPr>
          <a:xfrm>
            <a:off x="3902697" y="4939645"/>
            <a:ext cx="1310326" cy="226245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C9922E2-74D9-8F1C-8552-DE10E8E75C76}"/>
              </a:ext>
            </a:extLst>
          </p:cNvPr>
          <p:cNvSpPr txBox="1"/>
          <p:nvPr/>
        </p:nvSpPr>
        <p:spPr>
          <a:xfrm>
            <a:off x="141402" y="138774"/>
            <a:ext cx="52884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Quick summary: pseudo-label gives different classes of glycans with relatively low F1 score</a:t>
            </a:r>
          </a:p>
          <a:p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B8E149B-0C4B-9E99-D1D7-AC929B702F3B}"/>
              </a:ext>
            </a:extLst>
          </p:cNvPr>
          <p:cNvSpPr txBox="1"/>
          <p:nvPr/>
        </p:nvSpPr>
        <p:spPr>
          <a:xfrm>
            <a:off x="260094" y="726485"/>
            <a:ext cx="4679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Good tools for distinguishing glycans, but not the final annotation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3144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05C06973-A825-88C8-CEF9-C73078D32520}"/>
              </a:ext>
            </a:extLst>
          </p:cNvPr>
          <p:cNvSpPr txBox="1"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Pseudo-label (real cap, τ=0.62, margin=0.08) — n_estimators=400, min_samples=15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7B0BDC58-E0B0-2A45-0F90-8DB9A64D0059}"/>
              </a:ext>
            </a:extLst>
          </p:cNvPr>
          <p:cNvSpPr txBox="1"/>
          <p:nvPr/>
        </p:nvSpPr>
        <p:spPr>
          <a:xfrm>
            <a:off x="457200" y="150876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dirty="0"/>
              <a:t>Accuracy: 0.95</a:t>
            </a:r>
          </a:p>
          <a:p>
            <a:pPr>
              <a:defRPr sz="1400"/>
            </a:pPr>
            <a:r>
              <a:rPr dirty="0"/>
              <a:t>Macro F1: 0.40</a:t>
            </a:r>
          </a:p>
          <a:p>
            <a:pPr>
              <a:defRPr sz="1400"/>
            </a:pPr>
            <a:r>
              <a:rPr dirty="0"/>
              <a:t>Weighted F1: 0.97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E9D79959-4E15-FC68-EF7C-F864E4D1A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055792"/>
              </p:ext>
            </p:extLst>
          </p:nvPr>
        </p:nvGraphicFramePr>
        <p:xfrm>
          <a:off x="228601" y="2574460"/>
          <a:ext cx="4114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F1H5N4G1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H5N4G1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H7N4G1KDN1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F3H5N4G1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F3H7N4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H3N4G1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5">
            <a:extLst>
              <a:ext uri="{FF2B5EF4-FFF2-40B4-BE49-F238E27FC236}">
                <a16:creationId xmlns:a16="http://schemas.microsoft.com/office/drawing/2014/main" id="{0882CD94-B506-87D0-FC19-2A14B664BE48}"/>
              </a:ext>
            </a:extLst>
          </p:cNvPr>
          <p:cNvSpPr txBox="1"/>
          <p:nvPr/>
        </p:nvSpPr>
        <p:spPr>
          <a:xfrm>
            <a:off x="4800600" y="1005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Manual annotation — n_estimators=400, min_samples=5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4A56C76A-87CF-7339-75B3-3022F8D72AD0}"/>
              </a:ext>
            </a:extLst>
          </p:cNvPr>
          <p:cNvSpPr txBox="1"/>
          <p:nvPr/>
        </p:nvSpPr>
        <p:spPr>
          <a:xfrm>
            <a:off x="4800600" y="150876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Accuracy: 0.98</a:t>
            </a:r>
          </a:p>
          <a:p>
            <a:pPr>
              <a:defRPr sz="1400"/>
            </a:pPr>
            <a:r>
              <a:t>Macro F1: 0.91</a:t>
            </a:r>
          </a:p>
          <a:p>
            <a:pPr>
              <a:defRPr sz="1400"/>
            </a:pPr>
            <a:r>
              <a:t>Weighted F1: 0.98</a:t>
            </a:r>
          </a:p>
        </p:txBody>
      </p:sp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0C8305A8-B2CF-4471-ACD5-6907B07DE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722974"/>
              </p:ext>
            </p:extLst>
          </p:nvPr>
        </p:nvGraphicFramePr>
        <p:xfrm>
          <a:off x="4800599" y="2539109"/>
          <a:ext cx="4114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F1H6N4S1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F2H7N4S2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F1H5N5S1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F2H6N4S1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F1H5N5KDN2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F1H6N4S2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0.67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7536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EE5D4A-2F1A-6E56-90EC-3E2E6F952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Debug prints in console (202509)</a:t>
            </a:r>
            <a:endParaRPr lang="zh-TW" altLang="en-US" sz="3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D56833-1C69-980C-DE1B-64D94D78A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15F9256-E3D7-C44C-FF62-27A50B755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06" y="2314155"/>
            <a:ext cx="7672387" cy="464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5334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B1FCA50-E46A-83D1-0BC5-4D0DDB82B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982333A5-0072-9ED0-6684-2A002FB9B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4398019"/>
            <a:ext cx="7144747" cy="230537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E5C8A38-F2DC-17E3-2942-DA5211DFA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Dev issues in file management workflow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75BF03-321A-EF27-DA10-A44504867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1" y="1449388"/>
            <a:ext cx="8867774" cy="5043486"/>
          </a:xfrm>
        </p:spPr>
        <p:txBody>
          <a:bodyPr>
            <a:normAutofit/>
          </a:bodyPr>
          <a:lstStyle/>
          <a:p>
            <a:pPr lvl="1"/>
            <a:r>
              <a:rPr lang="en-US" altLang="zh-TW" sz="2000" dirty="0"/>
              <a:t>Can’t clean the empty tags itself</a:t>
            </a:r>
          </a:p>
          <a:p>
            <a:pPr lvl="1"/>
            <a:r>
              <a:rPr lang="en-US" altLang="zh-TW" sz="2000" dirty="0"/>
              <a:t>The experiment, method and metadata </a:t>
            </a:r>
            <a:r>
              <a:rPr lang="en-US" altLang="zh-TW" sz="2000" dirty="0" err="1"/>
              <a:t>json</a:t>
            </a:r>
            <a:r>
              <a:rPr lang="en-US" altLang="zh-TW" sz="2000" dirty="0"/>
              <a:t> files are mixed (the duties are ambiguous)</a:t>
            </a:r>
          </a:p>
          <a:p>
            <a:pPr lvl="1"/>
            <a:r>
              <a:rPr lang="en-US" altLang="zh-TW" sz="2000" dirty="0"/>
              <a:t>Json files are not updated in real time and if files are moved, or user attempting running on another device, the integrity of </a:t>
            </a:r>
            <a:r>
              <a:rPr lang="en-US" altLang="zh-TW" sz="2000" dirty="0" err="1"/>
              <a:t>json</a:t>
            </a:r>
            <a:r>
              <a:rPr lang="en-US" altLang="zh-TW" sz="2000" dirty="0"/>
              <a:t> will break and causing error (file not found errors), need a path validation or HASH value validation to confirm users are using “same file”</a:t>
            </a:r>
          </a:p>
          <a:p>
            <a:pPr lvl="1"/>
            <a:r>
              <a:rPr lang="en-US" altLang="zh-TW" sz="2000" dirty="0"/>
              <a:t>UI, button positions and functions are not straightforward</a:t>
            </a:r>
            <a:endParaRPr lang="en-US" altLang="zh-TW" sz="16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782BD9A-01AF-DE27-2DAE-E4AEF078F8D9}"/>
              </a:ext>
            </a:extLst>
          </p:cNvPr>
          <p:cNvSpPr/>
          <p:nvPr/>
        </p:nvSpPr>
        <p:spPr>
          <a:xfrm>
            <a:off x="5110162" y="6408497"/>
            <a:ext cx="2494451" cy="266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4609CC3A-9C91-1A01-8610-BFF569B93CCC}"/>
              </a:ext>
            </a:extLst>
          </p:cNvPr>
          <p:cNvCxnSpPr>
            <a:cxnSpLocks/>
          </p:cNvCxnSpPr>
          <p:nvPr/>
        </p:nvCxnSpPr>
        <p:spPr>
          <a:xfrm>
            <a:off x="6107092" y="6035675"/>
            <a:ext cx="168784" cy="3446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C224823A-A7D8-CDBE-65FB-971E7B99F2C3}"/>
              </a:ext>
            </a:extLst>
          </p:cNvPr>
          <p:cNvSpPr/>
          <p:nvPr/>
        </p:nvSpPr>
        <p:spPr>
          <a:xfrm>
            <a:off x="495300" y="5159375"/>
            <a:ext cx="6210300" cy="876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94560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941D5E2-5014-46C7-A28D-35BCED6EE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D96EE5-EA85-5FD8-E716-67E7FB46B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315325" cy="1325563"/>
          </a:xfrm>
        </p:spPr>
        <p:txBody>
          <a:bodyPr>
            <a:normAutofit/>
          </a:bodyPr>
          <a:lstStyle/>
          <a:p>
            <a:r>
              <a:rPr lang="en-US" altLang="zh-TW" sz="3600" dirty="0"/>
              <a:t>Dev issues in file management workflow (2)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7C5691-374C-5482-33D1-C27AAC5A6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1" y="1449388"/>
            <a:ext cx="8867774" cy="5043486"/>
          </a:xfrm>
        </p:spPr>
        <p:txBody>
          <a:bodyPr>
            <a:normAutofit/>
          </a:bodyPr>
          <a:lstStyle/>
          <a:p>
            <a:pPr lvl="1"/>
            <a:r>
              <a:rPr lang="en-US" altLang="zh-TW" sz="2000" dirty="0"/>
              <a:t>Ion suggestion should be able to perform out of merging process (since merging itself catches features and fixes them, adding new features will result in another file adjustment)</a:t>
            </a:r>
          </a:p>
          <a:p>
            <a:pPr lvl="1"/>
            <a:r>
              <a:rPr lang="en-US" altLang="zh-TW" sz="2000" dirty="0"/>
              <a:t>Using whole negative sample instead of capped negative one</a:t>
            </a:r>
            <a:endParaRPr lang="en-US" altLang="zh-TW" sz="1600" dirty="0"/>
          </a:p>
        </p:txBody>
      </p:sp>
    </p:spTree>
    <p:extLst>
      <p:ext uri="{BB962C8B-B14F-4D97-AF65-F5344CB8AC3E}">
        <p14:creationId xmlns:p14="http://schemas.microsoft.com/office/powerpoint/2010/main" val="3884626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285E32-D698-FE78-DD38-6A863BF69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CD7D42B-B13A-8443-11DA-20C75FB11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altLang="zh-TW" sz="3600" dirty="0"/>
              <a:t>Recap</a:t>
            </a:r>
            <a:endParaRPr lang="zh-TW" altLang="en-US" sz="3600" dirty="0"/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內容版面配置區 2">
            <a:extLst>
              <a:ext uri="{FF2B5EF4-FFF2-40B4-BE49-F238E27FC236}">
                <a16:creationId xmlns:a16="http://schemas.microsoft.com/office/drawing/2014/main" id="{10DE77F0-5380-C275-C42B-992619F1E1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620817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圖片 9" descr="一張含有 字型, 圖形, 標誌, 符號 的圖片&#10;&#10;AI 產生的內容可能不正確。">
            <a:extLst>
              <a:ext uri="{FF2B5EF4-FFF2-40B4-BE49-F238E27FC236}">
                <a16:creationId xmlns:a16="http://schemas.microsoft.com/office/drawing/2014/main" id="{BF274D77-D3E9-CA8A-4039-9E90C0E9B9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110" y="1034298"/>
            <a:ext cx="1208195" cy="1147405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91157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字型, 圖形, 標誌, 符號 的圖片&#10;&#10;AI 產生的內容可能不正確。">
            <a:extLst>
              <a:ext uri="{FF2B5EF4-FFF2-40B4-BE49-F238E27FC236}">
                <a16:creationId xmlns:a16="http://schemas.microsoft.com/office/drawing/2014/main" id="{6F58AA02-5C05-3912-E09E-C3BA71694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04" y="399261"/>
            <a:ext cx="952278" cy="904364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08D43D71-C7EB-611B-81A5-2244BFA3E18F}"/>
              </a:ext>
            </a:extLst>
          </p:cNvPr>
          <p:cNvGrpSpPr/>
          <p:nvPr/>
        </p:nvGrpSpPr>
        <p:grpSpPr>
          <a:xfrm>
            <a:off x="1521350" y="2869544"/>
            <a:ext cx="474082" cy="479047"/>
            <a:chOff x="1524001" y="1722121"/>
            <a:chExt cx="586018" cy="61278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EEF3A2B-9A5C-3E9A-17A0-C9A5966C5AE7}"/>
                </a:ext>
              </a:extLst>
            </p:cNvPr>
            <p:cNvSpPr/>
            <p:nvPr/>
          </p:nvSpPr>
          <p:spPr>
            <a:xfrm>
              <a:off x="1609843" y="1889715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5A2CB28-D6FE-B30C-A5D0-85E8E5847659}"/>
                </a:ext>
              </a:extLst>
            </p:cNvPr>
            <p:cNvSpPr/>
            <p:nvPr/>
          </p:nvSpPr>
          <p:spPr>
            <a:xfrm>
              <a:off x="1563468" y="1901716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4F08FB4-F632-8DBD-0ABD-37083C8A0490}"/>
                </a:ext>
              </a:extLst>
            </p:cNvPr>
            <p:cNvSpPr/>
            <p:nvPr/>
          </p:nvSpPr>
          <p:spPr>
            <a:xfrm>
              <a:off x="1524578" y="1908186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" name="流程圖: 多重文件 8">
              <a:extLst>
                <a:ext uri="{FF2B5EF4-FFF2-40B4-BE49-F238E27FC236}">
                  <a16:creationId xmlns:a16="http://schemas.microsoft.com/office/drawing/2014/main" id="{BE834DC7-C40A-4B38-EE03-780F833847FF}"/>
                </a:ext>
              </a:extLst>
            </p:cNvPr>
            <p:cNvSpPr/>
            <p:nvPr/>
          </p:nvSpPr>
          <p:spPr>
            <a:xfrm>
              <a:off x="1524001" y="1722121"/>
              <a:ext cx="583874" cy="266700"/>
            </a:xfrm>
            <a:prstGeom prst="flowChartMultidocumen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MS2</a:t>
              </a:r>
              <a:endParaRPr kumimoji="0" lang="zh-TW" alt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A701871F-8AEB-810C-EF0A-DD349AD40A61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040601"/>
              <a:ext cx="413611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3C4138F5-37ED-3048-4C42-8A4A3869F6C2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106120"/>
              <a:ext cx="413611" cy="0"/>
            </a:xfrm>
            <a:prstGeom prst="line">
              <a:avLst/>
            </a:prstGeom>
            <a:ln w="12700" cmpd="sng">
              <a:solidFill>
                <a:schemeClr val="accent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72648F46-BF6F-03EC-9D40-0A7E4D253350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8" y="2148957"/>
              <a:ext cx="413611" cy="0"/>
            </a:xfrm>
            <a:prstGeom prst="line">
              <a:avLst/>
            </a:prstGeom>
            <a:ln w="12700" cmpd="sng">
              <a:solidFill>
                <a:schemeClr val="accent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54841858-4F32-47F7-76E3-8AB2DB3C1633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206832"/>
              <a:ext cx="413611" cy="0"/>
            </a:xfrm>
            <a:prstGeom prst="line">
              <a:avLst/>
            </a:prstGeom>
            <a:ln w="12700" cmpd="sng">
              <a:solidFill>
                <a:schemeClr val="accent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0FE448A4-4C34-6D0E-A02D-C12F09414E58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8" y="2254987"/>
              <a:ext cx="413611" cy="0"/>
            </a:xfrm>
            <a:prstGeom prst="line">
              <a:avLst/>
            </a:prstGeom>
            <a:ln w="12700" cmpd="sng">
              <a:solidFill>
                <a:schemeClr val="accent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8B25A306-A9B0-5A65-5B26-F293D7F8B6FB}"/>
              </a:ext>
            </a:extLst>
          </p:cNvPr>
          <p:cNvSpPr/>
          <p:nvPr/>
        </p:nvSpPr>
        <p:spPr>
          <a:xfrm rot="5400000">
            <a:off x="1611661" y="2462428"/>
            <a:ext cx="362904" cy="281858"/>
          </a:xfrm>
          <a:prstGeom prst="rightArrow">
            <a:avLst>
              <a:gd name="adj1" fmla="val 50000"/>
              <a:gd name="adj2" fmla="val 6297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C9CE9EB8-290E-DA57-7E06-4865BCC5C408}"/>
              </a:ext>
            </a:extLst>
          </p:cNvPr>
          <p:cNvGrpSpPr/>
          <p:nvPr/>
        </p:nvGrpSpPr>
        <p:grpSpPr>
          <a:xfrm>
            <a:off x="968945" y="1710633"/>
            <a:ext cx="1439616" cy="706214"/>
            <a:chOff x="-268499" y="849400"/>
            <a:chExt cx="1681689" cy="824963"/>
          </a:xfrm>
        </p:grpSpPr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0A505D87-F9C5-8F45-A8BB-BF70463DA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E"/>
                </a:clrFrom>
                <a:clrTo>
                  <a:srgbClr val="FFFFF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43409" y="849400"/>
              <a:ext cx="630942" cy="630942"/>
            </a:xfrm>
            <a:prstGeom prst="rect">
              <a:avLst/>
            </a:prstGeom>
          </p:spPr>
        </p:pic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B67492AE-E730-99BE-BB75-347B8D71C1C2}"/>
                </a:ext>
              </a:extLst>
            </p:cNvPr>
            <p:cNvSpPr txBox="1"/>
            <p:nvPr/>
          </p:nvSpPr>
          <p:spPr>
            <a:xfrm>
              <a:off x="-268499" y="1350787"/>
              <a:ext cx="1681689" cy="3235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altLang="zh-TW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ThermoFisher</a:t>
              </a:r>
              <a:r>
                <a:rPr kumimoji="0" lang="en-US" altLang="zh-TW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 RAW</a:t>
              </a: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FBE5F432-55E6-7745-0756-49B179BF1D72}"/>
              </a:ext>
            </a:extLst>
          </p:cNvPr>
          <p:cNvGrpSpPr/>
          <p:nvPr/>
        </p:nvGrpSpPr>
        <p:grpSpPr>
          <a:xfrm>
            <a:off x="1652184" y="1568399"/>
            <a:ext cx="867063" cy="501249"/>
            <a:chOff x="1253063" y="1724392"/>
            <a:chExt cx="867063" cy="501249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17BA95AA-C527-66CD-B677-081F188B2588}"/>
                </a:ext>
              </a:extLst>
            </p:cNvPr>
            <p:cNvGrpSpPr/>
            <p:nvPr/>
          </p:nvGrpSpPr>
          <p:grpSpPr>
            <a:xfrm>
              <a:off x="1253063" y="1724392"/>
              <a:ext cx="519390" cy="253873"/>
              <a:chOff x="-1868836" y="1912156"/>
              <a:chExt cx="1829670" cy="866762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EAE53062-23F3-322D-AAF9-499D9D6BF743}"/>
                  </a:ext>
                </a:extLst>
              </p:cNvPr>
              <p:cNvSpPr/>
              <p:nvPr/>
            </p:nvSpPr>
            <p:spPr>
              <a:xfrm>
                <a:off x="-1868836" y="1912156"/>
                <a:ext cx="1829670" cy="8667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48" name="直線接點 47">
                <a:extLst>
                  <a:ext uri="{FF2B5EF4-FFF2-40B4-BE49-F238E27FC236}">
                    <a16:creationId xmlns:a16="http://schemas.microsoft.com/office/drawing/2014/main" id="{3E2B4BE5-4117-FD2A-5AE7-1BEF333036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608593" y="2281512"/>
                <a:ext cx="0" cy="49740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接點 48">
                <a:extLst>
                  <a:ext uri="{FF2B5EF4-FFF2-40B4-BE49-F238E27FC236}">
                    <a16:creationId xmlns:a16="http://schemas.microsoft.com/office/drawing/2014/main" id="{6774469E-264C-2259-7F2F-2B88A0907D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501002" y="2530215"/>
                <a:ext cx="0" cy="24870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線接點 49">
                <a:extLst>
                  <a:ext uri="{FF2B5EF4-FFF2-40B4-BE49-F238E27FC236}">
                    <a16:creationId xmlns:a16="http://schemas.microsoft.com/office/drawing/2014/main" id="{D9ACD11D-BB80-3594-8E36-27B370BF1F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371892" y="2448539"/>
                <a:ext cx="0" cy="33037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接點 50">
                <a:extLst>
                  <a:ext uri="{FF2B5EF4-FFF2-40B4-BE49-F238E27FC236}">
                    <a16:creationId xmlns:a16="http://schemas.microsoft.com/office/drawing/2014/main" id="{24E12265-3950-CD2C-9067-64CB038A78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237403" y="2463475"/>
                <a:ext cx="0" cy="315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線接點 51">
                <a:extLst>
                  <a:ext uri="{FF2B5EF4-FFF2-40B4-BE49-F238E27FC236}">
                    <a16:creationId xmlns:a16="http://schemas.microsoft.com/office/drawing/2014/main" id="{D7C41940-4352-6E23-6F1B-14936063B6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127121" y="2345537"/>
                <a:ext cx="0" cy="43338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接點 52">
                <a:extLst>
                  <a:ext uri="{FF2B5EF4-FFF2-40B4-BE49-F238E27FC236}">
                    <a16:creationId xmlns:a16="http://schemas.microsoft.com/office/drawing/2014/main" id="{4F6CCF78-3A27-C353-92F2-85C1C61BF1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98489" y="2405097"/>
                <a:ext cx="0" cy="37382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接點 53">
                <a:extLst>
                  <a:ext uri="{FF2B5EF4-FFF2-40B4-BE49-F238E27FC236}">
                    <a16:creationId xmlns:a16="http://schemas.microsoft.com/office/drawing/2014/main" id="{7F512586-0F96-C1F8-F329-3079D743AE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42004" y="2542862"/>
                <a:ext cx="0" cy="23605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接點 54">
                <a:extLst>
                  <a:ext uri="{FF2B5EF4-FFF2-40B4-BE49-F238E27FC236}">
                    <a16:creationId xmlns:a16="http://schemas.microsoft.com/office/drawing/2014/main" id="{7BC8D33A-DDD8-A1E5-F595-29A5ED22C2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09726" y="2424531"/>
                <a:ext cx="0" cy="354387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線接點 55">
                <a:extLst>
                  <a:ext uri="{FF2B5EF4-FFF2-40B4-BE49-F238E27FC236}">
                    <a16:creationId xmlns:a16="http://schemas.microsoft.com/office/drawing/2014/main" id="{FFC80776-7536-B8C3-19FB-FF1468F69B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745171" y="2424531"/>
                <a:ext cx="0" cy="354387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線接點 56">
                <a:extLst>
                  <a:ext uri="{FF2B5EF4-FFF2-40B4-BE49-F238E27FC236}">
                    <a16:creationId xmlns:a16="http://schemas.microsoft.com/office/drawing/2014/main" id="{F69A57E0-94BF-A0BA-7C6D-3045281246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83756" y="2507997"/>
                <a:ext cx="0" cy="27092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線接點 57">
                <a:extLst>
                  <a:ext uri="{FF2B5EF4-FFF2-40B4-BE49-F238E27FC236}">
                    <a16:creationId xmlns:a16="http://schemas.microsoft.com/office/drawing/2014/main" id="{AD99A4D0-D722-F380-4CE9-8F8C44BD63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303540" y="2025684"/>
                <a:ext cx="0" cy="753234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C9737930-C08E-155C-7E2A-15C8B2CB55DC}"/>
                </a:ext>
              </a:extLst>
            </p:cNvPr>
            <p:cNvGrpSpPr/>
            <p:nvPr/>
          </p:nvGrpSpPr>
          <p:grpSpPr>
            <a:xfrm>
              <a:off x="1467181" y="1856521"/>
              <a:ext cx="513985" cy="243488"/>
              <a:chOff x="-581466" y="2043406"/>
              <a:chExt cx="881430" cy="417556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59D020B1-CDDA-FE89-0F2A-BEBEFD474276}"/>
                  </a:ext>
                </a:extLst>
              </p:cNvPr>
              <p:cNvSpPr/>
              <p:nvPr/>
            </p:nvSpPr>
            <p:spPr>
              <a:xfrm>
                <a:off x="-581466" y="2043406"/>
                <a:ext cx="881430" cy="4175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36" name="直線接點 35">
                <a:extLst>
                  <a:ext uri="{FF2B5EF4-FFF2-40B4-BE49-F238E27FC236}">
                    <a16:creationId xmlns:a16="http://schemas.microsoft.com/office/drawing/2014/main" id="{41D35524-D194-D2C8-F0D0-0B4D9A1924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96" y="2404103"/>
                <a:ext cx="0" cy="5685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接點 36">
                <a:extLst>
                  <a:ext uri="{FF2B5EF4-FFF2-40B4-BE49-F238E27FC236}">
                    <a16:creationId xmlns:a16="http://schemas.microsoft.com/office/drawing/2014/main" id="{CDC15142-189A-B3AA-1405-CCB3F75078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4265" y="2341151"/>
                <a:ext cx="0" cy="11981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接點 37">
                <a:extLst>
                  <a:ext uri="{FF2B5EF4-FFF2-40B4-BE49-F238E27FC236}">
                    <a16:creationId xmlns:a16="http://schemas.microsoft.com/office/drawing/2014/main" id="{D7FFCE15-4E57-AA76-E152-570E1D7A15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526217" y="2301804"/>
                <a:ext cx="0" cy="15915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線接點 38">
                <a:extLst>
                  <a:ext uri="{FF2B5EF4-FFF2-40B4-BE49-F238E27FC236}">
                    <a16:creationId xmlns:a16="http://schemas.microsoft.com/office/drawing/2014/main" id="{BF3970D0-E3B1-1759-BB61-C733E05121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83653" y="2309000"/>
                <a:ext cx="0" cy="151962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線接點 39">
                <a:extLst>
                  <a:ext uri="{FF2B5EF4-FFF2-40B4-BE49-F238E27FC236}">
                    <a16:creationId xmlns:a16="http://schemas.microsoft.com/office/drawing/2014/main" id="{116A6E9D-ABD4-08CB-AF1E-1450995158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49001" y="2252184"/>
                <a:ext cx="0" cy="20877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線接點 40">
                <a:extLst>
                  <a:ext uri="{FF2B5EF4-FFF2-40B4-BE49-F238E27FC236}">
                    <a16:creationId xmlns:a16="http://schemas.microsoft.com/office/drawing/2014/main" id="{4602413E-EA9B-697E-10DB-FE3EA97A37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14009" y="2280877"/>
                <a:ext cx="0" cy="18008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線接點 41">
                <a:extLst>
                  <a:ext uri="{FF2B5EF4-FFF2-40B4-BE49-F238E27FC236}">
                    <a16:creationId xmlns:a16="http://schemas.microsoft.com/office/drawing/2014/main" id="{4A69F87D-8301-4770-088E-74A93B2CA2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6797" y="2347244"/>
                <a:ext cx="0" cy="11371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線接點 42">
                <a:extLst>
                  <a:ext uri="{FF2B5EF4-FFF2-40B4-BE49-F238E27FC236}">
                    <a16:creationId xmlns:a16="http://schemas.microsoft.com/office/drawing/2014/main" id="{1E73AAEB-248E-56EA-102C-54A6ACB4CB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3552" y="2290239"/>
                <a:ext cx="0" cy="17072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線接點 43">
                <a:extLst>
                  <a:ext uri="{FF2B5EF4-FFF2-40B4-BE49-F238E27FC236}">
                    <a16:creationId xmlns:a16="http://schemas.microsoft.com/office/drawing/2014/main" id="{B1491A0B-0856-F89D-7037-C9FB24C4C0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926" y="2290239"/>
                <a:ext cx="0" cy="17072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線接點 44">
                <a:extLst>
                  <a:ext uri="{FF2B5EF4-FFF2-40B4-BE49-F238E27FC236}">
                    <a16:creationId xmlns:a16="http://schemas.microsoft.com/office/drawing/2014/main" id="{1A82F93A-50C0-8D3D-3289-7888179AF8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786" y="2139327"/>
                <a:ext cx="0" cy="32163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線接點 45">
                <a:extLst>
                  <a:ext uri="{FF2B5EF4-FFF2-40B4-BE49-F238E27FC236}">
                    <a16:creationId xmlns:a16="http://schemas.microsoft.com/office/drawing/2014/main" id="{ED1168C2-477E-B9B4-D0E8-3DFB79400B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604" y="2382768"/>
                <a:ext cx="0" cy="78194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BD83A19D-9D77-B698-2134-E7435AF927CD}"/>
                </a:ext>
              </a:extLst>
            </p:cNvPr>
            <p:cNvGrpSpPr/>
            <p:nvPr/>
          </p:nvGrpSpPr>
          <p:grpSpPr>
            <a:xfrm>
              <a:off x="1600736" y="1971768"/>
              <a:ext cx="519390" cy="253873"/>
              <a:chOff x="-1868836" y="1912156"/>
              <a:chExt cx="1829670" cy="866762"/>
            </a:xfrm>
          </p:grpSpPr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C6E1062B-FE95-7C0D-08BA-6C7DC20A5502}"/>
                  </a:ext>
                </a:extLst>
              </p:cNvPr>
              <p:cNvSpPr/>
              <p:nvPr/>
            </p:nvSpPr>
            <p:spPr>
              <a:xfrm>
                <a:off x="-1868836" y="1912156"/>
                <a:ext cx="1829670" cy="8667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24" name="直線接點 23">
                <a:extLst>
                  <a:ext uri="{FF2B5EF4-FFF2-40B4-BE49-F238E27FC236}">
                    <a16:creationId xmlns:a16="http://schemas.microsoft.com/office/drawing/2014/main" id="{8F1EFAB1-26C6-FCCB-A40C-A7694657C8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608593" y="2281512"/>
                <a:ext cx="0" cy="49740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線接點 24">
                <a:extLst>
                  <a:ext uri="{FF2B5EF4-FFF2-40B4-BE49-F238E27FC236}">
                    <a16:creationId xmlns:a16="http://schemas.microsoft.com/office/drawing/2014/main" id="{77A737B0-B6BB-C904-D918-C526B8BE12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501002" y="2530215"/>
                <a:ext cx="0" cy="24870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接點 25">
                <a:extLst>
                  <a:ext uri="{FF2B5EF4-FFF2-40B4-BE49-F238E27FC236}">
                    <a16:creationId xmlns:a16="http://schemas.microsoft.com/office/drawing/2014/main" id="{72ABF625-8C7E-1A07-7E7C-F2F7145BD2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371892" y="2448539"/>
                <a:ext cx="0" cy="33037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接點 26">
                <a:extLst>
                  <a:ext uri="{FF2B5EF4-FFF2-40B4-BE49-F238E27FC236}">
                    <a16:creationId xmlns:a16="http://schemas.microsoft.com/office/drawing/2014/main" id="{C7E9FEAB-9E6B-01C8-6C3C-190517CD89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237403" y="2463475"/>
                <a:ext cx="0" cy="315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接點 27">
                <a:extLst>
                  <a:ext uri="{FF2B5EF4-FFF2-40B4-BE49-F238E27FC236}">
                    <a16:creationId xmlns:a16="http://schemas.microsoft.com/office/drawing/2014/main" id="{756FA952-665A-C4BE-CEA3-91206B0ED9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127121" y="2345537"/>
                <a:ext cx="0" cy="43338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接點 28">
                <a:extLst>
                  <a:ext uri="{FF2B5EF4-FFF2-40B4-BE49-F238E27FC236}">
                    <a16:creationId xmlns:a16="http://schemas.microsoft.com/office/drawing/2014/main" id="{E8705C44-8079-8B92-3902-063941D8EF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98489" y="2405097"/>
                <a:ext cx="0" cy="37382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接點 29">
                <a:extLst>
                  <a:ext uri="{FF2B5EF4-FFF2-40B4-BE49-F238E27FC236}">
                    <a16:creationId xmlns:a16="http://schemas.microsoft.com/office/drawing/2014/main" id="{A09478ED-C549-08B5-9D27-276138EE07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42004" y="2542862"/>
                <a:ext cx="0" cy="23605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接點 30">
                <a:extLst>
                  <a:ext uri="{FF2B5EF4-FFF2-40B4-BE49-F238E27FC236}">
                    <a16:creationId xmlns:a16="http://schemas.microsoft.com/office/drawing/2014/main" id="{3C042DF5-3F9A-066F-F881-74FD15EDB6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09726" y="2424531"/>
                <a:ext cx="0" cy="354387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接點 31">
                <a:extLst>
                  <a:ext uri="{FF2B5EF4-FFF2-40B4-BE49-F238E27FC236}">
                    <a16:creationId xmlns:a16="http://schemas.microsoft.com/office/drawing/2014/main" id="{0BE321CE-98BD-D4A3-5456-5DA4D90FA7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745171" y="2424531"/>
                <a:ext cx="0" cy="354387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接點 32">
                <a:extLst>
                  <a:ext uri="{FF2B5EF4-FFF2-40B4-BE49-F238E27FC236}">
                    <a16:creationId xmlns:a16="http://schemas.microsoft.com/office/drawing/2014/main" id="{3589A607-638F-889E-4C63-51ED3C7537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83756" y="2507997"/>
                <a:ext cx="0" cy="27092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接點 33">
                <a:extLst>
                  <a:ext uri="{FF2B5EF4-FFF2-40B4-BE49-F238E27FC236}">
                    <a16:creationId xmlns:a16="http://schemas.microsoft.com/office/drawing/2014/main" id="{7E085A6F-181D-4925-F171-D6DD92AD9A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303540" y="2025684"/>
                <a:ext cx="0" cy="753234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9" name="矩形: 圓角 58">
            <a:extLst>
              <a:ext uri="{FF2B5EF4-FFF2-40B4-BE49-F238E27FC236}">
                <a16:creationId xmlns:a16="http://schemas.microsoft.com/office/drawing/2014/main" id="{75520A1D-8B29-4F42-52C8-7A3075F016A2}"/>
              </a:ext>
            </a:extLst>
          </p:cNvPr>
          <p:cNvSpPr/>
          <p:nvPr/>
        </p:nvSpPr>
        <p:spPr>
          <a:xfrm>
            <a:off x="77704" y="6213435"/>
            <a:ext cx="2441543" cy="4713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Data preprocessing</a:t>
            </a:r>
            <a:endParaRPr lang="zh-TW" altLang="en-US" sz="1600" dirty="0"/>
          </a:p>
        </p:txBody>
      </p:sp>
      <p:sp>
        <p:nvSpPr>
          <p:cNvPr id="61" name="矩形: 圓角 60">
            <a:extLst>
              <a:ext uri="{FF2B5EF4-FFF2-40B4-BE49-F238E27FC236}">
                <a16:creationId xmlns:a16="http://schemas.microsoft.com/office/drawing/2014/main" id="{480C1F6A-9F6B-62E9-94F8-71B23AF1D572}"/>
              </a:ext>
            </a:extLst>
          </p:cNvPr>
          <p:cNvSpPr/>
          <p:nvPr/>
        </p:nvSpPr>
        <p:spPr>
          <a:xfrm>
            <a:off x="3311950" y="1365981"/>
            <a:ext cx="2441543" cy="4713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Prepare trainable dataset</a:t>
            </a:r>
            <a:endParaRPr lang="zh-TW" altLang="en-US" sz="1600" dirty="0"/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8D746605-12BD-BC22-2C6E-E0D9EEE8E067}"/>
              </a:ext>
            </a:extLst>
          </p:cNvPr>
          <p:cNvSpPr/>
          <p:nvPr/>
        </p:nvSpPr>
        <p:spPr>
          <a:xfrm>
            <a:off x="6271044" y="1427079"/>
            <a:ext cx="2441543" cy="4713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Train models (adjustable)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3108790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7364D7E1-80B0-F544-4518-6B721A15C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504" y="201097"/>
            <a:ext cx="5650345" cy="479346"/>
          </a:xfrm>
        </p:spPr>
        <p:txBody>
          <a:bodyPr>
            <a:normAutofit/>
          </a:bodyPr>
          <a:lstStyle/>
          <a:p>
            <a:r>
              <a:rPr kumimoji="1" lang="en-US" altLang="zh-TW" sz="2400"/>
              <a:t>Fig 1. Pipeline of </a:t>
            </a:r>
            <a:r>
              <a:rPr kumimoji="1" lang="en-US" altLang="zh-TW" sz="2400" err="1"/>
              <a:t>GlycoMSParser</a:t>
            </a:r>
            <a:endParaRPr kumimoji="1" lang="en-US" altLang="zh-TW" sz="2400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03ACEC57-CEC9-2A45-81F3-DFB680687688}"/>
              </a:ext>
            </a:extLst>
          </p:cNvPr>
          <p:cNvGrpSpPr/>
          <p:nvPr/>
        </p:nvGrpSpPr>
        <p:grpSpPr>
          <a:xfrm>
            <a:off x="3302404" y="2026260"/>
            <a:ext cx="289110" cy="504581"/>
            <a:chOff x="1025236" y="3389004"/>
            <a:chExt cx="591127" cy="1074273"/>
          </a:xfrm>
        </p:grpSpPr>
        <p:sp>
          <p:nvSpPr>
            <p:cNvPr id="22" name="箭號: 向下 21">
              <a:extLst>
                <a:ext uri="{FF2B5EF4-FFF2-40B4-BE49-F238E27FC236}">
                  <a16:creationId xmlns:a16="http://schemas.microsoft.com/office/drawing/2014/main" id="{31336250-A5EC-D3AB-50C9-E60E52D606E7}"/>
                </a:ext>
              </a:extLst>
            </p:cNvPr>
            <p:cNvSpPr/>
            <p:nvPr/>
          </p:nvSpPr>
          <p:spPr>
            <a:xfrm>
              <a:off x="1025236" y="3884850"/>
              <a:ext cx="591127" cy="578427"/>
            </a:xfrm>
            <a:prstGeom prst="downArrow">
              <a:avLst>
                <a:gd name="adj1" fmla="val 50000"/>
                <a:gd name="adj2" fmla="val 56217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D03CB89-93A7-6A33-BF91-1CECE3924221}"/>
                </a:ext>
              </a:extLst>
            </p:cNvPr>
            <p:cNvSpPr/>
            <p:nvPr/>
          </p:nvSpPr>
          <p:spPr>
            <a:xfrm>
              <a:off x="1174750" y="3517414"/>
              <a:ext cx="295200" cy="85726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62C2EE9-51FF-DC2D-2A98-C76B75EEC7CC}"/>
                </a:ext>
              </a:extLst>
            </p:cNvPr>
            <p:cNvSpPr/>
            <p:nvPr/>
          </p:nvSpPr>
          <p:spPr>
            <a:xfrm>
              <a:off x="1174750" y="3389004"/>
              <a:ext cx="295200" cy="69364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447978B-29BF-9D31-EA23-25C87004CC58}"/>
                </a:ext>
              </a:extLst>
            </p:cNvPr>
            <p:cNvSpPr/>
            <p:nvPr/>
          </p:nvSpPr>
          <p:spPr>
            <a:xfrm>
              <a:off x="1174750" y="3654911"/>
              <a:ext cx="295200" cy="172794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21" name="流程圖: 替代程序 20">
            <a:extLst>
              <a:ext uri="{FF2B5EF4-FFF2-40B4-BE49-F238E27FC236}">
                <a16:creationId xmlns:a16="http://schemas.microsoft.com/office/drawing/2014/main" id="{1935F4D2-CDD9-B705-66DE-091E9FB570CB}"/>
              </a:ext>
            </a:extLst>
          </p:cNvPr>
          <p:cNvSpPr/>
          <p:nvPr/>
        </p:nvSpPr>
        <p:spPr>
          <a:xfrm>
            <a:off x="7813959" y="3612201"/>
            <a:ext cx="982980" cy="248662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38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Developing</a:t>
            </a: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2240" name="群組 2239">
            <a:extLst>
              <a:ext uri="{FF2B5EF4-FFF2-40B4-BE49-F238E27FC236}">
                <a16:creationId xmlns:a16="http://schemas.microsoft.com/office/drawing/2014/main" id="{48ECC067-1B98-F313-77A0-7C185941294B}"/>
              </a:ext>
            </a:extLst>
          </p:cNvPr>
          <p:cNvGrpSpPr/>
          <p:nvPr/>
        </p:nvGrpSpPr>
        <p:grpSpPr>
          <a:xfrm>
            <a:off x="416257" y="1085570"/>
            <a:ext cx="1439616" cy="706214"/>
            <a:chOff x="-268499" y="849400"/>
            <a:chExt cx="1681689" cy="824963"/>
          </a:xfrm>
        </p:grpSpPr>
        <p:pic>
          <p:nvPicPr>
            <p:cNvPr id="2241" name="圖片 2240">
              <a:extLst>
                <a:ext uri="{FF2B5EF4-FFF2-40B4-BE49-F238E27FC236}">
                  <a16:creationId xmlns:a16="http://schemas.microsoft.com/office/drawing/2014/main" id="{9A073847-9844-A1B5-12B0-7015D4E70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E"/>
                </a:clrFrom>
                <a:clrTo>
                  <a:srgbClr val="FFFFF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43409" y="849400"/>
              <a:ext cx="630942" cy="630942"/>
            </a:xfrm>
            <a:prstGeom prst="rect">
              <a:avLst/>
            </a:prstGeom>
          </p:spPr>
        </p:pic>
        <p:sp>
          <p:nvSpPr>
            <p:cNvPr id="2243" name="文字方塊 2242">
              <a:extLst>
                <a:ext uri="{FF2B5EF4-FFF2-40B4-BE49-F238E27FC236}">
                  <a16:creationId xmlns:a16="http://schemas.microsoft.com/office/drawing/2014/main" id="{B4E82121-F7D7-5213-B97B-0F0A58F1304E}"/>
                </a:ext>
              </a:extLst>
            </p:cNvPr>
            <p:cNvSpPr txBox="1"/>
            <p:nvPr/>
          </p:nvSpPr>
          <p:spPr>
            <a:xfrm>
              <a:off x="-268499" y="1350787"/>
              <a:ext cx="1681689" cy="3235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altLang="zh-TW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ThermoFisher</a:t>
              </a:r>
              <a:r>
                <a:rPr kumimoji="0" lang="en-US" altLang="zh-TW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 RAW</a:t>
              </a:r>
            </a:p>
          </p:txBody>
        </p:sp>
      </p:grpSp>
      <p:grpSp>
        <p:nvGrpSpPr>
          <p:cNvPr id="2254" name="群組 2253">
            <a:extLst>
              <a:ext uri="{FF2B5EF4-FFF2-40B4-BE49-F238E27FC236}">
                <a16:creationId xmlns:a16="http://schemas.microsoft.com/office/drawing/2014/main" id="{5B8EC9CE-6F72-8AA8-0AEC-705764A69223}"/>
              </a:ext>
            </a:extLst>
          </p:cNvPr>
          <p:cNvGrpSpPr/>
          <p:nvPr/>
        </p:nvGrpSpPr>
        <p:grpSpPr>
          <a:xfrm>
            <a:off x="810194" y="2649482"/>
            <a:ext cx="474082" cy="479047"/>
            <a:chOff x="1524001" y="1722121"/>
            <a:chExt cx="586018" cy="612785"/>
          </a:xfrm>
        </p:grpSpPr>
        <p:sp>
          <p:nvSpPr>
            <p:cNvPr id="2294" name="矩形 2293">
              <a:extLst>
                <a:ext uri="{FF2B5EF4-FFF2-40B4-BE49-F238E27FC236}">
                  <a16:creationId xmlns:a16="http://schemas.microsoft.com/office/drawing/2014/main" id="{07E8A385-7147-5F97-7500-A2BBAB2E44A8}"/>
                </a:ext>
              </a:extLst>
            </p:cNvPr>
            <p:cNvSpPr/>
            <p:nvPr/>
          </p:nvSpPr>
          <p:spPr>
            <a:xfrm>
              <a:off x="1609843" y="1889715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291" name="矩形 2290">
              <a:extLst>
                <a:ext uri="{FF2B5EF4-FFF2-40B4-BE49-F238E27FC236}">
                  <a16:creationId xmlns:a16="http://schemas.microsoft.com/office/drawing/2014/main" id="{D6BC3B85-0759-01D9-2646-78783C758174}"/>
                </a:ext>
              </a:extLst>
            </p:cNvPr>
            <p:cNvSpPr/>
            <p:nvPr/>
          </p:nvSpPr>
          <p:spPr>
            <a:xfrm>
              <a:off x="1563468" y="1901716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268" name="矩形 2267">
              <a:extLst>
                <a:ext uri="{FF2B5EF4-FFF2-40B4-BE49-F238E27FC236}">
                  <a16:creationId xmlns:a16="http://schemas.microsoft.com/office/drawing/2014/main" id="{A1969F6E-2B31-241F-FD2A-08266EBAEAE0}"/>
                </a:ext>
              </a:extLst>
            </p:cNvPr>
            <p:cNvSpPr/>
            <p:nvPr/>
          </p:nvSpPr>
          <p:spPr>
            <a:xfrm>
              <a:off x="1524578" y="1908186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269" name="流程圖: 多重文件 2268">
              <a:extLst>
                <a:ext uri="{FF2B5EF4-FFF2-40B4-BE49-F238E27FC236}">
                  <a16:creationId xmlns:a16="http://schemas.microsoft.com/office/drawing/2014/main" id="{B9C81DE0-E559-00DA-2B3A-93F852EB17C1}"/>
                </a:ext>
              </a:extLst>
            </p:cNvPr>
            <p:cNvSpPr/>
            <p:nvPr/>
          </p:nvSpPr>
          <p:spPr>
            <a:xfrm>
              <a:off x="1524001" y="1722121"/>
              <a:ext cx="583874" cy="266700"/>
            </a:xfrm>
            <a:prstGeom prst="flowChartMultidocumen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MS2</a:t>
              </a:r>
              <a:endParaRPr kumimoji="0" lang="zh-TW" alt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cxnSp>
          <p:nvCxnSpPr>
            <p:cNvPr id="2279" name="直線接點 2278">
              <a:extLst>
                <a:ext uri="{FF2B5EF4-FFF2-40B4-BE49-F238E27FC236}">
                  <a16:creationId xmlns:a16="http://schemas.microsoft.com/office/drawing/2014/main" id="{E46533C1-8834-D728-43BE-77DDC3B237F3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040601"/>
              <a:ext cx="413611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7" name="直線接點 2286">
              <a:extLst>
                <a:ext uri="{FF2B5EF4-FFF2-40B4-BE49-F238E27FC236}">
                  <a16:creationId xmlns:a16="http://schemas.microsoft.com/office/drawing/2014/main" id="{3BE9DF29-37C0-6F84-44F7-E990C6616C42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106120"/>
              <a:ext cx="413611" cy="0"/>
            </a:xfrm>
            <a:prstGeom prst="line">
              <a:avLst/>
            </a:prstGeom>
            <a:ln w="12700" cmpd="sng">
              <a:solidFill>
                <a:schemeClr val="accent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8" name="直線接點 2287">
              <a:extLst>
                <a:ext uri="{FF2B5EF4-FFF2-40B4-BE49-F238E27FC236}">
                  <a16:creationId xmlns:a16="http://schemas.microsoft.com/office/drawing/2014/main" id="{BC8A0AF9-C507-2BA3-4AD2-EF261C262FCA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8" y="2148957"/>
              <a:ext cx="413611" cy="0"/>
            </a:xfrm>
            <a:prstGeom prst="line">
              <a:avLst/>
            </a:prstGeom>
            <a:ln w="12700" cmpd="sng">
              <a:solidFill>
                <a:schemeClr val="accent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9" name="直線接點 2288">
              <a:extLst>
                <a:ext uri="{FF2B5EF4-FFF2-40B4-BE49-F238E27FC236}">
                  <a16:creationId xmlns:a16="http://schemas.microsoft.com/office/drawing/2014/main" id="{FA001BF8-F357-200E-B259-3B6FB8CFC93D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206832"/>
              <a:ext cx="413611" cy="0"/>
            </a:xfrm>
            <a:prstGeom prst="line">
              <a:avLst/>
            </a:prstGeom>
            <a:ln w="12700" cmpd="sng">
              <a:solidFill>
                <a:schemeClr val="accent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0" name="直線接點 2289">
              <a:extLst>
                <a:ext uri="{FF2B5EF4-FFF2-40B4-BE49-F238E27FC236}">
                  <a16:creationId xmlns:a16="http://schemas.microsoft.com/office/drawing/2014/main" id="{A85D7D76-98DB-78EA-F62C-2655CC72C3BF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8" y="2254987"/>
              <a:ext cx="413611" cy="0"/>
            </a:xfrm>
            <a:prstGeom prst="line">
              <a:avLst/>
            </a:prstGeom>
            <a:ln w="12700" cmpd="sng">
              <a:solidFill>
                <a:schemeClr val="accent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55" name="文字方塊 2254">
            <a:extLst>
              <a:ext uri="{FF2B5EF4-FFF2-40B4-BE49-F238E27FC236}">
                <a16:creationId xmlns:a16="http://schemas.microsoft.com/office/drawing/2014/main" id="{6C5BF72D-673E-2F7A-3753-E6A1DBD362F3}"/>
              </a:ext>
            </a:extLst>
          </p:cNvPr>
          <p:cNvSpPr txBox="1"/>
          <p:nvPr/>
        </p:nvSpPr>
        <p:spPr>
          <a:xfrm>
            <a:off x="242583" y="3113498"/>
            <a:ext cx="16408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Extracted MS2 data list</a:t>
            </a: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298" name="箭號: 向右 2297">
            <a:extLst>
              <a:ext uri="{FF2B5EF4-FFF2-40B4-BE49-F238E27FC236}">
                <a16:creationId xmlns:a16="http://schemas.microsoft.com/office/drawing/2014/main" id="{68977EBC-88D1-ADD5-84A2-6B9020DDF7D4}"/>
              </a:ext>
            </a:extLst>
          </p:cNvPr>
          <p:cNvSpPr/>
          <p:nvPr/>
        </p:nvSpPr>
        <p:spPr>
          <a:xfrm>
            <a:off x="1597060" y="2720493"/>
            <a:ext cx="1247808" cy="281858"/>
          </a:xfrm>
          <a:prstGeom prst="rightArrow">
            <a:avLst>
              <a:gd name="adj1" fmla="val 50000"/>
              <a:gd name="adj2" fmla="val 10082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67" name="箭號: 向右 1066">
            <a:extLst>
              <a:ext uri="{FF2B5EF4-FFF2-40B4-BE49-F238E27FC236}">
                <a16:creationId xmlns:a16="http://schemas.microsoft.com/office/drawing/2014/main" id="{882535F0-CC33-04CC-FA3F-DE896DAE5888}"/>
              </a:ext>
            </a:extLst>
          </p:cNvPr>
          <p:cNvSpPr/>
          <p:nvPr/>
        </p:nvSpPr>
        <p:spPr>
          <a:xfrm rot="5400000">
            <a:off x="900505" y="2242366"/>
            <a:ext cx="362904" cy="281858"/>
          </a:xfrm>
          <a:prstGeom prst="rightArrow">
            <a:avLst>
              <a:gd name="adj1" fmla="val 50000"/>
              <a:gd name="adj2" fmla="val 6297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311" name="文字方塊 2310">
            <a:extLst>
              <a:ext uri="{FF2B5EF4-FFF2-40B4-BE49-F238E27FC236}">
                <a16:creationId xmlns:a16="http://schemas.microsoft.com/office/drawing/2014/main" id="{6AF9830E-37A2-7C53-6074-A25355B706F7}"/>
              </a:ext>
            </a:extLst>
          </p:cNvPr>
          <p:cNvSpPr txBox="1"/>
          <p:nvPr/>
        </p:nvSpPr>
        <p:spPr>
          <a:xfrm>
            <a:off x="123641" y="2567899"/>
            <a:ext cx="571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👀</a:t>
            </a:r>
            <a:endParaRPr kumimoji="0" lang="zh-TW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313" name="文字方塊 2312">
            <a:extLst>
              <a:ext uri="{FF2B5EF4-FFF2-40B4-BE49-F238E27FC236}">
                <a16:creationId xmlns:a16="http://schemas.microsoft.com/office/drawing/2014/main" id="{C5CBEC18-D932-9F58-866C-5B6F90938E91}"/>
              </a:ext>
            </a:extLst>
          </p:cNvPr>
          <p:cNvSpPr txBox="1"/>
          <p:nvPr/>
        </p:nvSpPr>
        <p:spPr>
          <a:xfrm>
            <a:off x="1326787" y="2560656"/>
            <a:ext cx="16456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Calculate mass in [H+] form</a:t>
            </a:r>
            <a:endParaRPr kumimoji="0" lang="zh-TW" altLang="en-US" sz="10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358" name="文字方塊 2357">
            <a:extLst>
              <a:ext uri="{FF2B5EF4-FFF2-40B4-BE49-F238E27FC236}">
                <a16:creationId xmlns:a16="http://schemas.microsoft.com/office/drawing/2014/main" id="{CCE542AC-3C86-B3D6-4975-A5098071A530}"/>
              </a:ext>
            </a:extLst>
          </p:cNvPr>
          <p:cNvSpPr txBox="1"/>
          <p:nvPr/>
        </p:nvSpPr>
        <p:spPr>
          <a:xfrm>
            <a:off x="2348871" y="1429296"/>
            <a:ext cx="26201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In silico glycan composition + mass list</a:t>
            </a: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383" name="文字方塊 2382">
            <a:extLst>
              <a:ext uri="{FF2B5EF4-FFF2-40B4-BE49-F238E27FC236}">
                <a16:creationId xmlns:a16="http://schemas.microsoft.com/office/drawing/2014/main" id="{CBD7E9DE-EDB7-3F31-FBCC-68EBE08DC387}"/>
              </a:ext>
            </a:extLst>
          </p:cNvPr>
          <p:cNvSpPr txBox="1"/>
          <p:nvPr/>
        </p:nvSpPr>
        <p:spPr>
          <a:xfrm>
            <a:off x="1320647" y="3635333"/>
            <a:ext cx="2339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b="1">
                <a:solidFill>
                  <a:srgbClr val="FFC000"/>
                </a:solidFill>
                <a:latin typeface="Calibri" panose="020F0502020204030204"/>
                <a:ea typeface="新細明體" panose="02020500000000000000" pitchFamily="18" charset="-120"/>
              </a:rPr>
              <a:t>B. Try to learn features</a:t>
            </a:r>
            <a:endParaRPr kumimoji="0" lang="zh-TW" altLang="en-US" sz="1400" b="1" i="0" u="none" strike="noStrike" kern="1200" cap="none" spc="0" normalizeH="0" baseline="0" noProof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8215F17E-454B-88D1-FFAE-34BE0826FB7F}"/>
              </a:ext>
            </a:extLst>
          </p:cNvPr>
          <p:cNvGrpSpPr/>
          <p:nvPr/>
        </p:nvGrpSpPr>
        <p:grpSpPr>
          <a:xfrm>
            <a:off x="7175892" y="4813798"/>
            <a:ext cx="136283" cy="189255"/>
            <a:chOff x="3668300" y="947688"/>
            <a:chExt cx="241301" cy="335093"/>
          </a:xfrm>
        </p:grpSpPr>
        <p:sp>
          <p:nvSpPr>
            <p:cNvPr id="19" name="AutoShape 167">
              <a:extLst>
                <a:ext uri="{FF2B5EF4-FFF2-40B4-BE49-F238E27FC236}">
                  <a16:creationId xmlns:a16="http://schemas.microsoft.com/office/drawing/2014/main" id="{0B3A5870-B2CC-2CC5-3614-0AC85E218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300" y="947688"/>
              <a:ext cx="241301" cy="241379"/>
            </a:xfrm>
            <a:prstGeom prst="diamond">
              <a:avLst/>
            </a:prstGeom>
            <a:solidFill>
              <a:srgbClr val="AB4CA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200"/>
            </a:p>
          </p:txBody>
        </p:sp>
        <p:sp>
          <p:nvSpPr>
            <p:cNvPr id="20" name="Line 31">
              <a:extLst>
                <a:ext uri="{FF2B5EF4-FFF2-40B4-BE49-F238E27FC236}">
                  <a16:creationId xmlns:a16="http://schemas.microsoft.com/office/drawing/2014/main" id="{CC8E2BB2-0522-BC64-07EA-853D2A80B3F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44908" y="1236919"/>
              <a:ext cx="917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D93C2079-DFB3-BF76-882C-6B9AC9F0FF6B}"/>
              </a:ext>
            </a:extLst>
          </p:cNvPr>
          <p:cNvGrpSpPr/>
          <p:nvPr/>
        </p:nvGrpSpPr>
        <p:grpSpPr>
          <a:xfrm>
            <a:off x="7649186" y="4765476"/>
            <a:ext cx="118028" cy="257451"/>
            <a:chOff x="3403470" y="1644177"/>
            <a:chExt cx="208979" cy="455840"/>
          </a:xfrm>
        </p:grpSpPr>
        <p:sp>
          <p:nvSpPr>
            <p:cNvPr id="31" name="Rectangle 34">
              <a:extLst>
                <a:ext uri="{FF2B5EF4-FFF2-40B4-BE49-F238E27FC236}">
                  <a16:creationId xmlns:a16="http://schemas.microsoft.com/office/drawing/2014/main" id="{A7C1CEF3-1158-83FF-D541-038CAAE64F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413252" y="1912297"/>
              <a:ext cx="187817" cy="187624"/>
            </a:xfrm>
            <a:prstGeom prst="rect">
              <a:avLst/>
            </a:prstGeom>
            <a:solidFill>
              <a:srgbClr val="0073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200"/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00672C23-F368-BC4A-058A-9E636F6578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19200" y="1822553"/>
              <a:ext cx="179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13">
              <a:extLst>
                <a:ext uri="{FF2B5EF4-FFF2-40B4-BE49-F238E27FC236}">
                  <a16:creationId xmlns:a16="http://schemas.microsoft.com/office/drawing/2014/main" id="{717239C6-9550-BA46-C36B-48ECA1596D5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403363" y="1644284"/>
              <a:ext cx="209194" cy="208979"/>
            </a:xfrm>
            <a:prstGeom prst="ellipse">
              <a:avLst/>
            </a:prstGeom>
            <a:solidFill>
              <a:srgbClr val="FFD4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200"/>
            </a:p>
          </p:txBody>
        </p:sp>
      </p:grpSp>
      <p:grpSp>
        <p:nvGrpSpPr>
          <p:cNvPr id="1027" name="群組 1026">
            <a:extLst>
              <a:ext uri="{FF2B5EF4-FFF2-40B4-BE49-F238E27FC236}">
                <a16:creationId xmlns:a16="http://schemas.microsoft.com/office/drawing/2014/main" id="{32DD9109-E440-B79B-857B-3BAD5BFF9731}"/>
              </a:ext>
            </a:extLst>
          </p:cNvPr>
          <p:cNvGrpSpPr/>
          <p:nvPr/>
        </p:nvGrpSpPr>
        <p:grpSpPr>
          <a:xfrm>
            <a:off x="1099496" y="943336"/>
            <a:ext cx="867063" cy="501249"/>
            <a:chOff x="1253063" y="1724392"/>
            <a:chExt cx="867063" cy="501249"/>
          </a:xfrm>
        </p:grpSpPr>
        <p:grpSp>
          <p:nvGrpSpPr>
            <p:cNvPr id="2242" name="群組 2241">
              <a:extLst>
                <a:ext uri="{FF2B5EF4-FFF2-40B4-BE49-F238E27FC236}">
                  <a16:creationId xmlns:a16="http://schemas.microsoft.com/office/drawing/2014/main" id="{C3F7A16B-C1C8-8602-12EA-B76B4CE73356}"/>
                </a:ext>
              </a:extLst>
            </p:cNvPr>
            <p:cNvGrpSpPr/>
            <p:nvPr/>
          </p:nvGrpSpPr>
          <p:grpSpPr>
            <a:xfrm>
              <a:off x="1253063" y="1724392"/>
              <a:ext cx="519390" cy="253873"/>
              <a:chOff x="-1868836" y="1912156"/>
              <a:chExt cx="1829670" cy="866762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6179F712-17EF-E777-7BAE-B377B09D2663}"/>
                  </a:ext>
                </a:extLst>
              </p:cNvPr>
              <p:cNvSpPr/>
              <p:nvPr/>
            </p:nvSpPr>
            <p:spPr>
              <a:xfrm>
                <a:off x="-1868836" y="1912156"/>
                <a:ext cx="1829670" cy="8667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5" name="直線接點 4">
                <a:extLst>
                  <a:ext uri="{FF2B5EF4-FFF2-40B4-BE49-F238E27FC236}">
                    <a16:creationId xmlns:a16="http://schemas.microsoft.com/office/drawing/2014/main" id="{86237736-5776-9EC4-CD80-EDF202BF0C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608593" y="2281512"/>
                <a:ext cx="0" cy="49740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線接點 6">
                <a:extLst>
                  <a:ext uri="{FF2B5EF4-FFF2-40B4-BE49-F238E27FC236}">
                    <a16:creationId xmlns:a16="http://schemas.microsoft.com/office/drawing/2014/main" id="{0E5469D0-B4E5-3647-E17A-60EBB04B5F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501002" y="2530215"/>
                <a:ext cx="0" cy="24870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接點 7">
                <a:extLst>
                  <a:ext uri="{FF2B5EF4-FFF2-40B4-BE49-F238E27FC236}">
                    <a16:creationId xmlns:a16="http://schemas.microsoft.com/office/drawing/2014/main" id="{59FE45AE-2451-8A34-96D3-4FC13BE5E4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371892" y="2448539"/>
                <a:ext cx="0" cy="33037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線接點 8">
                <a:extLst>
                  <a:ext uri="{FF2B5EF4-FFF2-40B4-BE49-F238E27FC236}">
                    <a16:creationId xmlns:a16="http://schemas.microsoft.com/office/drawing/2014/main" id="{C7E565B7-3ADD-43A8-467E-EA38376C2C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237403" y="2463475"/>
                <a:ext cx="0" cy="315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線接點 9">
                <a:extLst>
                  <a:ext uri="{FF2B5EF4-FFF2-40B4-BE49-F238E27FC236}">
                    <a16:creationId xmlns:a16="http://schemas.microsoft.com/office/drawing/2014/main" id="{3F64B073-809F-8601-2AC1-D9565E1762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127121" y="2345537"/>
                <a:ext cx="0" cy="43338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線接點 10">
                <a:extLst>
                  <a:ext uri="{FF2B5EF4-FFF2-40B4-BE49-F238E27FC236}">
                    <a16:creationId xmlns:a16="http://schemas.microsoft.com/office/drawing/2014/main" id="{ECCBBCCE-A5A0-4992-DAB9-B4AD33F21C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98489" y="2405097"/>
                <a:ext cx="0" cy="37382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線接點 11">
                <a:extLst>
                  <a:ext uri="{FF2B5EF4-FFF2-40B4-BE49-F238E27FC236}">
                    <a16:creationId xmlns:a16="http://schemas.microsoft.com/office/drawing/2014/main" id="{01062C6D-8DF1-B3DB-5491-C8BA9B66E5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42004" y="2542862"/>
                <a:ext cx="0" cy="23605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線接點 12">
                <a:extLst>
                  <a:ext uri="{FF2B5EF4-FFF2-40B4-BE49-F238E27FC236}">
                    <a16:creationId xmlns:a16="http://schemas.microsoft.com/office/drawing/2014/main" id="{A2FE2EF4-CEFF-1EB6-BAEF-B64B64A1BC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09726" y="2424531"/>
                <a:ext cx="0" cy="354387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線接點 13">
                <a:extLst>
                  <a:ext uri="{FF2B5EF4-FFF2-40B4-BE49-F238E27FC236}">
                    <a16:creationId xmlns:a16="http://schemas.microsoft.com/office/drawing/2014/main" id="{779A627F-EA04-A3A3-BCFF-B4DDC1A730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745171" y="2424531"/>
                <a:ext cx="0" cy="354387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接點 14">
                <a:extLst>
                  <a:ext uri="{FF2B5EF4-FFF2-40B4-BE49-F238E27FC236}">
                    <a16:creationId xmlns:a16="http://schemas.microsoft.com/office/drawing/2014/main" id="{DEE9C7FD-B0C8-BD94-18E1-D4988B57CE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83756" y="2507997"/>
                <a:ext cx="0" cy="27092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0C9D4C12-CD68-75C1-7F5C-3FB95CDBAE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303540" y="2025684"/>
                <a:ext cx="0" cy="753234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65" name="群組 2264">
              <a:extLst>
                <a:ext uri="{FF2B5EF4-FFF2-40B4-BE49-F238E27FC236}">
                  <a16:creationId xmlns:a16="http://schemas.microsoft.com/office/drawing/2014/main" id="{5796D3B1-AFE5-AE29-2E69-D3D4E180035C}"/>
                </a:ext>
              </a:extLst>
            </p:cNvPr>
            <p:cNvGrpSpPr/>
            <p:nvPr/>
          </p:nvGrpSpPr>
          <p:grpSpPr>
            <a:xfrm>
              <a:off x="1467181" y="1856521"/>
              <a:ext cx="513985" cy="243488"/>
              <a:chOff x="-581466" y="2043406"/>
              <a:chExt cx="881430" cy="417556"/>
            </a:xfrm>
          </p:grpSpPr>
          <p:sp>
            <p:nvSpPr>
              <p:cNvPr id="2245" name="矩形 2244">
                <a:extLst>
                  <a:ext uri="{FF2B5EF4-FFF2-40B4-BE49-F238E27FC236}">
                    <a16:creationId xmlns:a16="http://schemas.microsoft.com/office/drawing/2014/main" id="{6C3969AB-423F-22C7-CAFF-B4C949DD7FCE}"/>
                  </a:ext>
                </a:extLst>
              </p:cNvPr>
              <p:cNvSpPr/>
              <p:nvPr/>
            </p:nvSpPr>
            <p:spPr>
              <a:xfrm>
                <a:off x="-581466" y="2043406"/>
                <a:ext cx="881430" cy="4175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2246" name="直線接點 2245">
                <a:extLst>
                  <a:ext uri="{FF2B5EF4-FFF2-40B4-BE49-F238E27FC236}">
                    <a16:creationId xmlns:a16="http://schemas.microsoft.com/office/drawing/2014/main" id="{FD606AC0-5FF2-887F-EA8A-80A02F8C7E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96" y="2404103"/>
                <a:ext cx="0" cy="5685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7" name="直線接點 2246">
                <a:extLst>
                  <a:ext uri="{FF2B5EF4-FFF2-40B4-BE49-F238E27FC236}">
                    <a16:creationId xmlns:a16="http://schemas.microsoft.com/office/drawing/2014/main" id="{C30F709E-83CB-C18B-53C0-426F22DDDF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4265" y="2341151"/>
                <a:ext cx="0" cy="11981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8" name="直線接點 2247">
                <a:extLst>
                  <a:ext uri="{FF2B5EF4-FFF2-40B4-BE49-F238E27FC236}">
                    <a16:creationId xmlns:a16="http://schemas.microsoft.com/office/drawing/2014/main" id="{561C3A23-032C-0491-FCD7-012DF9748E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526217" y="2301804"/>
                <a:ext cx="0" cy="15915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9" name="直線接點 2248">
                <a:extLst>
                  <a:ext uri="{FF2B5EF4-FFF2-40B4-BE49-F238E27FC236}">
                    <a16:creationId xmlns:a16="http://schemas.microsoft.com/office/drawing/2014/main" id="{AFB2CEDD-21C8-CCD4-6A86-D1383EF281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83653" y="2309000"/>
                <a:ext cx="0" cy="151962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0" name="直線接點 2249">
                <a:extLst>
                  <a:ext uri="{FF2B5EF4-FFF2-40B4-BE49-F238E27FC236}">
                    <a16:creationId xmlns:a16="http://schemas.microsoft.com/office/drawing/2014/main" id="{01E8FD89-A10E-5FB3-A366-B5D0BD2D13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49001" y="2252184"/>
                <a:ext cx="0" cy="20877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1" name="直線接點 2250">
                <a:extLst>
                  <a:ext uri="{FF2B5EF4-FFF2-40B4-BE49-F238E27FC236}">
                    <a16:creationId xmlns:a16="http://schemas.microsoft.com/office/drawing/2014/main" id="{563C843D-E6A7-97A0-17C5-AD03D5236E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14009" y="2280877"/>
                <a:ext cx="0" cy="18008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3" name="直線接點 2252">
                <a:extLst>
                  <a:ext uri="{FF2B5EF4-FFF2-40B4-BE49-F238E27FC236}">
                    <a16:creationId xmlns:a16="http://schemas.microsoft.com/office/drawing/2014/main" id="{0A608280-ADE1-5264-3DD2-B345A153C5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6797" y="2347244"/>
                <a:ext cx="0" cy="11371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6" name="直線接點 2255">
                <a:extLst>
                  <a:ext uri="{FF2B5EF4-FFF2-40B4-BE49-F238E27FC236}">
                    <a16:creationId xmlns:a16="http://schemas.microsoft.com/office/drawing/2014/main" id="{13EF4571-5ABE-86E4-8271-D9291770F5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3552" y="2290239"/>
                <a:ext cx="0" cy="17072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7" name="直線接點 2256">
                <a:extLst>
                  <a:ext uri="{FF2B5EF4-FFF2-40B4-BE49-F238E27FC236}">
                    <a16:creationId xmlns:a16="http://schemas.microsoft.com/office/drawing/2014/main" id="{841EF8C6-725C-9A9A-7C45-189EC2CDCF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926" y="2290239"/>
                <a:ext cx="0" cy="17072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8" name="直線接點 2257">
                <a:extLst>
                  <a:ext uri="{FF2B5EF4-FFF2-40B4-BE49-F238E27FC236}">
                    <a16:creationId xmlns:a16="http://schemas.microsoft.com/office/drawing/2014/main" id="{6A528ED1-9583-2423-F8A9-E3DBABF579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786" y="2139327"/>
                <a:ext cx="0" cy="32163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9" name="直線接點 2258">
                <a:extLst>
                  <a:ext uri="{FF2B5EF4-FFF2-40B4-BE49-F238E27FC236}">
                    <a16:creationId xmlns:a16="http://schemas.microsoft.com/office/drawing/2014/main" id="{915BAE99-D204-1530-BFEB-A0C0F2C527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604" y="2382768"/>
                <a:ext cx="0" cy="78194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95" name="群組 2294">
              <a:extLst>
                <a:ext uri="{FF2B5EF4-FFF2-40B4-BE49-F238E27FC236}">
                  <a16:creationId xmlns:a16="http://schemas.microsoft.com/office/drawing/2014/main" id="{7CF27EBD-68BA-8B76-6CC8-AC4308453142}"/>
                </a:ext>
              </a:extLst>
            </p:cNvPr>
            <p:cNvGrpSpPr/>
            <p:nvPr/>
          </p:nvGrpSpPr>
          <p:grpSpPr>
            <a:xfrm>
              <a:off x="1600736" y="1971768"/>
              <a:ext cx="519390" cy="253873"/>
              <a:chOff x="-1868836" y="1912156"/>
              <a:chExt cx="1829670" cy="866762"/>
            </a:xfrm>
          </p:grpSpPr>
          <p:sp>
            <p:nvSpPr>
              <p:cNvPr id="2296" name="矩形 2295">
                <a:extLst>
                  <a:ext uri="{FF2B5EF4-FFF2-40B4-BE49-F238E27FC236}">
                    <a16:creationId xmlns:a16="http://schemas.microsoft.com/office/drawing/2014/main" id="{972F08BA-B6F1-9F88-50ED-F71830153EAB}"/>
                  </a:ext>
                </a:extLst>
              </p:cNvPr>
              <p:cNvSpPr/>
              <p:nvPr/>
            </p:nvSpPr>
            <p:spPr>
              <a:xfrm>
                <a:off x="-1868836" y="1912156"/>
                <a:ext cx="1829670" cy="8667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2297" name="直線接點 2296">
                <a:extLst>
                  <a:ext uri="{FF2B5EF4-FFF2-40B4-BE49-F238E27FC236}">
                    <a16:creationId xmlns:a16="http://schemas.microsoft.com/office/drawing/2014/main" id="{78422843-D414-7EF3-895F-3DDEF70031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608593" y="2281512"/>
                <a:ext cx="0" cy="49740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9" name="直線接點 2298">
                <a:extLst>
                  <a:ext uri="{FF2B5EF4-FFF2-40B4-BE49-F238E27FC236}">
                    <a16:creationId xmlns:a16="http://schemas.microsoft.com/office/drawing/2014/main" id="{6C5E08FB-F190-9B4C-5FE4-4EA1C47D69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501002" y="2530215"/>
                <a:ext cx="0" cy="24870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0" name="直線接點 2299">
                <a:extLst>
                  <a:ext uri="{FF2B5EF4-FFF2-40B4-BE49-F238E27FC236}">
                    <a16:creationId xmlns:a16="http://schemas.microsoft.com/office/drawing/2014/main" id="{F3DB611D-8464-F668-B976-43A018DF74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371892" y="2448539"/>
                <a:ext cx="0" cy="33037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1" name="直線接點 2300">
                <a:extLst>
                  <a:ext uri="{FF2B5EF4-FFF2-40B4-BE49-F238E27FC236}">
                    <a16:creationId xmlns:a16="http://schemas.microsoft.com/office/drawing/2014/main" id="{2C6D2EDA-FCE6-D3A7-FB26-FD4282E896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237403" y="2463475"/>
                <a:ext cx="0" cy="315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2" name="直線接點 2301">
                <a:extLst>
                  <a:ext uri="{FF2B5EF4-FFF2-40B4-BE49-F238E27FC236}">
                    <a16:creationId xmlns:a16="http://schemas.microsoft.com/office/drawing/2014/main" id="{EC34676E-7A0B-75EA-9F9C-D36176CF3A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127121" y="2345537"/>
                <a:ext cx="0" cy="43338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3" name="直線接點 2302">
                <a:extLst>
                  <a:ext uri="{FF2B5EF4-FFF2-40B4-BE49-F238E27FC236}">
                    <a16:creationId xmlns:a16="http://schemas.microsoft.com/office/drawing/2014/main" id="{BEC5C9F5-5469-4C5B-41B0-073FA03956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98489" y="2405097"/>
                <a:ext cx="0" cy="37382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5" name="直線接點 2324">
                <a:extLst>
                  <a:ext uri="{FF2B5EF4-FFF2-40B4-BE49-F238E27FC236}">
                    <a16:creationId xmlns:a16="http://schemas.microsoft.com/office/drawing/2014/main" id="{0FBD1D44-CF61-050F-B0C2-EC70582440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42004" y="2542862"/>
                <a:ext cx="0" cy="23605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6" name="直線接點 2365">
                <a:extLst>
                  <a:ext uri="{FF2B5EF4-FFF2-40B4-BE49-F238E27FC236}">
                    <a16:creationId xmlns:a16="http://schemas.microsoft.com/office/drawing/2014/main" id="{D81C954C-2396-85FC-BA76-6F8CABA7A9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09726" y="2424531"/>
                <a:ext cx="0" cy="354387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4" name="直線接點 1023">
                <a:extLst>
                  <a:ext uri="{FF2B5EF4-FFF2-40B4-BE49-F238E27FC236}">
                    <a16:creationId xmlns:a16="http://schemas.microsoft.com/office/drawing/2014/main" id="{ED533F0C-A6B5-CA21-03B4-0550E8C0DD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745171" y="2424531"/>
                <a:ext cx="0" cy="354387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5" name="直線接點 1024">
                <a:extLst>
                  <a:ext uri="{FF2B5EF4-FFF2-40B4-BE49-F238E27FC236}">
                    <a16:creationId xmlns:a16="http://schemas.microsoft.com/office/drawing/2014/main" id="{26F3C68C-A0CC-9582-D7AB-F8D2586AB9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83756" y="2507997"/>
                <a:ext cx="0" cy="27092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6" name="直線接點 1025">
                <a:extLst>
                  <a:ext uri="{FF2B5EF4-FFF2-40B4-BE49-F238E27FC236}">
                    <a16:creationId xmlns:a16="http://schemas.microsoft.com/office/drawing/2014/main" id="{D28BC8DD-1AA8-E774-8EE2-B41C439506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303540" y="2025684"/>
                <a:ext cx="0" cy="753234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28" name="群組 1027">
            <a:extLst>
              <a:ext uri="{FF2B5EF4-FFF2-40B4-BE49-F238E27FC236}">
                <a16:creationId xmlns:a16="http://schemas.microsoft.com/office/drawing/2014/main" id="{4C733BD5-7BF9-C74D-1D7C-14E718E4D13F}"/>
              </a:ext>
            </a:extLst>
          </p:cNvPr>
          <p:cNvGrpSpPr/>
          <p:nvPr/>
        </p:nvGrpSpPr>
        <p:grpSpPr>
          <a:xfrm>
            <a:off x="3212713" y="2640181"/>
            <a:ext cx="474082" cy="479047"/>
            <a:chOff x="1524001" y="1722121"/>
            <a:chExt cx="586018" cy="612785"/>
          </a:xfrm>
        </p:grpSpPr>
        <p:sp>
          <p:nvSpPr>
            <p:cNvPr id="1029" name="矩形 1028">
              <a:extLst>
                <a:ext uri="{FF2B5EF4-FFF2-40B4-BE49-F238E27FC236}">
                  <a16:creationId xmlns:a16="http://schemas.microsoft.com/office/drawing/2014/main" id="{024ADBDF-938B-71FE-FFA2-F74F276A6F26}"/>
                </a:ext>
              </a:extLst>
            </p:cNvPr>
            <p:cNvSpPr/>
            <p:nvPr/>
          </p:nvSpPr>
          <p:spPr>
            <a:xfrm>
              <a:off x="1609843" y="1889715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030" name="矩形 1029">
              <a:extLst>
                <a:ext uri="{FF2B5EF4-FFF2-40B4-BE49-F238E27FC236}">
                  <a16:creationId xmlns:a16="http://schemas.microsoft.com/office/drawing/2014/main" id="{BB909EC7-803B-C7D3-849A-3BD21F0BD9C1}"/>
                </a:ext>
              </a:extLst>
            </p:cNvPr>
            <p:cNvSpPr/>
            <p:nvPr/>
          </p:nvSpPr>
          <p:spPr>
            <a:xfrm>
              <a:off x="1563468" y="1901716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031" name="矩形 1030">
              <a:extLst>
                <a:ext uri="{FF2B5EF4-FFF2-40B4-BE49-F238E27FC236}">
                  <a16:creationId xmlns:a16="http://schemas.microsoft.com/office/drawing/2014/main" id="{EA89C5A8-F8C6-F2C2-1A46-732D78A71D7A}"/>
                </a:ext>
              </a:extLst>
            </p:cNvPr>
            <p:cNvSpPr/>
            <p:nvPr/>
          </p:nvSpPr>
          <p:spPr>
            <a:xfrm>
              <a:off x="1524578" y="1908186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032" name="流程圖: 多重文件 1031">
              <a:extLst>
                <a:ext uri="{FF2B5EF4-FFF2-40B4-BE49-F238E27FC236}">
                  <a16:creationId xmlns:a16="http://schemas.microsoft.com/office/drawing/2014/main" id="{EF351D10-9524-5199-591A-C4847CBFE16F}"/>
                </a:ext>
              </a:extLst>
            </p:cNvPr>
            <p:cNvSpPr/>
            <p:nvPr/>
          </p:nvSpPr>
          <p:spPr>
            <a:xfrm>
              <a:off x="1524001" y="1722121"/>
              <a:ext cx="583874" cy="266700"/>
            </a:xfrm>
            <a:prstGeom prst="flowChartMultidocumen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MS2</a:t>
              </a:r>
              <a:endParaRPr kumimoji="0" lang="zh-TW" alt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cxnSp>
          <p:nvCxnSpPr>
            <p:cNvPr id="1033" name="直線接點 1032">
              <a:extLst>
                <a:ext uri="{FF2B5EF4-FFF2-40B4-BE49-F238E27FC236}">
                  <a16:creationId xmlns:a16="http://schemas.microsoft.com/office/drawing/2014/main" id="{79BA4C0E-2CCF-0D3F-F3E1-A68DC62BAAFC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040601"/>
              <a:ext cx="413611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直線接點 1033">
              <a:extLst>
                <a:ext uri="{FF2B5EF4-FFF2-40B4-BE49-F238E27FC236}">
                  <a16:creationId xmlns:a16="http://schemas.microsoft.com/office/drawing/2014/main" id="{17C03699-2B8A-AB0E-CB55-AFC99F7950EB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106120"/>
              <a:ext cx="413611" cy="0"/>
            </a:xfrm>
            <a:prstGeom prst="line">
              <a:avLst/>
            </a:prstGeom>
            <a:ln w="12700" cmpd="sng">
              <a:solidFill>
                <a:srgbClr val="00B0F0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直線接點 1034">
              <a:extLst>
                <a:ext uri="{FF2B5EF4-FFF2-40B4-BE49-F238E27FC236}">
                  <a16:creationId xmlns:a16="http://schemas.microsoft.com/office/drawing/2014/main" id="{0FA06DC8-EF3D-7374-CBA1-7CB9D4AC2CC8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8" y="2148957"/>
              <a:ext cx="413611" cy="0"/>
            </a:xfrm>
            <a:prstGeom prst="line">
              <a:avLst/>
            </a:prstGeom>
            <a:ln w="12700" cmpd="sng">
              <a:solidFill>
                <a:srgbClr val="00B0F0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直線接點 1035">
              <a:extLst>
                <a:ext uri="{FF2B5EF4-FFF2-40B4-BE49-F238E27FC236}">
                  <a16:creationId xmlns:a16="http://schemas.microsoft.com/office/drawing/2014/main" id="{011FE71D-E507-0231-8961-09CD4C158CEA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206832"/>
              <a:ext cx="413611" cy="0"/>
            </a:xfrm>
            <a:prstGeom prst="line">
              <a:avLst/>
            </a:prstGeom>
            <a:ln w="12700" cmpd="sng">
              <a:solidFill>
                <a:srgbClr val="00B0F0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直線接點 1036">
              <a:extLst>
                <a:ext uri="{FF2B5EF4-FFF2-40B4-BE49-F238E27FC236}">
                  <a16:creationId xmlns:a16="http://schemas.microsoft.com/office/drawing/2014/main" id="{F8D1446D-C1AE-14C2-CDDF-5508F02CF089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8" y="2254987"/>
              <a:ext cx="413611" cy="0"/>
            </a:xfrm>
            <a:prstGeom prst="line">
              <a:avLst/>
            </a:prstGeom>
            <a:ln w="12700" cmpd="sng">
              <a:solidFill>
                <a:srgbClr val="00B0F0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1" name="群組 1040">
            <a:extLst>
              <a:ext uri="{FF2B5EF4-FFF2-40B4-BE49-F238E27FC236}">
                <a16:creationId xmlns:a16="http://schemas.microsoft.com/office/drawing/2014/main" id="{CAEFD095-8F4B-355F-6E96-0D69619AB10D}"/>
              </a:ext>
            </a:extLst>
          </p:cNvPr>
          <p:cNvGrpSpPr/>
          <p:nvPr/>
        </p:nvGrpSpPr>
        <p:grpSpPr>
          <a:xfrm>
            <a:off x="2886845" y="2525767"/>
            <a:ext cx="431226" cy="300596"/>
            <a:chOff x="1924368" y="2977383"/>
            <a:chExt cx="703958" cy="490710"/>
          </a:xfrm>
        </p:grpSpPr>
        <p:sp>
          <p:nvSpPr>
            <p:cNvPr id="1038" name="矩形 1037">
              <a:extLst>
                <a:ext uri="{FF2B5EF4-FFF2-40B4-BE49-F238E27FC236}">
                  <a16:creationId xmlns:a16="http://schemas.microsoft.com/office/drawing/2014/main" id="{D6A084A7-1E06-A439-C5D0-9AB16290B781}"/>
                </a:ext>
              </a:extLst>
            </p:cNvPr>
            <p:cNvSpPr/>
            <p:nvPr/>
          </p:nvSpPr>
          <p:spPr>
            <a:xfrm rot="2700000">
              <a:off x="2130051" y="3184223"/>
              <a:ext cx="78187" cy="48955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40" name="橢圓 1039">
              <a:extLst>
                <a:ext uri="{FF2B5EF4-FFF2-40B4-BE49-F238E27FC236}">
                  <a16:creationId xmlns:a16="http://schemas.microsoft.com/office/drawing/2014/main" id="{67E2759E-5E38-1BDE-7FCF-816851307F14}"/>
                </a:ext>
              </a:extLst>
            </p:cNvPr>
            <p:cNvSpPr/>
            <p:nvPr/>
          </p:nvSpPr>
          <p:spPr>
            <a:xfrm>
              <a:off x="2217176" y="2977383"/>
              <a:ext cx="411150" cy="411150"/>
            </a:xfrm>
            <a:prstGeom prst="ellips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39" name="橢圓 1038">
              <a:extLst>
                <a:ext uri="{FF2B5EF4-FFF2-40B4-BE49-F238E27FC236}">
                  <a16:creationId xmlns:a16="http://schemas.microsoft.com/office/drawing/2014/main" id="{6160A77F-30A8-7F65-03FB-8FF5A66E42D5}"/>
                </a:ext>
              </a:extLst>
            </p:cNvPr>
            <p:cNvSpPr/>
            <p:nvPr/>
          </p:nvSpPr>
          <p:spPr>
            <a:xfrm>
              <a:off x="2261322" y="3025436"/>
              <a:ext cx="319026" cy="319026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42" name="群組 1041">
            <a:extLst>
              <a:ext uri="{FF2B5EF4-FFF2-40B4-BE49-F238E27FC236}">
                <a16:creationId xmlns:a16="http://schemas.microsoft.com/office/drawing/2014/main" id="{0826A466-521B-9FC5-F768-96CE585CE23C}"/>
              </a:ext>
            </a:extLst>
          </p:cNvPr>
          <p:cNvGrpSpPr/>
          <p:nvPr/>
        </p:nvGrpSpPr>
        <p:grpSpPr>
          <a:xfrm>
            <a:off x="3253547" y="967917"/>
            <a:ext cx="474082" cy="479047"/>
            <a:chOff x="1524001" y="1722121"/>
            <a:chExt cx="586018" cy="612785"/>
          </a:xfrm>
        </p:grpSpPr>
        <p:sp>
          <p:nvSpPr>
            <p:cNvPr id="1043" name="矩形 1042">
              <a:extLst>
                <a:ext uri="{FF2B5EF4-FFF2-40B4-BE49-F238E27FC236}">
                  <a16:creationId xmlns:a16="http://schemas.microsoft.com/office/drawing/2014/main" id="{35E72A56-1E8F-BE0C-E046-8298C296D5FB}"/>
                </a:ext>
              </a:extLst>
            </p:cNvPr>
            <p:cNvSpPr/>
            <p:nvPr/>
          </p:nvSpPr>
          <p:spPr>
            <a:xfrm>
              <a:off x="1609843" y="1889715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044" name="矩形 1043">
              <a:extLst>
                <a:ext uri="{FF2B5EF4-FFF2-40B4-BE49-F238E27FC236}">
                  <a16:creationId xmlns:a16="http://schemas.microsoft.com/office/drawing/2014/main" id="{42A7ED61-B274-98E2-0A03-F88CB0D7EFF9}"/>
                </a:ext>
              </a:extLst>
            </p:cNvPr>
            <p:cNvSpPr/>
            <p:nvPr/>
          </p:nvSpPr>
          <p:spPr>
            <a:xfrm>
              <a:off x="1563468" y="1901716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045" name="矩形 1044">
              <a:extLst>
                <a:ext uri="{FF2B5EF4-FFF2-40B4-BE49-F238E27FC236}">
                  <a16:creationId xmlns:a16="http://schemas.microsoft.com/office/drawing/2014/main" id="{0B755FF8-9CFC-5B46-DF9E-0215BD5DE80F}"/>
                </a:ext>
              </a:extLst>
            </p:cNvPr>
            <p:cNvSpPr/>
            <p:nvPr/>
          </p:nvSpPr>
          <p:spPr>
            <a:xfrm>
              <a:off x="1524578" y="1908186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046" name="流程圖: 多重文件 1045">
              <a:extLst>
                <a:ext uri="{FF2B5EF4-FFF2-40B4-BE49-F238E27FC236}">
                  <a16:creationId xmlns:a16="http://schemas.microsoft.com/office/drawing/2014/main" id="{CDBFAC86-F193-833C-6730-114CC1D021FD}"/>
                </a:ext>
              </a:extLst>
            </p:cNvPr>
            <p:cNvSpPr/>
            <p:nvPr/>
          </p:nvSpPr>
          <p:spPr>
            <a:xfrm>
              <a:off x="1524001" y="1722121"/>
              <a:ext cx="583874" cy="266700"/>
            </a:xfrm>
            <a:prstGeom prst="flowChartMultidocumen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800">
                  <a:solidFill>
                    <a:sysClr val="windowText" lastClr="000000"/>
                  </a:solidFill>
                  <a:latin typeface="Calibri" panose="020F0502020204030204"/>
                  <a:ea typeface="新細明體" panose="02020500000000000000" pitchFamily="18" charset="-120"/>
                </a:rPr>
                <a:t>Glycans</a:t>
              </a:r>
              <a:endParaRPr kumimoji="0" lang="zh-TW" alt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cxnSp>
          <p:nvCxnSpPr>
            <p:cNvPr id="1047" name="直線接點 1046">
              <a:extLst>
                <a:ext uri="{FF2B5EF4-FFF2-40B4-BE49-F238E27FC236}">
                  <a16:creationId xmlns:a16="http://schemas.microsoft.com/office/drawing/2014/main" id="{99961C30-7266-B4E2-B582-A2F59E0F7DC8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040601"/>
              <a:ext cx="413611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直線接點 1047">
              <a:extLst>
                <a:ext uri="{FF2B5EF4-FFF2-40B4-BE49-F238E27FC236}">
                  <a16:creationId xmlns:a16="http://schemas.microsoft.com/office/drawing/2014/main" id="{BAA8FE4C-E1ED-097A-3EA1-9FE32EBCE3BC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106120"/>
              <a:ext cx="413611" cy="0"/>
            </a:xfrm>
            <a:prstGeom prst="line">
              <a:avLst/>
            </a:prstGeom>
            <a:ln w="12700" cmpd="sng">
              <a:solidFill>
                <a:schemeClr val="bg1">
                  <a:lumMod val="65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直線接點 1048">
              <a:extLst>
                <a:ext uri="{FF2B5EF4-FFF2-40B4-BE49-F238E27FC236}">
                  <a16:creationId xmlns:a16="http://schemas.microsoft.com/office/drawing/2014/main" id="{EF65F9F2-6643-D196-372F-EBC1642EAA23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8" y="2148957"/>
              <a:ext cx="413611" cy="0"/>
            </a:xfrm>
            <a:prstGeom prst="line">
              <a:avLst/>
            </a:prstGeom>
            <a:ln w="12700" cmpd="sng">
              <a:solidFill>
                <a:schemeClr val="bg1">
                  <a:lumMod val="65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直線接點 1049">
              <a:extLst>
                <a:ext uri="{FF2B5EF4-FFF2-40B4-BE49-F238E27FC236}">
                  <a16:creationId xmlns:a16="http://schemas.microsoft.com/office/drawing/2014/main" id="{BE6249E2-0644-A68B-BCAD-176561281491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206832"/>
              <a:ext cx="413611" cy="0"/>
            </a:xfrm>
            <a:prstGeom prst="line">
              <a:avLst/>
            </a:prstGeom>
            <a:ln w="12700" cmpd="sng">
              <a:solidFill>
                <a:schemeClr val="bg1">
                  <a:lumMod val="65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直線接點 1050">
              <a:extLst>
                <a:ext uri="{FF2B5EF4-FFF2-40B4-BE49-F238E27FC236}">
                  <a16:creationId xmlns:a16="http://schemas.microsoft.com/office/drawing/2014/main" id="{7FA5A327-C6D0-2078-11F3-7C53C850CCE0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8" y="2254987"/>
              <a:ext cx="413611" cy="0"/>
            </a:xfrm>
            <a:prstGeom prst="line">
              <a:avLst/>
            </a:prstGeom>
            <a:ln w="12700" cmpd="sng">
              <a:solidFill>
                <a:schemeClr val="bg1">
                  <a:lumMod val="65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2" name="文字方塊 1051">
            <a:extLst>
              <a:ext uri="{FF2B5EF4-FFF2-40B4-BE49-F238E27FC236}">
                <a16:creationId xmlns:a16="http://schemas.microsoft.com/office/drawing/2014/main" id="{7C71BFCA-64D8-9F55-A8CE-BBEBD44BE184}"/>
              </a:ext>
            </a:extLst>
          </p:cNvPr>
          <p:cNvSpPr txBox="1"/>
          <p:nvPr/>
        </p:nvSpPr>
        <p:spPr>
          <a:xfrm>
            <a:off x="3658651" y="1994098"/>
            <a:ext cx="1300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Assign composition based on mass</a:t>
            </a:r>
            <a:endParaRPr kumimoji="0" lang="zh-TW" altLang="en-US" sz="10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54" name="箭號: 向右 1053">
            <a:extLst>
              <a:ext uri="{FF2B5EF4-FFF2-40B4-BE49-F238E27FC236}">
                <a16:creationId xmlns:a16="http://schemas.microsoft.com/office/drawing/2014/main" id="{2B7C6C78-DD61-05B8-5900-8CCA3A0371F8}"/>
              </a:ext>
            </a:extLst>
          </p:cNvPr>
          <p:cNvSpPr/>
          <p:nvPr/>
        </p:nvSpPr>
        <p:spPr>
          <a:xfrm>
            <a:off x="3875522" y="2715431"/>
            <a:ext cx="1247808" cy="281858"/>
          </a:xfrm>
          <a:prstGeom prst="rightArrow">
            <a:avLst>
              <a:gd name="adj1" fmla="val 50000"/>
              <a:gd name="adj2" fmla="val 10082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55" name="文字方塊 1054">
            <a:extLst>
              <a:ext uri="{FF2B5EF4-FFF2-40B4-BE49-F238E27FC236}">
                <a16:creationId xmlns:a16="http://schemas.microsoft.com/office/drawing/2014/main" id="{3848B3AF-82BF-277D-77A7-F1F16A36A949}"/>
              </a:ext>
            </a:extLst>
          </p:cNvPr>
          <p:cNvSpPr txBox="1"/>
          <p:nvPr/>
        </p:nvSpPr>
        <p:spPr>
          <a:xfrm>
            <a:off x="2648373" y="3113498"/>
            <a:ext cx="16408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MS2 list </a:t>
            </a:r>
            <a:r>
              <a:rPr lang="en-US" altLang="zh-TW" sz="120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+ composition</a:t>
            </a: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56" name="文字方塊 1055">
            <a:extLst>
              <a:ext uri="{FF2B5EF4-FFF2-40B4-BE49-F238E27FC236}">
                <a16:creationId xmlns:a16="http://schemas.microsoft.com/office/drawing/2014/main" id="{D23494EB-2D4B-8AAC-CE50-77B02D614595}"/>
              </a:ext>
            </a:extLst>
          </p:cNvPr>
          <p:cNvSpPr txBox="1"/>
          <p:nvPr/>
        </p:nvSpPr>
        <p:spPr>
          <a:xfrm>
            <a:off x="3836981" y="2537846"/>
            <a:ext cx="13004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Score the spectra</a:t>
            </a:r>
            <a:endParaRPr kumimoji="0" lang="zh-TW" altLang="en-US" sz="10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58" name="箭號: 向右 1057">
            <a:extLst>
              <a:ext uri="{FF2B5EF4-FFF2-40B4-BE49-F238E27FC236}">
                <a16:creationId xmlns:a16="http://schemas.microsoft.com/office/drawing/2014/main" id="{E6FBB968-BA45-E79D-CFFB-43EE59E6D274}"/>
              </a:ext>
            </a:extLst>
          </p:cNvPr>
          <p:cNvSpPr/>
          <p:nvPr/>
        </p:nvSpPr>
        <p:spPr>
          <a:xfrm rot="5400000">
            <a:off x="900505" y="3617101"/>
            <a:ext cx="362904" cy="281858"/>
          </a:xfrm>
          <a:prstGeom prst="rightArrow">
            <a:avLst>
              <a:gd name="adj1" fmla="val 50000"/>
              <a:gd name="adj2" fmla="val 6297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59" name="箭號: 弧形右彎 1058">
            <a:extLst>
              <a:ext uri="{FF2B5EF4-FFF2-40B4-BE49-F238E27FC236}">
                <a16:creationId xmlns:a16="http://schemas.microsoft.com/office/drawing/2014/main" id="{7AE8C849-E8C8-E188-556C-25E155014463}"/>
              </a:ext>
            </a:extLst>
          </p:cNvPr>
          <p:cNvSpPr/>
          <p:nvPr/>
        </p:nvSpPr>
        <p:spPr>
          <a:xfrm>
            <a:off x="209644" y="1289810"/>
            <a:ext cx="518521" cy="3124543"/>
          </a:xfrm>
          <a:prstGeom prst="curvedRightArrow">
            <a:avLst>
              <a:gd name="adj1" fmla="val 7579"/>
              <a:gd name="adj2" fmla="val 52491"/>
              <a:gd name="adj3" fmla="val 3602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2387" name="群組 2386">
            <a:extLst>
              <a:ext uri="{FF2B5EF4-FFF2-40B4-BE49-F238E27FC236}">
                <a16:creationId xmlns:a16="http://schemas.microsoft.com/office/drawing/2014/main" id="{88583EA9-6943-9935-B159-FC76851EDC1B}"/>
              </a:ext>
            </a:extLst>
          </p:cNvPr>
          <p:cNvGrpSpPr/>
          <p:nvPr/>
        </p:nvGrpSpPr>
        <p:grpSpPr>
          <a:xfrm>
            <a:off x="810194" y="4101970"/>
            <a:ext cx="474082" cy="479047"/>
            <a:chOff x="1524001" y="1722121"/>
            <a:chExt cx="586018" cy="612785"/>
          </a:xfrm>
        </p:grpSpPr>
        <p:sp>
          <p:nvSpPr>
            <p:cNvPr id="2388" name="矩形 2387">
              <a:extLst>
                <a:ext uri="{FF2B5EF4-FFF2-40B4-BE49-F238E27FC236}">
                  <a16:creationId xmlns:a16="http://schemas.microsoft.com/office/drawing/2014/main" id="{1BEACE3E-D031-BBC9-6C7F-F777EE7AFE6B}"/>
                </a:ext>
              </a:extLst>
            </p:cNvPr>
            <p:cNvSpPr/>
            <p:nvPr/>
          </p:nvSpPr>
          <p:spPr>
            <a:xfrm>
              <a:off x="1609843" y="1889715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389" name="矩形 2388">
              <a:extLst>
                <a:ext uri="{FF2B5EF4-FFF2-40B4-BE49-F238E27FC236}">
                  <a16:creationId xmlns:a16="http://schemas.microsoft.com/office/drawing/2014/main" id="{DFA531F9-1C6F-CC16-291E-03F65804C1FF}"/>
                </a:ext>
              </a:extLst>
            </p:cNvPr>
            <p:cNvSpPr/>
            <p:nvPr/>
          </p:nvSpPr>
          <p:spPr>
            <a:xfrm>
              <a:off x="1563468" y="1901716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390" name="矩形 2389">
              <a:extLst>
                <a:ext uri="{FF2B5EF4-FFF2-40B4-BE49-F238E27FC236}">
                  <a16:creationId xmlns:a16="http://schemas.microsoft.com/office/drawing/2014/main" id="{D1F110F6-4705-5BFA-E47C-EC74482BCE44}"/>
                </a:ext>
              </a:extLst>
            </p:cNvPr>
            <p:cNvSpPr/>
            <p:nvPr/>
          </p:nvSpPr>
          <p:spPr>
            <a:xfrm>
              <a:off x="1524578" y="1908186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391" name="流程圖: 多重文件 2390">
              <a:extLst>
                <a:ext uri="{FF2B5EF4-FFF2-40B4-BE49-F238E27FC236}">
                  <a16:creationId xmlns:a16="http://schemas.microsoft.com/office/drawing/2014/main" id="{4D6A8B1D-4E9B-ED1F-460A-8BEC3D942498}"/>
                </a:ext>
              </a:extLst>
            </p:cNvPr>
            <p:cNvSpPr/>
            <p:nvPr/>
          </p:nvSpPr>
          <p:spPr>
            <a:xfrm>
              <a:off x="1524001" y="1722121"/>
              <a:ext cx="583874" cy="266700"/>
            </a:xfrm>
            <a:prstGeom prst="flowChartMultidocumen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MS2</a:t>
              </a:r>
              <a:endParaRPr kumimoji="0" lang="zh-TW" alt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cxnSp>
          <p:nvCxnSpPr>
            <p:cNvPr id="2392" name="直線接點 2391">
              <a:extLst>
                <a:ext uri="{FF2B5EF4-FFF2-40B4-BE49-F238E27FC236}">
                  <a16:creationId xmlns:a16="http://schemas.microsoft.com/office/drawing/2014/main" id="{1A4A9E0E-36C1-DF7A-7BF1-5C45B43999E8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040601"/>
              <a:ext cx="413611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3" name="直線接點 2392">
              <a:extLst>
                <a:ext uri="{FF2B5EF4-FFF2-40B4-BE49-F238E27FC236}">
                  <a16:creationId xmlns:a16="http://schemas.microsoft.com/office/drawing/2014/main" id="{39E30B68-4AF6-6C9A-731C-0CEBA159DE11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106120"/>
              <a:ext cx="413611" cy="0"/>
            </a:xfrm>
            <a:prstGeom prst="line">
              <a:avLst/>
            </a:prstGeom>
            <a:ln w="12700" cmpd="sng">
              <a:solidFill>
                <a:schemeClr val="accent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4" name="直線接點 2393">
              <a:extLst>
                <a:ext uri="{FF2B5EF4-FFF2-40B4-BE49-F238E27FC236}">
                  <a16:creationId xmlns:a16="http://schemas.microsoft.com/office/drawing/2014/main" id="{9E8CEE27-57CE-1FD0-587C-DBCC262E7D8F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8" y="2148957"/>
              <a:ext cx="413611" cy="0"/>
            </a:xfrm>
            <a:prstGeom prst="line">
              <a:avLst/>
            </a:prstGeom>
            <a:ln w="12700" cmpd="sng">
              <a:solidFill>
                <a:schemeClr val="accent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5" name="直線接點 2394">
              <a:extLst>
                <a:ext uri="{FF2B5EF4-FFF2-40B4-BE49-F238E27FC236}">
                  <a16:creationId xmlns:a16="http://schemas.microsoft.com/office/drawing/2014/main" id="{A66F79A7-690F-6FE0-6F3B-925FA0738F21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206832"/>
              <a:ext cx="413611" cy="0"/>
            </a:xfrm>
            <a:prstGeom prst="line">
              <a:avLst/>
            </a:prstGeom>
            <a:ln w="12700" cmpd="sng">
              <a:solidFill>
                <a:schemeClr val="accent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6" name="直線接點 2395">
              <a:extLst>
                <a:ext uri="{FF2B5EF4-FFF2-40B4-BE49-F238E27FC236}">
                  <a16:creationId xmlns:a16="http://schemas.microsoft.com/office/drawing/2014/main" id="{E69552BC-914B-FEE0-3F95-40EB21B5155E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8" y="2254987"/>
              <a:ext cx="413611" cy="0"/>
            </a:xfrm>
            <a:prstGeom prst="line">
              <a:avLst/>
            </a:prstGeom>
            <a:ln w="12700" cmpd="sng">
              <a:solidFill>
                <a:schemeClr val="accent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97" name="文字方塊 2396">
            <a:extLst>
              <a:ext uri="{FF2B5EF4-FFF2-40B4-BE49-F238E27FC236}">
                <a16:creationId xmlns:a16="http://schemas.microsoft.com/office/drawing/2014/main" id="{C9F038BB-4D89-99A4-C8B2-635FF1018105}"/>
              </a:ext>
            </a:extLst>
          </p:cNvPr>
          <p:cNvSpPr txBox="1"/>
          <p:nvPr/>
        </p:nvSpPr>
        <p:spPr>
          <a:xfrm>
            <a:off x="242583" y="4637752"/>
            <a:ext cx="1640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Combined w/ manually annotated data</a:t>
            </a: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398" name="箭號: 向右 2397">
            <a:extLst>
              <a:ext uri="{FF2B5EF4-FFF2-40B4-BE49-F238E27FC236}">
                <a16:creationId xmlns:a16="http://schemas.microsoft.com/office/drawing/2014/main" id="{C8E5C9B0-9010-F9C5-3AD3-AA8305917248}"/>
              </a:ext>
            </a:extLst>
          </p:cNvPr>
          <p:cNvSpPr/>
          <p:nvPr/>
        </p:nvSpPr>
        <p:spPr>
          <a:xfrm>
            <a:off x="1597060" y="4383503"/>
            <a:ext cx="1247808" cy="281858"/>
          </a:xfrm>
          <a:prstGeom prst="rightArrow">
            <a:avLst>
              <a:gd name="adj1" fmla="val 50000"/>
              <a:gd name="adj2" fmla="val 10082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399" name="文字方塊 2398">
            <a:extLst>
              <a:ext uri="{FF2B5EF4-FFF2-40B4-BE49-F238E27FC236}">
                <a16:creationId xmlns:a16="http://schemas.microsoft.com/office/drawing/2014/main" id="{F7F74084-1DE9-5B19-2F88-5DDD1AA3B953}"/>
              </a:ext>
            </a:extLst>
          </p:cNvPr>
          <p:cNvSpPr txBox="1"/>
          <p:nvPr/>
        </p:nvSpPr>
        <p:spPr>
          <a:xfrm>
            <a:off x="1510908" y="4029876"/>
            <a:ext cx="1638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Learn patterns from annotated dataset</a:t>
            </a:r>
            <a:endParaRPr kumimoji="0" lang="zh-TW" altLang="en-US" sz="10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2423" name="群組 2422">
            <a:extLst>
              <a:ext uri="{FF2B5EF4-FFF2-40B4-BE49-F238E27FC236}">
                <a16:creationId xmlns:a16="http://schemas.microsoft.com/office/drawing/2014/main" id="{3254E0C6-DBF1-C9D4-37AF-B6EFDB729E82}"/>
              </a:ext>
            </a:extLst>
          </p:cNvPr>
          <p:cNvGrpSpPr/>
          <p:nvPr/>
        </p:nvGrpSpPr>
        <p:grpSpPr>
          <a:xfrm>
            <a:off x="2937242" y="4031452"/>
            <a:ext cx="984897" cy="932623"/>
            <a:chOff x="2915129" y="3820548"/>
            <a:chExt cx="1293087" cy="1224456"/>
          </a:xfrm>
        </p:grpSpPr>
        <p:grpSp>
          <p:nvGrpSpPr>
            <p:cNvPr id="2417" name="群組 2416">
              <a:extLst>
                <a:ext uri="{FF2B5EF4-FFF2-40B4-BE49-F238E27FC236}">
                  <a16:creationId xmlns:a16="http://schemas.microsoft.com/office/drawing/2014/main" id="{779F2904-FFDB-2C3F-D101-1E578E5971E9}"/>
                </a:ext>
              </a:extLst>
            </p:cNvPr>
            <p:cNvGrpSpPr/>
            <p:nvPr/>
          </p:nvGrpSpPr>
          <p:grpSpPr>
            <a:xfrm>
              <a:off x="3350925" y="4230884"/>
              <a:ext cx="631396" cy="632570"/>
              <a:chOff x="3055072" y="4017342"/>
              <a:chExt cx="951853" cy="953623"/>
            </a:xfrm>
          </p:grpSpPr>
          <p:sp>
            <p:nvSpPr>
              <p:cNvPr id="2401" name="矩形 2400">
                <a:extLst>
                  <a:ext uri="{FF2B5EF4-FFF2-40B4-BE49-F238E27FC236}">
                    <a16:creationId xmlns:a16="http://schemas.microsoft.com/office/drawing/2014/main" id="{D05FA197-AD15-7618-C646-DB8F35E4073C}"/>
                  </a:ext>
                </a:extLst>
              </p:cNvPr>
              <p:cNvSpPr/>
              <p:nvPr/>
            </p:nvSpPr>
            <p:spPr>
              <a:xfrm>
                <a:off x="3055072" y="4017342"/>
                <a:ext cx="238774" cy="23877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00"/>
              </a:p>
            </p:txBody>
          </p:sp>
          <p:sp>
            <p:nvSpPr>
              <p:cNvPr id="2402" name="矩形 2401">
                <a:extLst>
                  <a:ext uri="{FF2B5EF4-FFF2-40B4-BE49-F238E27FC236}">
                    <a16:creationId xmlns:a16="http://schemas.microsoft.com/office/drawing/2014/main" id="{402761FB-BA36-09E9-976C-76D3B6C8AF46}"/>
                  </a:ext>
                </a:extLst>
              </p:cNvPr>
              <p:cNvSpPr/>
              <p:nvPr/>
            </p:nvSpPr>
            <p:spPr>
              <a:xfrm>
                <a:off x="3297920" y="4017342"/>
                <a:ext cx="238774" cy="23877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00"/>
              </a:p>
            </p:txBody>
          </p:sp>
          <p:sp>
            <p:nvSpPr>
              <p:cNvPr id="2403" name="矩形 2402">
                <a:extLst>
                  <a:ext uri="{FF2B5EF4-FFF2-40B4-BE49-F238E27FC236}">
                    <a16:creationId xmlns:a16="http://schemas.microsoft.com/office/drawing/2014/main" id="{FD4F1209-CC23-C1F1-78E4-ADCD01442811}"/>
                  </a:ext>
                </a:extLst>
              </p:cNvPr>
              <p:cNvSpPr/>
              <p:nvPr/>
            </p:nvSpPr>
            <p:spPr>
              <a:xfrm>
                <a:off x="3530005" y="4017342"/>
                <a:ext cx="238774" cy="238774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00"/>
              </a:p>
            </p:txBody>
          </p:sp>
          <p:sp>
            <p:nvSpPr>
              <p:cNvPr id="2404" name="矩形 2403">
                <a:extLst>
                  <a:ext uri="{FF2B5EF4-FFF2-40B4-BE49-F238E27FC236}">
                    <a16:creationId xmlns:a16="http://schemas.microsoft.com/office/drawing/2014/main" id="{7DA62E21-F062-5444-EDE8-394A308FAEBA}"/>
                  </a:ext>
                </a:extLst>
              </p:cNvPr>
              <p:cNvSpPr/>
              <p:nvPr/>
            </p:nvSpPr>
            <p:spPr>
              <a:xfrm>
                <a:off x="3768151" y="4017342"/>
                <a:ext cx="238774" cy="23877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00"/>
              </a:p>
            </p:txBody>
          </p:sp>
          <p:sp>
            <p:nvSpPr>
              <p:cNvPr id="2405" name="矩形 2404">
                <a:extLst>
                  <a:ext uri="{FF2B5EF4-FFF2-40B4-BE49-F238E27FC236}">
                    <a16:creationId xmlns:a16="http://schemas.microsoft.com/office/drawing/2014/main" id="{99C72604-423D-F97D-D893-0A21A0A81FB6}"/>
                  </a:ext>
                </a:extLst>
              </p:cNvPr>
              <p:cNvSpPr/>
              <p:nvPr/>
            </p:nvSpPr>
            <p:spPr>
              <a:xfrm>
                <a:off x="3055072" y="4255896"/>
                <a:ext cx="238774" cy="238774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00"/>
              </a:p>
            </p:txBody>
          </p:sp>
          <p:sp>
            <p:nvSpPr>
              <p:cNvPr id="2406" name="矩形 2405">
                <a:extLst>
                  <a:ext uri="{FF2B5EF4-FFF2-40B4-BE49-F238E27FC236}">
                    <a16:creationId xmlns:a16="http://schemas.microsoft.com/office/drawing/2014/main" id="{145ABB0D-9699-A536-0F31-855FD7452F4A}"/>
                  </a:ext>
                </a:extLst>
              </p:cNvPr>
              <p:cNvSpPr/>
              <p:nvPr/>
            </p:nvSpPr>
            <p:spPr>
              <a:xfrm>
                <a:off x="3297920" y="4255896"/>
                <a:ext cx="238774" cy="238774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00"/>
              </a:p>
            </p:txBody>
          </p:sp>
          <p:sp>
            <p:nvSpPr>
              <p:cNvPr id="2407" name="矩形 2406">
                <a:extLst>
                  <a:ext uri="{FF2B5EF4-FFF2-40B4-BE49-F238E27FC236}">
                    <a16:creationId xmlns:a16="http://schemas.microsoft.com/office/drawing/2014/main" id="{DEC0CDC1-62FC-176E-D4CA-5B9ED4DECD97}"/>
                  </a:ext>
                </a:extLst>
              </p:cNvPr>
              <p:cNvSpPr/>
              <p:nvPr/>
            </p:nvSpPr>
            <p:spPr>
              <a:xfrm>
                <a:off x="3530005" y="4255896"/>
                <a:ext cx="238774" cy="23877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00"/>
              </a:p>
            </p:txBody>
          </p:sp>
          <p:sp>
            <p:nvSpPr>
              <p:cNvPr id="2408" name="矩形 2407">
                <a:extLst>
                  <a:ext uri="{FF2B5EF4-FFF2-40B4-BE49-F238E27FC236}">
                    <a16:creationId xmlns:a16="http://schemas.microsoft.com/office/drawing/2014/main" id="{C1AA4E30-CEA3-A53A-9A2F-FE12A975DAFB}"/>
                  </a:ext>
                </a:extLst>
              </p:cNvPr>
              <p:cNvSpPr/>
              <p:nvPr/>
            </p:nvSpPr>
            <p:spPr>
              <a:xfrm>
                <a:off x="3768151" y="4255896"/>
                <a:ext cx="238774" cy="238774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00"/>
              </a:p>
            </p:txBody>
          </p:sp>
          <p:sp>
            <p:nvSpPr>
              <p:cNvPr id="2409" name="矩形 2408">
                <a:extLst>
                  <a:ext uri="{FF2B5EF4-FFF2-40B4-BE49-F238E27FC236}">
                    <a16:creationId xmlns:a16="http://schemas.microsoft.com/office/drawing/2014/main" id="{93F4773A-7AFC-B600-D061-94F170BEC242}"/>
                  </a:ext>
                </a:extLst>
              </p:cNvPr>
              <p:cNvSpPr/>
              <p:nvPr/>
            </p:nvSpPr>
            <p:spPr>
              <a:xfrm>
                <a:off x="3055072" y="4493637"/>
                <a:ext cx="238774" cy="238774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00"/>
              </a:p>
            </p:txBody>
          </p:sp>
          <p:sp>
            <p:nvSpPr>
              <p:cNvPr id="2410" name="矩形 2409">
                <a:extLst>
                  <a:ext uri="{FF2B5EF4-FFF2-40B4-BE49-F238E27FC236}">
                    <a16:creationId xmlns:a16="http://schemas.microsoft.com/office/drawing/2014/main" id="{91193CEA-1E8F-EC44-42E0-4D72D3AC1FF7}"/>
                  </a:ext>
                </a:extLst>
              </p:cNvPr>
              <p:cNvSpPr/>
              <p:nvPr/>
            </p:nvSpPr>
            <p:spPr>
              <a:xfrm>
                <a:off x="3297920" y="4493637"/>
                <a:ext cx="238774" cy="23877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00"/>
              </a:p>
            </p:txBody>
          </p:sp>
          <p:sp>
            <p:nvSpPr>
              <p:cNvPr id="2411" name="矩形 2410">
                <a:extLst>
                  <a:ext uri="{FF2B5EF4-FFF2-40B4-BE49-F238E27FC236}">
                    <a16:creationId xmlns:a16="http://schemas.microsoft.com/office/drawing/2014/main" id="{979449DA-623F-A5C4-F267-51ACA183D6FB}"/>
                  </a:ext>
                </a:extLst>
              </p:cNvPr>
              <p:cNvSpPr/>
              <p:nvPr/>
            </p:nvSpPr>
            <p:spPr>
              <a:xfrm>
                <a:off x="3530005" y="4493637"/>
                <a:ext cx="238774" cy="238774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00"/>
              </a:p>
            </p:txBody>
          </p:sp>
          <p:sp>
            <p:nvSpPr>
              <p:cNvPr id="2412" name="矩形 2411">
                <a:extLst>
                  <a:ext uri="{FF2B5EF4-FFF2-40B4-BE49-F238E27FC236}">
                    <a16:creationId xmlns:a16="http://schemas.microsoft.com/office/drawing/2014/main" id="{591CAF15-0DB6-01D9-B48B-53C5968B7AAB}"/>
                  </a:ext>
                </a:extLst>
              </p:cNvPr>
              <p:cNvSpPr/>
              <p:nvPr/>
            </p:nvSpPr>
            <p:spPr>
              <a:xfrm>
                <a:off x="3768151" y="4493637"/>
                <a:ext cx="238774" cy="23877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00"/>
              </a:p>
            </p:txBody>
          </p:sp>
          <p:sp>
            <p:nvSpPr>
              <p:cNvPr id="2413" name="矩形 2412">
                <a:extLst>
                  <a:ext uri="{FF2B5EF4-FFF2-40B4-BE49-F238E27FC236}">
                    <a16:creationId xmlns:a16="http://schemas.microsoft.com/office/drawing/2014/main" id="{FF7C8922-4F16-A3BE-A676-C23AC3D06BCA}"/>
                  </a:ext>
                </a:extLst>
              </p:cNvPr>
              <p:cNvSpPr/>
              <p:nvPr/>
            </p:nvSpPr>
            <p:spPr>
              <a:xfrm>
                <a:off x="3055072" y="4732191"/>
                <a:ext cx="238774" cy="23877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00"/>
              </a:p>
            </p:txBody>
          </p:sp>
          <p:sp>
            <p:nvSpPr>
              <p:cNvPr id="2414" name="矩形 2413">
                <a:extLst>
                  <a:ext uri="{FF2B5EF4-FFF2-40B4-BE49-F238E27FC236}">
                    <a16:creationId xmlns:a16="http://schemas.microsoft.com/office/drawing/2014/main" id="{FA637978-067B-132B-07ED-910784AA3441}"/>
                  </a:ext>
                </a:extLst>
              </p:cNvPr>
              <p:cNvSpPr/>
              <p:nvPr/>
            </p:nvSpPr>
            <p:spPr>
              <a:xfrm>
                <a:off x="3297920" y="4732191"/>
                <a:ext cx="238774" cy="238774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00"/>
              </a:p>
            </p:txBody>
          </p:sp>
          <p:sp>
            <p:nvSpPr>
              <p:cNvPr id="2415" name="矩形 2414">
                <a:extLst>
                  <a:ext uri="{FF2B5EF4-FFF2-40B4-BE49-F238E27FC236}">
                    <a16:creationId xmlns:a16="http://schemas.microsoft.com/office/drawing/2014/main" id="{9E43D5DB-8769-6C15-D8DC-694EDE66D9F7}"/>
                  </a:ext>
                </a:extLst>
              </p:cNvPr>
              <p:cNvSpPr/>
              <p:nvPr/>
            </p:nvSpPr>
            <p:spPr>
              <a:xfrm>
                <a:off x="3530005" y="4732191"/>
                <a:ext cx="238774" cy="23877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00"/>
              </a:p>
            </p:txBody>
          </p:sp>
          <p:sp>
            <p:nvSpPr>
              <p:cNvPr id="2416" name="矩形 2415">
                <a:extLst>
                  <a:ext uri="{FF2B5EF4-FFF2-40B4-BE49-F238E27FC236}">
                    <a16:creationId xmlns:a16="http://schemas.microsoft.com/office/drawing/2014/main" id="{9BCD00F9-1D38-ECDB-1420-C4B063081644}"/>
                  </a:ext>
                </a:extLst>
              </p:cNvPr>
              <p:cNvSpPr/>
              <p:nvPr/>
            </p:nvSpPr>
            <p:spPr>
              <a:xfrm>
                <a:off x="3768151" y="4732191"/>
                <a:ext cx="238774" cy="238774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00"/>
              </a:p>
            </p:txBody>
          </p:sp>
        </p:grpSp>
        <p:sp>
          <p:nvSpPr>
            <p:cNvPr id="2418" name="文字方塊 2417">
              <a:extLst>
                <a:ext uri="{FF2B5EF4-FFF2-40B4-BE49-F238E27FC236}">
                  <a16:creationId xmlns:a16="http://schemas.microsoft.com/office/drawing/2014/main" id="{9D92BCFD-D91F-D566-96BA-4D6ECA895FD9}"/>
                </a:ext>
              </a:extLst>
            </p:cNvPr>
            <p:cNvSpPr txBox="1"/>
            <p:nvPr/>
          </p:nvSpPr>
          <p:spPr>
            <a:xfrm>
              <a:off x="3275713" y="3986814"/>
              <a:ext cx="932503" cy="303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900"/>
                <a:t>a   b  c  d</a:t>
              </a:r>
              <a:endParaRPr lang="zh-TW" altLang="en-US" sz="900"/>
            </a:p>
          </p:txBody>
        </p:sp>
        <p:sp>
          <p:nvSpPr>
            <p:cNvPr id="2419" name="文字方塊 2418">
              <a:extLst>
                <a:ext uri="{FF2B5EF4-FFF2-40B4-BE49-F238E27FC236}">
                  <a16:creationId xmlns:a16="http://schemas.microsoft.com/office/drawing/2014/main" id="{D7D31F21-D94B-E8D3-5790-6602B03BAA20}"/>
                </a:ext>
              </a:extLst>
            </p:cNvPr>
            <p:cNvSpPr txBox="1"/>
            <p:nvPr/>
          </p:nvSpPr>
          <p:spPr>
            <a:xfrm>
              <a:off x="3039674" y="4177383"/>
              <a:ext cx="275707" cy="767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/>
                <a:t>1   2  3  4</a:t>
              </a:r>
              <a:endParaRPr lang="zh-TW" altLang="en-US" sz="800"/>
            </a:p>
          </p:txBody>
        </p:sp>
        <p:sp>
          <p:nvSpPr>
            <p:cNvPr id="2420" name="文字方塊 2419">
              <a:extLst>
                <a:ext uri="{FF2B5EF4-FFF2-40B4-BE49-F238E27FC236}">
                  <a16:creationId xmlns:a16="http://schemas.microsoft.com/office/drawing/2014/main" id="{FBDEE964-6F6D-4C77-56E0-AD2B19DA926D}"/>
                </a:ext>
              </a:extLst>
            </p:cNvPr>
            <p:cNvSpPr txBox="1"/>
            <p:nvPr/>
          </p:nvSpPr>
          <p:spPr>
            <a:xfrm>
              <a:off x="3225009" y="3820548"/>
              <a:ext cx="932503" cy="303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900"/>
                <a:t>annotation</a:t>
              </a:r>
              <a:endParaRPr lang="zh-TW" altLang="en-US" sz="900"/>
            </a:p>
          </p:txBody>
        </p:sp>
        <p:sp>
          <p:nvSpPr>
            <p:cNvPr id="2421" name="文字方塊 2420">
              <a:extLst>
                <a:ext uri="{FF2B5EF4-FFF2-40B4-BE49-F238E27FC236}">
                  <a16:creationId xmlns:a16="http://schemas.microsoft.com/office/drawing/2014/main" id="{09DB8EAB-B1B8-4ED3-C2EB-BF1839896789}"/>
                </a:ext>
              </a:extLst>
            </p:cNvPr>
            <p:cNvSpPr txBox="1"/>
            <p:nvPr/>
          </p:nvSpPr>
          <p:spPr>
            <a:xfrm rot="5400000">
              <a:off x="2600408" y="4427220"/>
              <a:ext cx="932505" cy="303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900"/>
                <a:t>fragments</a:t>
              </a:r>
              <a:endParaRPr lang="zh-TW" altLang="en-US" sz="900"/>
            </a:p>
          </p:txBody>
        </p:sp>
      </p:grpSp>
      <p:sp>
        <p:nvSpPr>
          <p:cNvPr id="2424" name="文字方塊 2423">
            <a:extLst>
              <a:ext uri="{FF2B5EF4-FFF2-40B4-BE49-F238E27FC236}">
                <a16:creationId xmlns:a16="http://schemas.microsoft.com/office/drawing/2014/main" id="{0C41E7F1-5D79-B433-8D6E-65F3DA31A71E}"/>
              </a:ext>
            </a:extLst>
          </p:cNvPr>
          <p:cNvSpPr txBox="1"/>
          <p:nvPr/>
        </p:nvSpPr>
        <p:spPr>
          <a:xfrm>
            <a:off x="1351872" y="1887470"/>
            <a:ext cx="2143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b="1">
                <a:solidFill>
                  <a:srgbClr val="00B0F0"/>
                </a:solidFill>
                <a:latin typeface="Calibri" panose="020F0502020204030204"/>
                <a:ea typeface="新細明體" panose="02020500000000000000" pitchFamily="18" charset="-120"/>
              </a:rPr>
              <a:t>A. Enumerate with </a:t>
            </a:r>
            <a:br>
              <a:rPr lang="en-US" altLang="zh-TW" sz="1400" b="1">
                <a:solidFill>
                  <a:srgbClr val="00B0F0"/>
                </a:solidFill>
                <a:latin typeface="Calibri" panose="020F0502020204030204"/>
                <a:ea typeface="新細明體" panose="02020500000000000000" pitchFamily="18" charset="-120"/>
              </a:rPr>
            </a:br>
            <a:r>
              <a:rPr lang="en-US" altLang="zh-TW" sz="1400" b="1" i="1">
                <a:solidFill>
                  <a:srgbClr val="00B0F0"/>
                </a:solidFill>
                <a:latin typeface="Calibri" panose="020F0502020204030204"/>
                <a:ea typeface="新細明體" panose="02020500000000000000" pitchFamily="18" charset="-120"/>
              </a:rPr>
              <a:t>in silico</a:t>
            </a:r>
            <a:r>
              <a:rPr lang="en-US" altLang="zh-TW" sz="1400" b="1">
                <a:solidFill>
                  <a:srgbClr val="00B0F0"/>
                </a:solidFill>
                <a:latin typeface="Calibri" panose="020F0502020204030204"/>
                <a:ea typeface="新細明體" panose="02020500000000000000" pitchFamily="18" charset="-120"/>
              </a:rPr>
              <a:t> composition + known fragments</a:t>
            </a:r>
            <a:endParaRPr kumimoji="0" lang="zh-TW" altLang="en-US" sz="1400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2425" name="群組 2424">
            <a:extLst>
              <a:ext uri="{FF2B5EF4-FFF2-40B4-BE49-F238E27FC236}">
                <a16:creationId xmlns:a16="http://schemas.microsoft.com/office/drawing/2014/main" id="{07A605EA-5FE0-03C4-F25C-E95C6E099DC9}"/>
              </a:ext>
            </a:extLst>
          </p:cNvPr>
          <p:cNvGrpSpPr/>
          <p:nvPr/>
        </p:nvGrpSpPr>
        <p:grpSpPr>
          <a:xfrm>
            <a:off x="5225748" y="2649482"/>
            <a:ext cx="474082" cy="479047"/>
            <a:chOff x="1524001" y="1722121"/>
            <a:chExt cx="586018" cy="612785"/>
          </a:xfrm>
        </p:grpSpPr>
        <p:sp>
          <p:nvSpPr>
            <p:cNvPr id="2426" name="矩形 2425">
              <a:extLst>
                <a:ext uri="{FF2B5EF4-FFF2-40B4-BE49-F238E27FC236}">
                  <a16:creationId xmlns:a16="http://schemas.microsoft.com/office/drawing/2014/main" id="{0C46311C-C587-648B-4811-92FAA7033243}"/>
                </a:ext>
              </a:extLst>
            </p:cNvPr>
            <p:cNvSpPr/>
            <p:nvPr/>
          </p:nvSpPr>
          <p:spPr>
            <a:xfrm>
              <a:off x="1609843" y="1889715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427" name="矩形 2426">
              <a:extLst>
                <a:ext uri="{FF2B5EF4-FFF2-40B4-BE49-F238E27FC236}">
                  <a16:creationId xmlns:a16="http://schemas.microsoft.com/office/drawing/2014/main" id="{90C2B583-1D1E-9672-482D-60342E91DBA0}"/>
                </a:ext>
              </a:extLst>
            </p:cNvPr>
            <p:cNvSpPr/>
            <p:nvPr/>
          </p:nvSpPr>
          <p:spPr>
            <a:xfrm>
              <a:off x="1563468" y="1901716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428" name="矩形 2427">
              <a:extLst>
                <a:ext uri="{FF2B5EF4-FFF2-40B4-BE49-F238E27FC236}">
                  <a16:creationId xmlns:a16="http://schemas.microsoft.com/office/drawing/2014/main" id="{37F5D7AA-E40C-637C-954D-0A87E3E59505}"/>
                </a:ext>
              </a:extLst>
            </p:cNvPr>
            <p:cNvSpPr/>
            <p:nvPr/>
          </p:nvSpPr>
          <p:spPr>
            <a:xfrm>
              <a:off x="1524578" y="1908186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429" name="流程圖: 多重文件 2428">
              <a:extLst>
                <a:ext uri="{FF2B5EF4-FFF2-40B4-BE49-F238E27FC236}">
                  <a16:creationId xmlns:a16="http://schemas.microsoft.com/office/drawing/2014/main" id="{B4CDC713-AD80-2CBB-C309-B59079A2D3F4}"/>
                </a:ext>
              </a:extLst>
            </p:cNvPr>
            <p:cNvSpPr/>
            <p:nvPr/>
          </p:nvSpPr>
          <p:spPr>
            <a:xfrm>
              <a:off x="1524001" y="1722121"/>
              <a:ext cx="583874" cy="266700"/>
            </a:xfrm>
            <a:prstGeom prst="flowChartMultidocumen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MS2</a:t>
              </a:r>
              <a:endParaRPr kumimoji="0" lang="zh-TW" alt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cxnSp>
          <p:nvCxnSpPr>
            <p:cNvPr id="2430" name="直線接點 2429">
              <a:extLst>
                <a:ext uri="{FF2B5EF4-FFF2-40B4-BE49-F238E27FC236}">
                  <a16:creationId xmlns:a16="http://schemas.microsoft.com/office/drawing/2014/main" id="{2235E229-4FAB-3795-61CE-E447E151072B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040601"/>
              <a:ext cx="413611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1" name="直線接點 2430">
              <a:extLst>
                <a:ext uri="{FF2B5EF4-FFF2-40B4-BE49-F238E27FC236}">
                  <a16:creationId xmlns:a16="http://schemas.microsoft.com/office/drawing/2014/main" id="{FA6BB47C-EE7F-6B3A-D4B3-399AB64F3840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106120"/>
              <a:ext cx="413611" cy="0"/>
            </a:xfrm>
            <a:prstGeom prst="line">
              <a:avLst/>
            </a:prstGeom>
            <a:ln w="12700" cmpd="sng">
              <a:solidFill>
                <a:schemeClr val="accent4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2" name="直線接點 2431">
              <a:extLst>
                <a:ext uri="{FF2B5EF4-FFF2-40B4-BE49-F238E27FC236}">
                  <a16:creationId xmlns:a16="http://schemas.microsoft.com/office/drawing/2014/main" id="{8D4C5809-FB0B-33A9-C9AC-AACB45F1524C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8" y="2148957"/>
              <a:ext cx="413611" cy="0"/>
            </a:xfrm>
            <a:prstGeom prst="line">
              <a:avLst/>
            </a:prstGeom>
            <a:ln w="12700" cmpd="sng">
              <a:solidFill>
                <a:schemeClr val="accent4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3" name="直線接點 2432">
              <a:extLst>
                <a:ext uri="{FF2B5EF4-FFF2-40B4-BE49-F238E27FC236}">
                  <a16:creationId xmlns:a16="http://schemas.microsoft.com/office/drawing/2014/main" id="{23718277-4CA5-7C78-2BEC-D82001CB3C45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206832"/>
              <a:ext cx="413611" cy="0"/>
            </a:xfrm>
            <a:prstGeom prst="line">
              <a:avLst/>
            </a:prstGeom>
            <a:ln w="12700" cmpd="sng">
              <a:solidFill>
                <a:schemeClr val="accent4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4" name="直線接點 2433">
              <a:extLst>
                <a:ext uri="{FF2B5EF4-FFF2-40B4-BE49-F238E27FC236}">
                  <a16:creationId xmlns:a16="http://schemas.microsoft.com/office/drawing/2014/main" id="{E8D9B2A2-9C21-7E4B-EBCE-146396E1E0FC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8" y="2254987"/>
              <a:ext cx="413611" cy="0"/>
            </a:xfrm>
            <a:prstGeom prst="line">
              <a:avLst/>
            </a:prstGeom>
            <a:ln w="12700" cmpd="sng">
              <a:solidFill>
                <a:schemeClr val="accent4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35" name="矩形 2434">
            <a:extLst>
              <a:ext uri="{FF2B5EF4-FFF2-40B4-BE49-F238E27FC236}">
                <a16:creationId xmlns:a16="http://schemas.microsoft.com/office/drawing/2014/main" id="{91A39C23-1F35-8D28-BFDF-4F686306CA33}"/>
              </a:ext>
            </a:extLst>
          </p:cNvPr>
          <p:cNvSpPr/>
          <p:nvPr/>
        </p:nvSpPr>
        <p:spPr>
          <a:xfrm>
            <a:off x="123641" y="1838057"/>
            <a:ext cx="8777776" cy="160435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36" name="矩形 2435">
            <a:extLst>
              <a:ext uri="{FF2B5EF4-FFF2-40B4-BE49-F238E27FC236}">
                <a16:creationId xmlns:a16="http://schemas.microsoft.com/office/drawing/2014/main" id="{01343C63-48FC-F8E9-2FC7-86C601469441}"/>
              </a:ext>
            </a:extLst>
          </p:cNvPr>
          <p:cNvSpPr/>
          <p:nvPr/>
        </p:nvSpPr>
        <p:spPr>
          <a:xfrm>
            <a:off x="123641" y="3464132"/>
            <a:ext cx="6832587" cy="157892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37" name="文字方塊 2436">
            <a:extLst>
              <a:ext uri="{FF2B5EF4-FFF2-40B4-BE49-F238E27FC236}">
                <a16:creationId xmlns:a16="http://schemas.microsoft.com/office/drawing/2014/main" id="{CA9BDC48-8AF8-FC6A-EA32-41B8628D0D96}"/>
              </a:ext>
            </a:extLst>
          </p:cNvPr>
          <p:cNvSpPr txBox="1"/>
          <p:nvPr/>
        </p:nvSpPr>
        <p:spPr>
          <a:xfrm>
            <a:off x="4893696" y="3113046"/>
            <a:ext cx="12478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Filtered MS2 list</a:t>
            </a: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438" name="文字方塊 2437">
            <a:extLst>
              <a:ext uri="{FF2B5EF4-FFF2-40B4-BE49-F238E27FC236}">
                <a16:creationId xmlns:a16="http://schemas.microsoft.com/office/drawing/2014/main" id="{4A161151-C0EE-5F5D-5243-0550A695FF55}"/>
              </a:ext>
            </a:extLst>
          </p:cNvPr>
          <p:cNvSpPr txBox="1"/>
          <p:nvPr/>
        </p:nvSpPr>
        <p:spPr>
          <a:xfrm>
            <a:off x="3836981" y="2913202"/>
            <a:ext cx="13004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Glycan fragments</a:t>
            </a:r>
            <a:endParaRPr kumimoji="0" lang="zh-TW" altLang="en-US" sz="10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439" name="文字方塊 2438">
            <a:extLst>
              <a:ext uri="{FF2B5EF4-FFF2-40B4-BE49-F238E27FC236}">
                <a16:creationId xmlns:a16="http://schemas.microsoft.com/office/drawing/2014/main" id="{16A6781B-742B-D3A3-ACA7-D8C7EBA5B58B}"/>
              </a:ext>
            </a:extLst>
          </p:cNvPr>
          <p:cNvSpPr txBox="1"/>
          <p:nvPr/>
        </p:nvSpPr>
        <p:spPr>
          <a:xfrm>
            <a:off x="5016150" y="2384983"/>
            <a:ext cx="982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Threshold = a</a:t>
            </a:r>
            <a:endParaRPr kumimoji="0" lang="zh-TW" altLang="en-US" sz="10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440" name="箭號: 向右 2439">
            <a:extLst>
              <a:ext uri="{FF2B5EF4-FFF2-40B4-BE49-F238E27FC236}">
                <a16:creationId xmlns:a16="http://schemas.microsoft.com/office/drawing/2014/main" id="{2FF6B8E4-0EF2-D4F3-1A56-FEE0FA5DF61F}"/>
              </a:ext>
            </a:extLst>
          </p:cNvPr>
          <p:cNvSpPr/>
          <p:nvPr/>
        </p:nvSpPr>
        <p:spPr>
          <a:xfrm>
            <a:off x="5921741" y="2715431"/>
            <a:ext cx="1247808" cy="281858"/>
          </a:xfrm>
          <a:prstGeom prst="rightArrow">
            <a:avLst>
              <a:gd name="adj1" fmla="val 50000"/>
              <a:gd name="adj2" fmla="val 10082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2441" name="群組 2440">
            <a:extLst>
              <a:ext uri="{FF2B5EF4-FFF2-40B4-BE49-F238E27FC236}">
                <a16:creationId xmlns:a16="http://schemas.microsoft.com/office/drawing/2014/main" id="{9E220BC2-CC31-6878-FBBB-E787211E5416}"/>
              </a:ext>
            </a:extLst>
          </p:cNvPr>
          <p:cNvGrpSpPr/>
          <p:nvPr/>
        </p:nvGrpSpPr>
        <p:grpSpPr>
          <a:xfrm>
            <a:off x="7284634" y="2649482"/>
            <a:ext cx="474082" cy="479047"/>
            <a:chOff x="1524001" y="1722121"/>
            <a:chExt cx="586018" cy="612785"/>
          </a:xfrm>
        </p:grpSpPr>
        <p:sp>
          <p:nvSpPr>
            <p:cNvPr id="2442" name="矩形 2441">
              <a:extLst>
                <a:ext uri="{FF2B5EF4-FFF2-40B4-BE49-F238E27FC236}">
                  <a16:creationId xmlns:a16="http://schemas.microsoft.com/office/drawing/2014/main" id="{4C199838-03B6-E582-2B02-1F598C685CA0}"/>
                </a:ext>
              </a:extLst>
            </p:cNvPr>
            <p:cNvSpPr/>
            <p:nvPr/>
          </p:nvSpPr>
          <p:spPr>
            <a:xfrm>
              <a:off x="1609843" y="1889715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443" name="矩形 2442">
              <a:extLst>
                <a:ext uri="{FF2B5EF4-FFF2-40B4-BE49-F238E27FC236}">
                  <a16:creationId xmlns:a16="http://schemas.microsoft.com/office/drawing/2014/main" id="{FEC12B37-B546-55C1-3FAA-E50F98B701E7}"/>
                </a:ext>
              </a:extLst>
            </p:cNvPr>
            <p:cNvSpPr/>
            <p:nvPr/>
          </p:nvSpPr>
          <p:spPr>
            <a:xfrm>
              <a:off x="1563468" y="1901716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444" name="矩形 2443">
              <a:extLst>
                <a:ext uri="{FF2B5EF4-FFF2-40B4-BE49-F238E27FC236}">
                  <a16:creationId xmlns:a16="http://schemas.microsoft.com/office/drawing/2014/main" id="{8388BE5E-B571-6612-4BE4-7D3BEE49E33B}"/>
                </a:ext>
              </a:extLst>
            </p:cNvPr>
            <p:cNvSpPr/>
            <p:nvPr/>
          </p:nvSpPr>
          <p:spPr>
            <a:xfrm>
              <a:off x="1524578" y="1908186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445" name="流程圖: 多重文件 2444">
              <a:extLst>
                <a:ext uri="{FF2B5EF4-FFF2-40B4-BE49-F238E27FC236}">
                  <a16:creationId xmlns:a16="http://schemas.microsoft.com/office/drawing/2014/main" id="{685E2DF8-1FE1-8F33-F2F3-7F934EF96B1A}"/>
                </a:ext>
              </a:extLst>
            </p:cNvPr>
            <p:cNvSpPr/>
            <p:nvPr/>
          </p:nvSpPr>
          <p:spPr>
            <a:xfrm>
              <a:off x="1524001" y="1722121"/>
              <a:ext cx="583874" cy="266700"/>
            </a:xfrm>
            <a:prstGeom prst="flowChartMultidocument">
              <a:avLst/>
            </a:prstGeom>
            <a:solidFill>
              <a:srgbClr val="00CC66"/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MS2</a:t>
              </a:r>
              <a:endParaRPr kumimoji="0" lang="zh-TW" alt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cxnSp>
          <p:nvCxnSpPr>
            <p:cNvPr id="2446" name="直線接點 2445">
              <a:extLst>
                <a:ext uri="{FF2B5EF4-FFF2-40B4-BE49-F238E27FC236}">
                  <a16:creationId xmlns:a16="http://schemas.microsoft.com/office/drawing/2014/main" id="{E8BCF3DB-4AC3-D8BE-4D51-A0C086B17623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040601"/>
              <a:ext cx="413611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7" name="直線接點 2446">
              <a:extLst>
                <a:ext uri="{FF2B5EF4-FFF2-40B4-BE49-F238E27FC236}">
                  <a16:creationId xmlns:a16="http://schemas.microsoft.com/office/drawing/2014/main" id="{CFCA3F2C-1CDA-EB34-C07F-C5973BC4CCA3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106120"/>
              <a:ext cx="413611" cy="0"/>
            </a:xfrm>
            <a:prstGeom prst="line">
              <a:avLst/>
            </a:prstGeom>
            <a:ln w="12700" cmpd="sng">
              <a:solidFill>
                <a:srgbClr val="00CC66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8" name="直線接點 2447">
              <a:extLst>
                <a:ext uri="{FF2B5EF4-FFF2-40B4-BE49-F238E27FC236}">
                  <a16:creationId xmlns:a16="http://schemas.microsoft.com/office/drawing/2014/main" id="{B910BBC1-B1A4-ECD4-520A-2BDC84D85188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8" y="2148957"/>
              <a:ext cx="413611" cy="0"/>
            </a:xfrm>
            <a:prstGeom prst="line">
              <a:avLst/>
            </a:prstGeom>
            <a:ln w="12700" cmpd="sng">
              <a:solidFill>
                <a:srgbClr val="00CC66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9" name="直線接點 2448">
              <a:extLst>
                <a:ext uri="{FF2B5EF4-FFF2-40B4-BE49-F238E27FC236}">
                  <a16:creationId xmlns:a16="http://schemas.microsoft.com/office/drawing/2014/main" id="{50AB5D50-203B-255F-9616-2202F59C403D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206832"/>
              <a:ext cx="413611" cy="0"/>
            </a:xfrm>
            <a:prstGeom prst="line">
              <a:avLst/>
            </a:prstGeom>
            <a:ln w="12700" cmpd="sng">
              <a:solidFill>
                <a:srgbClr val="00CC66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0" name="直線接點 2449">
              <a:extLst>
                <a:ext uri="{FF2B5EF4-FFF2-40B4-BE49-F238E27FC236}">
                  <a16:creationId xmlns:a16="http://schemas.microsoft.com/office/drawing/2014/main" id="{658965ED-3A4E-F72D-F131-742C47ED634B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8" y="2254987"/>
              <a:ext cx="413611" cy="0"/>
            </a:xfrm>
            <a:prstGeom prst="line">
              <a:avLst/>
            </a:prstGeom>
            <a:ln w="12700" cmpd="sng">
              <a:solidFill>
                <a:srgbClr val="00CC66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52" name="文字方塊 2451">
            <a:extLst>
              <a:ext uri="{FF2B5EF4-FFF2-40B4-BE49-F238E27FC236}">
                <a16:creationId xmlns:a16="http://schemas.microsoft.com/office/drawing/2014/main" id="{3F4C9472-8D43-B438-3020-3928963E47E0}"/>
              </a:ext>
            </a:extLst>
          </p:cNvPr>
          <p:cNvSpPr txBox="1"/>
          <p:nvPr/>
        </p:nvSpPr>
        <p:spPr>
          <a:xfrm>
            <a:off x="5903433" y="2340845"/>
            <a:ext cx="1429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Enumerate </a:t>
            </a:r>
            <a:r>
              <a:rPr kumimoji="0" lang="en-US" altLang="zh-TW" sz="100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glycotopes</a:t>
            </a:r>
            <a:r>
              <a:rPr kumimoji="0" lang="en-US" altLang="zh-TW" sz="1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 to build glycans</a:t>
            </a:r>
            <a:endParaRPr kumimoji="0" lang="zh-TW" altLang="en-US" sz="10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2453" name="群組 2452">
            <a:extLst>
              <a:ext uri="{FF2B5EF4-FFF2-40B4-BE49-F238E27FC236}">
                <a16:creationId xmlns:a16="http://schemas.microsoft.com/office/drawing/2014/main" id="{24C28ED5-AE72-F9AB-5E87-34B1BE6F4429}"/>
              </a:ext>
            </a:extLst>
          </p:cNvPr>
          <p:cNvGrpSpPr/>
          <p:nvPr/>
        </p:nvGrpSpPr>
        <p:grpSpPr>
          <a:xfrm>
            <a:off x="7326123" y="2026260"/>
            <a:ext cx="289110" cy="504581"/>
            <a:chOff x="1025236" y="3389004"/>
            <a:chExt cx="591127" cy="1074273"/>
          </a:xfrm>
        </p:grpSpPr>
        <p:sp>
          <p:nvSpPr>
            <p:cNvPr id="2454" name="箭號: 向下 2453">
              <a:extLst>
                <a:ext uri="{FF2B5EF4-FFF2-40B4-BE49-F238E27FC236}">
                  <a16:creationId xmlns:a16="http://schemas.microsoft.com/office/drawing/2014/main" id="{3012B711-D638-9673-769F-5174F7A33AB7}"/>
                </a:ext>
              </a:extLst>
            </p:cNvPr>
            <p:cNvSpPr/>
            <p:nvPr/>
          </p:nvSpPr>
          <p:spPr>
            <a:xfrm>
              <a:off x="1025236" y="3884850"/>
              <a:ext cx="591127" cy="578427"/>
            </a:xfrm>
            <a:prstGeom prst="downArrow">
              <a:avLst>
                <a:gd name="adj1" fmla="val 50000"/>
                <a:gd name="adj2" fmla="val 56217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455" name="矩形 2454">
              <a:extLst>
                <a:ext uri="{FF2B5EF4-FFF2-40B4-BE49-F238E27FC236}">
                  <a16:creationId xmlns:a16="http://schemas.microsoft.com/office/drawing/2014/main" id="{1247C1D5-16AE-812A-F5BB-759DB6743538}"/>
                </a:ext>
              </a:extLst>
            </p:cNvPr>
            <p:cNvSpPr/>
            <p:nvPr/>
          </p:nvSpPr>
          <p:spPr>
            <a:xfrm>
              <a:off x="1174750" y="3517414"/>
              <a:ext cx="295200" cy="85726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456" name="矩形 2455">
              <a:extLst>
                <a:ext uri="{FF2B5EF4-FFF2-40B4-BE49-F238E27FC236}">
                  <a16:creationId xmlns:a16="http://schemas.microsoft.com/office/drawing/2014/main" id="{BE89D70A-72BD-B37A-4ED7-E259FBFB0F21}"/>
                </a:ext>
              </a:extLst>
            </p:cNvPr>
            <p:cNvSpPr/>
            <p:nvPr/>
          </p:nvSpPr>
          <p:spPr>
            <a:xfrm>
              <a:off x="1174750" y="3389004"/>
              <a:ext cx="295200" cy="69364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457" name="矩形 2456">
              <a:extLst>
                <a:ext uri="{FF2B5EF4-FFF2-40B4-BE49-F238E27FC236}">
                  <a16:creationId xmlns:a16="http://schemas.microsoft.com/office/drawing/2014/main" id="{1701FA3A-250C-3744-46E8-70C2DFE75655}"/>
                </a:ext>
              </a:extLst>
            </p:cNvPr>
            <p:cNvSpPr/>
            <p:nvPr/>
          </p:nvSpPr>
          <p:spPr>
            <a:xfrm>
              <a:off x="1174750" y="3654911"/>
              <a:ext cx="295200" cy="172794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2458" name="文字方塊 2457">
            <a:extLst>
              <a:ext uri="{FF2B5EF4-FFF2-40B4-BE49-F238E27FC236}">
                <a16:creationId xmlns:a16="http://schemas.microsoft.com/office/drawing/2014/main" id="{04A7CA60-7EA1-8B5E-C170-FCC377102577}"/>
              </a:ext>
            </a:extLst>
          </p:cNvPr>
          <p:cNvSpPr txBox="1"/>
          <p:nvPr/>
        </p:nvSpPr>
        <p:spPr>
          <a:xfrm>
            <a:off x="6608796" y="1414479"/>
            <a:ext cx="2128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err="1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Glycogenes</a:t>
            </a:r>
            <a:r>
              <a:rPr lang="en-US" altLang="zh-TW" sz="120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 &amp; </a:t>
            </a:r>
            <a:r>
              <a:rPr lang="en-US" altLang="zh-TW" sz="1200" err="1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Glycotopes</a:t>
            </a:r>
            <a:r>
              <a:rPr lang="en-US" altLang="zh-TW" sz="120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 </a:t>
            </a:r>
            <a:br>
              <a:rPr lang="en-US" altLang="zh-TW" sz="120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</a:br>
            <a:r>
              <a:rPr lang="en-US" altLang="zh-TW" sz="120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expression in certain species</a:t>
            </a: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2459" name="群組 2458">
            <a:extLst>
              <a:ext uri="{FF2B5EF4-FFF2-40B4-BE49-F238E27FC236}">
                <a16:creationId xmlns:a16="http://schemas.microsoft.com/office/drawing/2014/main" id="{674E222D-11C2-C2A3-DFB6-79F46644AADA}"/>
              </a:ext>
            </a:extLst>
          </p:cNvPr>
          <p:cNvGrpSpPr/>
          <p:nvPr/>
        </p:nvGrpSpPr>
        <p:grpSpPr>
          <a:xfrm>
            <a:off x="7277266" y="967917"/>
            <a:ext cx="474082" cy="479047"/>
            <a:chOff x="1524001" y="1722121"/>
            <a:chExt cx="586018" cy="612785"/>
          </a:xfrm>
        </p:grpSpPr>
        <p:sp>
          <p:nvSpPr>
            <p:cNvPr id="2460" name="矩形 2459">
              <a:extLst>
                <a:ext uri="{FF2B5EF4-FFF2-40B4-BE49-F238E27FC236}">
                  <a16:creationId xmlns:a16="http://schemas.microsoft.com/office/drawing/2014/main" id="{49ABD2A7-2F71-32F5-82A0-614C281BCD5B}"/>
                </a:ext>
              </a:extLst>
            </p:cNvPr>
            <p:cNvSpPr/>
            <p:nvPr/>
          </p:nvSpPr>
          <p:spPr>
            <a:xfrm>
              <a:off x="1609843" y="1889715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461" name="矩形 2460">
              <a:extLst>
                <a:ext uri="{FF2B5EF4-FFF2-40B4-BE49-F238E27FC236}">
                  <a16:creationId xmlns:a16="http://schemas.microsoft.com/office/drawing/2014/main" id="{A402ADFC-3E71-443F-3DBF-9DD438902B44}"/>
                </a:ext>
              </a:extLst>
            </p:cNvPr>
            <p:cNvSpPr/>
            <p:nvPr/>
          </p:nvSpPr>
          <p:spPr>
            <a:xfrm>
              <a:off x="1563468" y="1901716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462" name="矩形 2461">
              <a:extLst>
                <a:ext uri="{FF2B5EF4-FFF2-40B4-BE49-F238E27FC236}">
                  <a16:creationId xmlns:a16="http://schemas.microsoft.com/office/drawing/2014/main" id="{9160CDA8-C05C-076D-F04E-F5DB149B4C63}"/>
                </a:ext>
              </a:extLst>
            </p:cNvPr>
            <p:cNvSpPr/>
            <p:nvPr/>
          </p:nvSpPr>
          <p:spPr>
            <a:xfrm>
              <a:off x="1524578" y="1908186"/>
              <a:ext cx="500176" cy="426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463" name="流程圖: 多重文件 2462">
              <a:extLst>
                <a:ext uri="{FF2B5EF4-FFF2-40B4-BE49-F238E27FC236}">
                  <a16:creationId xmlns:a16="http://schemas.microsoft.com/office/drawing/2014/main" id="{BB930A88-B21A-64F0-3405-195ECC7D5E22}"/>
                </a:ext>
              </a:extLst>
            </p:cNvPr>
            <p:cNvSpPr/>
            <p:nvPr/>
          </p:nvSpPr>
          <p:spPr>
            <a:xfrm>
              <a:off x="1524001" y="1722121"/>
              <a:ext cx="583874" cy="266700"/>
            </a:xfrm>
            <a:prstGeom prst="flowChartMultidocumen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600" err="1">
                  <a:solidFill>
                    <a:sysClr val="windowText" lastClr="000000"/>
                  </a:solidFill>
                  <a:latin typeface="Calibri" panose="020F0502020204030204"/>
                  <a:ea typeface="新細明體" panose="02020500000000000000" pitchFamily="18" charset="-120"/>
                </a:rPr>
                <a:t>Glycotope</a:t>
              </a:r>
              <a:endParaRPr kumimoji="0" lang="zh-TW" altLang="en-US" sz="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cxnSp>
          <p:nvCxnSpPr>
            <p:cNvPr id="2464" name="直線接點 2463">
              <a:extLst>
                <a:ext uri="{FF2B5EF4-FFF2-40B4-BE49-F238E27FC236}">
                  <a16:creationId xmlns:a16="http://schemas.microsoft.com/office/drawing/2014/main" id="{D6E214A9-7BD5-8F42-7106-30B614B48EF7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040601"/>
              <a:ext cx="413611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5" name="直線接點 2464">
              <a:extLst>
                <a:ext uri="{FF2B5EF4-FFF2-40B4-BE49-F238E27FC236}">
                  <a16:creationId xmlns:a16="http://schemas.microsoft.com/office/drawing/2014/main" id="{5273056D-3921-AAB0-2206-C3B94C49F9CB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106120"/>
              <a:ext cx="413611" cy="0"/>
            </a:xfrm>
            <a:prstGeom prst="line">
              <a:avLst/>
            </a:prstGeom>
            <a:ln w="12700" cmpd="sng">
              <a:solidFill>
                <a:schemeClr val="bg1">
                  <a:lumMod val="65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6" name="直線接點 2465">
              <a:extLst>
                <a:ext uri="{FF2B5EF4-FFF2-40B4-BE49-F238E27FC236}">
                  <a16:creationId xmlns:a16="http://schemas.microsoft.com/office/drawing/2014/main" id="{BC9A63CD-E0EA-D0E6-C0F6-978C6CF65679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8" y="2148957"/>
              <a:ext cx="413611" cy="0"/>
            </a:xfrm>
            <a:prstGeom prst="line">
              <a:avLst/>
            </a:prstGeom>
            <a:ln w="12700" cmpd="sng">
              <a:solidFill>
                <a:schemeClr val="bg1">
                  <a:lumMod val="65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7" name="直線接點 2466">
              <a:extLst>
                <a:ext uri="{FF2B5EF4-FFF2-40B4-BE49-F238E27FC236}">
                  <a16:creationId xmlns:a16="http://schemas.microsoft.com/office/drawing/2014/main" id="{452C07B2-B4FD-2974-D6C1-3944BB929C95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9" y="2206832"/>
              <a:ext cx="413611" cy="0"/>
            </a:xfrm>
            <a:prstGeom prst="line">
              <a:avLst/>
            </a:prstGeom>
            <a:ln w="12700" cmpd="sng">
              <a:solidFill>
                <a:schemeClr val="bg1">
                  <a:lumMod val="65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8" name="直線接點 2467">
              <a:extLst>
                <a:ext uri="{FF2B5EF4-FFF2-40B4-BE49-F238E27FC236}">
                  <a16:creationId xmlns:a16="http://schemas.microsoft.com/office/drawing/2014/main" id="{BDF6D749-55A1-9130-3BCD-4F3CDA1CB5CC}"/>
                </a:ext>
              </a:extLst>
            </p:cNvPr>
            <p:cNvCxnSpPr>
              <a:cxnSpLocks/>
            </p:cNvCxnSpPr>
            <p:nvPr/>
          </p:nvCxnSpPr>
          <p:spPr>
            <a:xfrm>
              <a:off x="1567858" y="2254987"/>
              <a:ext cx="413611" cy="0"/>
            </a:xfrm>
            <a:prstGeom prst="line">
              <a:avLst/>
            </a:prstGeom>
            <a:ln w="12700" cmpd="sng">
              <a:solidFill>
                <a:schemeClr val="bg1">
                  <a:lumMod val="65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69" name="文字方塊 2468">
            <a:extLst>
              <a:ext uri="{FF2B5EF4-FFF2-40B4-BE49-F238E27FC236}">
                <a16:creationId xmlns:a16="http://schemas.microsoft.com/office/drawing/2014/main" id="{CF05D322-0D06-1910-E635-D952C676A8BD}"/>
              </a:ext>
            </a:extLst>
          </p:cNvPr>
          <p:cNvSpPr txBox="1"/>
          <p:nvPr/>
        </p:nvSpPr>
        <p:spPr>
          <a:xfrm>
            <a:off x="7757170" y="1926220"/>
            <a:ext cx="13004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Examines if the composition and fragments in spectrum is reasonable based on possible </a:t>
            </a:r>
            <a:r>
              <a:rPr kumimoji="0" lang="en-US" altLang="zh-TW" sz="100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glycotope</a:t>
            </a:r>
            <a:r>
              <a:rPr kumimoji="0" lang="en-US" altLang="zh-TW" sz="1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 combinations</a:t>
            </a:r>
            <a:endParaRPr kumimoji="0" lang="zh-TW" altLang="en-US" sz="10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470" name="文字方塊 2469">
            <a:extLst>
              <a:ext uri="{FF2B5EF4-FFF2-40B4-BE49-F238E27FC236}">
                <a16:creationId xmlns:a16="http://schemas.microsoft.com/office/drawing/2014/main" id="{115CF9AF-0A18-D563-D466-C53FFB0708BD}"/>
              </a:ext>
            </a:extLst>
          </p:cNvPr>
          <p:cNvSpPr txBox="1"/>
          <p:nvPr/>
        </p:nvSpPr>
        <p:spPr>
          <a:xfrm>
            <a:off x="6419520" y="3113046"/>
            <a:ext cx="2472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Enumerated</a:t>
            </a: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 MS2 list + composition</a:t>
            </a: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471" name="箭號: 向右 2470">
            <a:extLst>
              <a:ext uri="{FF2B5EF4-FFF2-40B4-BE49-F238E27FC236}">
                <a16:creationId xmlns:a16="http://schemas.microsoft.com/office/drawing/2014/main" id="{AF7A4396-F94B-8C5A-AF4E-C180C86EC477}"/>
              </a:ext>
            </a:extLst>
          </p:cNvPr>
          <p:cNvSpPr/>
          <p:nvPr/>
        </p:nvSpPr>
        <p:spPr>
          <a:xfrm>
            <a:off x="3875522" y="4375940"/>
            <a:ext cx="1247808" cy="281858"/>
          </a:xfrm>
          <a:prstGeom prst="rightArrow">
            <a:avLst>
              <a:gd name="adj1" fmla="val 50000"/>
              <a:gd name="adj2" fmla="val 10082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472" name="文字方塊 2471">
            <a:extLst>
              <a:ext uri="{FF2B5EF4-FFF2-40B4-BE49-F238E27FC236}">
                <a16:creationId xmlns:a16="http://schemas.microsoft.com/office/drawing/2014/main" id="{4E6F851D-EE4F-9614-821A-C88CD2BDA043}"/>
              </a:ext>
            </a:extLst>
          </p:cNvPr>
          <p:cNvSpPr txBox="1"/>
          <p:nvPr/>
        </p:nvSpPr>
        <p:spPr>
          <a:xfrm>
            <a:off x="4065319" y="4170469"/>
            <a:ext cx="13004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Summarize</a:t>
            </a:r>
            <a:endParaRPr kumimoji="0" lang="zh-TW" altLang="en-US" sz="10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480" name="文字方塊 2479">
            <a:extLst>
              <a:ext uri="{FF2B5EF4-FFF2-40B4-BE49-F238E27FC236}">
                <a16:creationId xmlns:a16="http://schemas.microsoft.com/office/drawing/2014/main" id="{6848CB92-1C6D-1E39-E7E8-DE72AC2E4215}"/>
              </a:ext>
            </a:extLst>
          </p:cNvPr>
          <p:cNvSpPr txBox="1"/>
          <p:nvPr/>
        </p:nvSpPr>
        <p:spPr>
          <a:xfrm>
            <a:off x="5031491" y="3722592"/>
            <a:ext cx="1775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Models assigning spectra as certain annotations</a:t>
            </a: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2482" name="群組 2481">
            <a:extLst>
              <a:ext uri="{FF2B5EF4-FFF2-40B4-BE49-F238E27FC236}">
                <a16:creationId xmlns:a16="http://schemas.microsoft.com/office/drawing/2014/main" id="{B92EBB51-CB2B-CA69-BCD8-6304A0594F00}"/>
              </a:ext>
            </a:extLst>
          </p:cNvPr>
          <p:cNvGrpSpPr/>
          <p:nvPr/>
        </p:nvGrpSpPr>
        <p:grpSpPr>
          <a:xfrm>
            <a:off x="5112686" y="4279525"/>
            <a:ext cx="867063" cy="501249"/>
            <a:chOff x="1253063" y="1724392"/>
            <a:chExt cx="867063" cy="501249"/>
          </a:xfrm>
        </p:grpSpPr>
        <p:grpSp>
          <p:nvGrpSpPr>
            <p:cNvPr id="2483" name="群組 2482">
              <a:extLst>
                <a:ext uri="{FF2B5EF4-FFF2-40B4-BE49-F238E27FC236}">
                  <a16:creationId xmlns:a16="http://schemas.microsoft.com/office/drawing/2014/main" id="{9FD0FB1E-369D-CC75-A8EB-988D2476A5A6}"/>
                </a:ext>
              </a:extLst>
            </p:cNvPr>
            <p:cNvGrpSpPr/>
            <p:nvPr/>
          </p:nvGrpSpPr>
          <p:grpSpPr>
            <a:xfrm>
              <a:off x="1253063" y="1724392"/>
              <a:ext cx="519390" cy="253873"/>
              <a:chOff x="-1868836" y="1912156"/>
              <a:chExt cx="1829670" cy="866762"/>
            </a:xfrm>
          </p:grpSpPr>
          <p:sp>
            <p:nvSpPr>
              <p:cNvPr id="2510" name="矩形 2509">
                <a:extLst>
                  <a:ext uri="{FF2B5EF4-FFF2-40B4-BE49-F238E27FC236}">
                    <a16:creationId xmlns:a16="http://schemas.microsoft.com/office/drawing/2014/main" id="{126418E9-961E-D1D8-630D-215554F07825}"/>
                  </a:ext>
                </a:extLst>
              </p:cNvPr>
              <p:cNvSpPr/>
              <p:nvPr/>
            </p:nvSpPr>
            <p:spPr>
              <a:xfrm>
                <a:off x="-1868836" y="1912156"/>
                <a:ext cx="1829670" cy="8667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2511" name="直線接點 2510">
                <a:extLst>
                  <a:ext uri="{FF2B5EF4-FFF2-40B4-BE49-F238E27FC236}">
                    <a16:creationId xmlns:a16="http://schemas.microsoft.com/office/drawing/2014/main" id="{912F9C04-2D79-A2C0-495F-E6492CCF21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608593" y="2281512"/>
                <a:ext cx="0" cy="49740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2" name="直線接點 2511">
                <a:extLst>
                  <a:ext uri="{FF2B5EF4-FFF2-40B4-BE49-F238E27FC236}">
                    <a16:creationId xmlns:a16="http://schemas.microsoft.com/office/drawing/2014/main" id="{2244A18B-CF3B-FDDD-0F5A-62E9E078F3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501002" y="2530215"/>
                <a:ext cx="0" cy="24870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3" name="直線接點 2512">
                <a:extLst>
                  <a:ext uri="{FF2B5EF4-FFF2-40B4-BE49-F238E27FC236}">
                    <a16:creationId xmlns:a16="http://schemas.microsoft.com/office/drawing/2014/main" id="{FD2DFADB-F6D3-21BE-F745-C551EBAB42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371892" y="2448539"/>
                <a:ext cx="0" cy="33037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4" name="直線接點 2513">
                <a:extLst>
                  <a:ext uri="{FF2B5EF4-FFF2-40B4-BE49-F238E27FC236}">
                    <a16:creationId xmlns:a16="http://schemas.microsoft.com/office/drawing/2014/main" id="{113FE6D8-4617-5D62-ACDD-B145CEA7E5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237403" y="2463475"/>
                <a:ext cx="0" cy="315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5" name="直線接點 2514">
                <a:extLst>
                  <a:ext uri="{FF2B5EF4-FFF2-40B4-BE49-F238E27FC236}">
                    <a16:creationId xmlns:a16="http://schemas.microsoft.com/office/drawing/2014/main" id="{E8DA2F05-4E48-F225-A1C4-3DDF0CA8E1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127121" y="2345537"/>
                <a:ext cx="0" cy="43338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6" name="直線接點 2515">
                <a:extLst>
                  <a:ext uri="{FF2B5EF4-FFF2-40B4-BE49-F238E27FC236}">
                    <a16:creationId xmlns:a16="http://schemas.microsoft.com/office/drawing/2014/main" id="{D547A905-6B97-F77C-2A8F-123B724DD3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98489" y="2405097"/>
                <a:ext cx="0" cy="37382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7" name="直線接點 2516">
                <a:extLst>
                  <a:ext uri="{FF2B5EF4-FFF2-40B4-BE49-F238E27FC236}">
                    <a16:creationId xmlns:a16="http://schemas.microsoft.com/office/drawing/2014/main" id="{8444DE94-34FF-751C-3C33-42CDAB706A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42004" y="2542862"/>
                <a:ext cx="0" cy="23605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8" name="直線接點 2517">
                <a:extLst>
                  <a:ext uri="{FF2B5EF4-FFF2-40B4-BE49-F238E27FC236}">
                    <a16:creationId xmlns:a16="http://schemas.microsoft.com/office/drawing/2014/main" id="{BE74090D-1C98-3CCC-D368-0EA1D9A79B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09726" y="2424531"/>
                <a:ext cx="0" cy="354387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9" name="直線接點 2518">
                <a:extLst>
                  <a:ext uri="{FF2B5EF4-FFF2-40B4-BE49-F238E27FC236}">
                    <a16:creationId xmlns:a16="http://schemas.microsoft.com/office/drawing/2014/main" id="{6A322A00-9B95-5771-86C7-4ED88F33F9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745171" y="2424531"/>
                <a:ext cx="0" cy="354387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0" name="直線接點 2519">
                <a:extLst>
                  <a:ext uri="{FF2B5EF4-FFF2-40B4-BE49-F238E27FC236}">
                    <a16:creationId xmlns:a16="http://schemas.microsoft.com/office/drawing/2014/main" id="{E4CF5202-4C56-873D-2800-7AE4B24C24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83756" y="2507997"/>
                <a:ext cx="0" cy="27092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1" name="直線接點 2520">
                <a:extLst>
                  <a:ext uri="{FF2B5EF4-FFF2-40B4-BE49-F238E27FC236}">
                    <a16:creationId xmlns:a16="http://schemas.microsoft.com/office/drawing/2014/main" id="{FD17659A-FA15-8CAA-4A9F-C5932CE2DB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303540" y="2025684"/>
                <a:ext cx="0" cy="753234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84" name="群組 2483">
              <a:extLst>
                <a:ext uri="{FF2B5EF4-FFF2-40B4-BE49-F238E27FC236}">
                  <a16:creationId xmlns:a16="http://schemas.microsoft.com/office/drawing/2014/main" id="{F43C95EB-F359-4EF7-9480-EA71904EA8BA}"/>
                </a:ext>
              </a:extLst>
            </p:cNvPr>
            <p:cNvGrpSpPr/>
            <p:nvPr/>
          </p:nvGrpSpPr>
          <p:grpSpPr>
            <a:xfrm>
              <a:off x="1467181" y="1856521"/>
              <a:ext cx="513985" cy="243488"/>
              <a:chOff x="-581466" y="2043406"/>
              <a:chExt cx="881430" cy="417556"/>
            </a:xfrm>
          </p:grpSpPr>
          <p:sp>
            <p:nvSpPr>
              <p:cNvPr id="2498" name="矩形 2497">
                <a:extLst>
                  <a:ext uri="{FF2B5EF4-FFF2-40B4-BE49-F238E27FC236}">
                    <a16:creationId xmlns:a16="http://schemas.microsoft.com/office/drawing/2014/main" id="{BDA9918F-F5EB-164B-7FBF-BF2AD0AA6C4B}"/>
                  </a:ext>
                </a:extLst>
              </p:cNvPr>
              <p:cNvSpPr/>
              <p:nvPr/>
            </p:nvSpPr>
            <p:spPr>
              <a:xfrm>
                <a:off x="-581466" y="2043406"/>
                <a:ext cx="881430" cy="4175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2499" name="直線接點 2498">
                <a:extLst>
                  <a:ext uri="{FF2B5EF4-FFF2-40B4-BE49-F238E27FC236}">
                    <a16:creationId xmlns:a16="http://schemas.microsoft.com/office/drawing/2014/main" id="{78AF50C8-6B17-CA40-EF11-86D1A7937A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96" y="2404103"/>
                <a:ext cx="0" cy="5685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0" name="直線接點 2499">
                <a:extLst>
                  <a:ext uri="{FF2B5EF4-FFF2-40B4-BE49-F238E27FC236}">
                    <a16:creationId xmlns:a16="http://schemas.microsoft.com/office/drawing/2014/main" id="{D243586B-DC0E-C30A-1581-BD4D45EAAE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4265" y="2341151"/>
                <a:ext cx="0" cy="11981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1" name="直線接點 2500">
                <a:extLst>
                  <a:ext uri="{FF2B5EF4-FFF2-40B4-BE49-F238E27FC236}">
                    <a16:creationId xmlns:a16="http://schemas.microsoft.com/office/drawing/2014/main" id="{F5BDA39C-9A7A-77B0-2A74-8CD4EFAEB3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526217" y="2301804"/>
                <a:ext cx="0" cy="15915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2" name="直線接點 2501">
                <a:extLst>
                  <a:ext uri="{FF2B5EF4-FFF2-40B4-BE49-F238E27FC236}">
                    <a16:creationId xmlns:a16="http://schemas.microsoft.com/office/drawing/2014/main" id="{18AF571D-5BC5-3127-9EA7-088FB896E4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83653" y="2309000"/>
                <a:ext cx="0" cy="151962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3" name="直線接點 2502">
                <a:extLst>
                  <a:ext uri="{FF2B5EF4-FFF2-40B4-BE49-F238E27FC236}">
                    <a16:creationId xmlns:a16="http://schemas.microsoft.com/office/drawing/2014/main" id="{91624A2B-906A-0373-BEEC-DFD506BB72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49001" y="2252184"/>
                <a:ext cx="0" cy="20877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4" name="直線接點 2503">
                <a:extLst>
                  <a:ext uri="{FF2B5EF4-FFF2-40B4-BE49-F238E27FC236}">
                    <a16:creationId xmlns:a16="http://schemas.microsoft.com/office/drawing/2014/main" id="{2C199F4D-62B8-9C79-CFEF-29C383255C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14009" y="2280877"/>
                <a:ext cx="0" cy="18008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5" name="直線接點 2504">
                <a:extLst>
                  <a:ext uri="{FF2B5EF4-FFF2-40B4-BE49-F238E27FC236}">
                    <a16:creationId xmlns:a16="http://schemas.microsoft.com/office/drawing/2014/main" id="{061F31C7-29A2-445D-51BC-B517AB67BE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6797" y="2347244"/>
                <a:ext cx="0" cy="11371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6" name="直線接點 2505">
                <a:extLst>
                  <a:ext uri="{FF2B5EF4-FFF2-40B4-BE49-F238E27FC236}">
                    <a16:creationId xmlns:a16="http://schemas.microsoft.com/office/drawing/2014/main" id="{E70DA20C-4524-C4F6-E130-DE155BFECE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3552" y="2290239"/>
                <a:ext cx="0" cy="17072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7" name="直線接點 2506">
                <a:extLst>
                  <a:ext uri="{FF2B5EF4-FFF2-40B4-BE49-F238E27FC236}">
                    <a16:creationId xmlns:a16="http://schemas.microsoft.com/office/drawing/2014/main" id="{B7304243-05B1-ED44-2587-301E891AA9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926" y="2290239"/>
                <a:ext cx="0" cy="17072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8" name="直線接點 2507">
                <a:extLst>
                  <a:ext uri="{FF2B5EF4-FFF2-40B4-BE49-F238E27FC236}">
                    <a16:creationId xmlns:a16="http://schemas.microsoft.com/office/drawing/2014/main" id="{1852E7CB-CF88-6A59-53F6-CFD73D79EA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786" y="2139327"/>
                <a:ext cx="0" cy="32163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9" name="直線接點 2508">
                <a:extLst>
                  <a:ext uri="{FF2B5EF4-FFF2-40B4-BE49-F238E27FC236}">
                    <a16:creationId xmlns:a16="http://schemas.microsoft.com/office/drawing/2014/main" id="{A499FEB5-FF40-5D08-7357-84DEC92337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604" y="2382768"/>
                <a:ext cx="0" cy="78194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85" name="群組 2484">
              <a:extLst>
                <a:ext uri="{FF2B5EF4-FFF2-40B4-BE49-F238E27FC236}">
                  <a16:creationId xmlns:a16="http://schemas.microsoft.com/office/drawing/2014/main" id="{62D88EC3-9C67-3797-85E0-66D83A733949}"/>
                </a:ext>
              </a:extLst>
            </p:cNvPr>
            <p:cNvGrpSpPr/>
            <p:nvPr/>
          </p:nvGrpSpPr>
          <p:grpSpPr>
            <a:xfrm>
              <a:off x="1600736" y="1971768"/>
              <a:ext cx="519390" cy="253873"/>
              <a:chOff x="-1868836" y="1912156"/>
              <a:chExt cx="1829670" cy="866762"/>
            </a:xfrm>
          </p:grpSpPr>
          <p:sp>
            <p:nvSpPr>
              <p:cNvPr id="2486" name="矩形 2485">
                <a:extLst>
                  <a:ext uri="{FF2B5EF4-FFF2-40B4-BE49-F238E27FC236}">
                    <a16:creationId xmlns:a16="http://schemas.microsoft.com/office/drawing/2014/main" id="{6E0FBE46-3930-EFBB-FE6A-61CA1DD53434}"/>
                  </a:ext>
                </a:extLst>
              </p:cNvPr>
              <p:cNvSpPr/>
              <p:nvPr/>
            </p:nvSpPr>
            <p:spPr>
              <a:xfrm>
                <a:off x="-1868836" y="1912156"/>
                <a:ext cx="1829670" cy="8667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2487" name="直線接點 2486">
                <a:extLst>
                  <a:ext uri="{FF2B5EF4-FFF2-40B4-BE49-F238E27FC236}">
                    <a16:creationId xmlns:a16="http://schemas.microsoft.com/office/drawing/2014/main" id="{8E574860-5E1A-A5DB-F4F2-44F28F3D48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608593" y="2281512"/>
                <a:ext cx="0" cy="49740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8" name="直線接點 2487">
                <a:extLst>
                  <a:ext uri="{FF2B5EF4-FFF2-40B4-BE49-F238E27FC236}">
                    <a16:creationId xmlns:a16="http://schemas.microsoft.com/office/drawing/2014/main" id="{FA1FBF45-7745-1ACD-7156-0BC4BA5F32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501002" y="2530215"/>
                <a:ext cx="0" cy="24870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9" name="直線接點 2488">
                <a:extLst>
                  <a:ext uri="{FF2B5EF4-FFF2-40B4-BE49-F238E27FC236}">
                    <a16:creationId xmlns:a16="http://schemas.microsoft.com/office/drawing/2014/main" id="{CB5A4708-103E-52F7-A33D-8A66D9F3C1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371892" y="2448539"/>
                <a:ext cx="0" cy="33037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0" name="直線接點 2489">
                <a:extLst>
                  <a:ext uri="{FF2B5EF4-FFF2-40B4-BE49-F238E27FC236}">
                    <a16:creationId xmlns:a16="http://schemas.microsoft.com/office/drawing/2014/main" id="{5EB5439B-348B-2DBE-5172-6317AA33EA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237403" y="2463475"/>
                <a:ext cx="0" cy="315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1" name="直線接點 2490">
                <a:extLst>
                  <a:ext uri="{FF2B5EF4-FFF2-40B4-BE49-F238E27FC236}">
                    <a16:creationId xmlns:a16="http://schemas.microsoft.com/office/drawing/2014/main" id="{257A766B-5491-A7EA-EEA7-4387B30634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127121" y="2345537"/>
                <a:ext cx="0" cy="43338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2" name="直線接點 2491">
                <a:extLst>
                  <a:ext uri="{FF2B5EF4-FFF2-40B4-BE49-F238E27FC236}">
                    <a16:creationId xmlns:a16="http://schemas.microsoft.com/office/drawing/2014/main" id="{62592F75-080E-50E4-E0BB-652D81003C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98489" y="2405097"/>
                <a:ext cx="0" cy="37382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3" name="直線接點 2492">
                <a:extLst>
                  <a:ext uri="{FF2B5EF4-FFF2-40B4-BE49-F238E27FC236}">
                    <a16:creationId xmlns:a16="http://schemas.microsoft.com/office/drawing/2014/main" id="{D1D03B10-4428-6CEB-6FFD-AB8EDBA002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42004" y="2542862"/>
                <a:ext cx="0" cy="23605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4" name="直線接點 2493">
                <a:extLst>
                  <a:ext uri="{FF2B5EF4-FFF2-40B4-BE49-F238E27FC236}">
                    <a16:creationId xmlns:a16="http://schemas.microsoft.com/office/drawing/2014/main" id="{13C616AF-B5A0-A35B-02A1-513565F04B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09726" y="2424531"/>
                <a:ext cx="0" cy="354387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5" name="直線接點 2494">
                <a:extLst>
                  <a:ext uri="{FF2B5EF4-FFF2-40B4-BE49-F238E27FC236}">
                    <a16:creationId xmlns:a16="http://schemas.microsoft.com/office/drawing/2014/main" id="{16334386-7EC7-9FFE-49E2-3F103BE4BC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745171" y="2424531"/>
                <a:ext cx="0" cy="354387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6" name="直線接點 2495">
                <a:extLst>
                  <a:ext uri="{FF2B5EF4-FFF2-40B4-BE49-F238E27FC236}">
                    <a16:creationId xmlns:a16="http://schemas.microsoft.com/office/drawing/2014/main" id="{42C8840E-68AB-E5ED-9087-A9624C8B15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83756" y="2507997"/>
                <a:ext cx="0" cy="27092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7" name="直線接點 2496">
                <a:extLst>
                  <a:ext uri="{FF2B5EF4-FFF2-40B4-BE49-F238E27FC236}">
                    <a16:creationId xmlns:a16="http://schemas.microsoft.com/office/drawing/2014/main" id="{7A8BF432-C1F9-1601-3F74-0D8A16BCA1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303540" y="2025684"/>
                <a:ext cx="0" cy="753234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523" name="直線單箭頭接點 2522">
            <a:extLst>
              <a:ext uri="{FF2B5EF4-FFF2-40B4-BE49-F238E27FC236}">
                <a16:creationId xmlns:a16="http://schemas.microsoft.com/office/drawing/2014/main" id="{28864883-EDFD-AE78-BA41-360062E0A7CA}"/>
              </a:ext>
            </a:extLst>
          </p:cNvPr>
          <p:cNvCxnSpPr>
            <a:cxnSpLocks/>
          </p:cNvCxnSpPr>
          <p:nvPr/>
        </p:nvCxnSpPr>
        <p:spPr>
          <a:xfrm>
            <a:off x="5696152" y="4337436"/>
            <a:ext cx="6200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4" name="直線單箭頭接點 2523">
            <a:extLst>
              <a:ext uri="{FF2B5EF4-FFF2-40B4-BE49-F238E27FC236}">
                <a16:creationId xmlns:a16="http://schemas.microsoft.com/office/drawing/2014/main" id="{489521EB-9DDB-8675-517D-9D55467CD244}"/>
              </a:ext>
            </a:extLst>
          </p:cNvPr>
          <p:cNvCxnSpPr/>
          <p:nvPr/>
        </p:nvCxnSpPr>
        <p:spPr>
          <a:xfrm>
            <a:off x="5853543" y="4493722"/>
            <a:ext cx="4626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5" name="直線單箭頭接點 2524">
            <a:extLst>
              <a:ext uri="{FF2B5EF4-FFF2-40B4-BE49-F238E27FC236}">
                <a16:creationId xmlns:a16="http://schemas.microsoft.com/office/drawing/2014/main" id="{778C1726-6518-B4E3-5972-ACF2E9E6E0D7}"/>
              </a:ext>
            </a:extLst>
          </p:cNvPr>
          <p:cNvCxnSpPr>
            <a:cxnSpLocks/>
          </p:cNvCxnSpPr>
          <p:nvPr/>
        </p:nvCxnSpPr>
        <p:spPr>
          <a:xfrm>
            <a:off x="6010670" y="4665361"/>
            <a:ext cx="3055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8" name="文字方塊 2527">
            <a:extLst>
              <a:ext uri="{FF2B5EF4-FFF2-40B4-BE49-F238E27FC236}">
                <a16:creationId xmlns:a16="http://schemas.microsoft.com/office/drawing/2014/main" id="{23A93E7E-8439-F296-937F-A7CC3B3B122D}"/>
              </a:ext>
            </a:extLst>
          </p:cNvPr>
          <p:cNvSpPr txBox="1"/>
          <p:nvPr/>
        </p:nvSpPr>
        <p:spPr>
          <a:xfrm>
            <a:off x="6271302" y="4196258"/>
            <a:ext cx="684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Glycan A</a:t>
            </a:r>
            <a:endParaRPr kumimoji="0" lang="zh-TW" altLang="en-US" sz="10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529" name="文字方塊 2528">
            <a:extLst>
              <a:ext uri="{FF2B5EF4-FFF2-40B4-BE49-F238E27FC236}">
                <a16:creationId xmlns:a16="http://schemas.microsoft.com/office/drawing/2014/main" id="{0185191E-D55C-0CFB-298F-EA13017CB800}"/>
              </a:ext>
            </a:extLst>
          </p:cNvPr>
          <p:cNvSpPr txBox="1"/>
          <p:nvPr/>
        </p:nvSpPr>
        <p:spPr>
          <a:xfrm>
            <a:off x="6271302" y="4371764"/>
            <a:ext cx="684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Glycan B</a:t>
            </a:r>
            <a:endParaRPr kumimoji="0" lang="zh-TW" altLang="en-US" sz="10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530" name="文字方塊 2529">
            <a:extLst>
              <a:ext uri="{FF2B5EF4-FFF2-40B4-BE49-F238E27FC236}">
                <a16:creationId xmlns:a16="http://schemas.microsoft.com/office/drawing/2014/main" id="{50B3C5F4-DCEC-D8E6-BE1D-54AF05631C02}"/>
              </a:ext>
            </a:extLst>
          </p:cNvPr>
          <p:cNvSpPr txBox="1"/>
          <p:nvPr/>
        </p:nvSpPr>
        <p:spPr>
          <a:xfrm>
            <a:off x="6271302" y="4575959"/>
            <a:ext cx="684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Glycan C</a:t>
            </a:r>
            <a:endParaRPr kumimoji="0" lang="zh-TW" altLang="en-US" sz="10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531" name="矩形 2530">
            <a:extLst>
              <a:ext uri="{FF2B5EF4-FFF2-40B4-BE49-F238E27FC236}">
                <a16:creationId xmlns:a16="http://schemas.microsoft.com/office/drawing/2014/main" id="{75B3C6AB-1EB9-B5FF-D345-539E4C0869FF}"/>
              </a:ext>
            </a:extLst>
          </p:cNvPr>
          <p:cNvSpPr/>
          <p:nvPr/>
        </p:nvSpPr>
        <p:spPr>
          <a:xfrm>
            <a:off x="7000979" y="3442690"/>
            <a:ext cx="1902444" cy="160435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34" name="矩形 2533">
            <a:extLst>
              <a:ext uri="{FF2B5EF4-FFF2-40B4-BE49-F238E27FC236}">
                <a16:creationId xmlns:a16="http://schemas.microsoft.com/office/drawing/2014/main" id="{BA99132D-EB33-FCD9-6069-56C48AB2B58D}"/>
              </a:ext>
            </a:extLst>
          </p:cNvPr>
          <p:cNvSpPr/>
          <p:nvPr/>
        </p:nvSpPr>
        <p:spPr>
          <a:xfrm>
            <a:off x="7008122" y="3390045"/>
            <a:ext cx="1891453" cy="106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33" name="箭號: 向右 2532">
            <a:extLst>
              <a:ext uri="{FF2B5EF4-FFF2-40B4-BE49-F238E27FC236}">
                <a16:creationId xmlns:a16="http://schemas.microsoft.com/office/drawing/2014/main" id="{BFD8AC93-914C-2864-5E31-A31D0F049C24}"/>
              </a:ext>
            </a:extLst>
          </p:cNvPr>
          <p:cNvSpPr/>
          <p:nvPr/>
        </p:nvSpPr>
        <p:spPr>
          <a:xfrm rot="5400000">
            <a:off x="7351481" y="3400576"/>
            <a:ext cx="362904" cy="281858"/>
          </a:xfrm>
          <a:prstGeom prst="rightArrow">
            <a:avLst>
              <a:gd name="adj1" fmla="val 50000"/>
              <a:gd name="adj2" fmla="val 6297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2541" name="群組 2540">
            <a:extLst>
              <a:ext uri="{FF2B5EF4-FFF2-40B4-BE49-F238E27FC236}">
                <a16:creationId xmlns:a16="http://schemas.microsoft.com/office/drawing/2014/main" id="{888A1B6F-3C90-A518-AF09-6F9B08BA70C6}"/>
              </a:ext>
            </a:extLst>
          </p:cNvPr>
          <p:cNvGrpSpPr/>
          <p:nvPr/>
        </p:nvGrpSpPr>
        <p:grpSpPr>
          <a:xfrm>
            <a:off x="7139087" y="4085040"/>
            <a:ext cx="1056641" cy="644610"/>
            <a:chOff x="7139087" y="4085040"/>
            <a:chExt cx="1056641" cy="644610"/>
          </a:xfrm>
        </p:grpSpPr>
        <p:sp>
          <p:nvSpPr>
            <p:cNvPr id="2535" name="矩形 2534">
              <a:extLst>
                <a:ext uri="{FF2B5EF4-FFF2-40B4-BE49-F238E27FC236}">
                  <a16:creationId xmlns:a16="http://schemas.microsoft.com/office/drawing/2014/main" id="{435E5F37-655D-699C-C02A-BA0E6D69E5E9}"/>
                </a:ext>
              </a:extLst>
            </p:cNvPr>
            <p:cNvSpPr/>
            <p:nvPr/>
          </p:nvSpPr>
          <p:spPr>
            <a:xfrm>
              <a:off x="7139087" y="4085040"/>
              <a:ext cx="1056641" cy="64461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536" name="矩形 2535">
              <a:extLst>
                <a:ext uri="{FF2B5EF4-FFF2-40B4-BE49-F238E27FC236}">
                  <a16:creationId xmlns:a16="http://schemas.microsoft.com/office/drawing/2014/main" id="{05DE2FB7-0CC4-6D08-86EE-C99EC858A481}"/>
                </a:ext>
              </a:extLst>
            </p:cNvPr>
            <p:cNvSpPr/>
            <p:nvPr/>
          </p:nvSpPr>
          <p:spPr>
            <a:xfrm>
              <a:off x="7145422" y="4301324"/>
              <a:ext cx="207209" cy="4255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537" name="矩形 2536">
              <a:extLst>
                <a:ext uri="{FF2B5EF4-FFF2-40B4-BE49-F238E27FC236}">
                  <a16:creationId xmlns:a16="http://schemas.microsoft.com/office/drawing/2014/main" id="{BB40A167-17BA-8D02-34F2-F46273ACBC7E}"/>
                </a:ext>
              </a:extLst>
            </p:cNvPr>
            <p:cNvSpPr/>
            <p:nvPr/>
          </p:nvSpPr>
          <p:spPr>
            <a:xfrm>
              <a:off x="7380715" y="4516354"/>
              <a:ext cx="207209" cy="208568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538" name="矩形 2537">
              <a:extLst>
                <a:ext uri="{FF2B5EF4-FFF2-40B4-BE49-F238E27FC236}">
                  <a16:creationId xmlns:a16="http://schemas.microsoft.com/office/drawing/2014/main" id="{5EE62072-BB9E-1E18-94BF-E24ED51BC95D}"/>
                </a:ext>
              </a:extLst>
            </p:cNvPr>
            <p:cNvSpPr/>
            <p:nvPr/>
          </p:nvSpPr>
          <p:spPr>
            <a:xfrm>
              <a:off x="7606750" y="4382786"/>
              <a:ext cx="207209" cy="346584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539" name="橢圓 2538">
              <a:extLst>
                <a:ext uri="{FF2B5EF4-FFF2-40B4-BE49-F238E27FC236}">
                  <a16:creationId xmlns:a16="http://schemas.microsoft.com/office/drawing/2014/main" id="{3A25AB14-0FE0-1D82-D906-5D87C26111AE}"/>
                </a:ext>
              </a:extLst>
            </p:cNvPr>
            <p:cNvSpPr/>
            <p:nvPr/>
          </p:nvSpPr>
          <p:spPr>
            <a:xfrm>
              <a:off x="7862278" y="4128390"/>
              <a:ext cx="289941" cy="289941"/>
            </a:xfrm>
            <a:prstGeom prst="ellipse">
              <a:avLst/>
            </a:prstGeom>
            <a:ln>
              <a:solidFill>
                <a:srgbClr val="223F59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2540" name="文字方塊 2539">
            <a:extLst>
              <a:ext uri="{FF2B5EF4-FFF2-40B4-BE49-F238E27FC236}">
                <a16:creationId xmlns:a16="http://schemas.microsoft.com/office/drawing/2014/main" id="{31A14AB3-57C1-CABD-F59A-4E321841FDEC}"/>
              </a:ext>
            </a:extLst>
          </p:cNvPr>
          <p:cNvSpPr txBox="1"/>
          <p:nvPr/>
        </p:nvSpPr>
        <p:spPr>
          <a:xfrm>
            <a:off x="7053989" y="3833609"/>
            <a:ext cx="1554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Glycotope</a:t>
            </a: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 statistics</a:t>
            </a: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2550" name="群組 2549">
            <a:extLst>
              <a:ext uri="{FF2B5EF4-FFF2-40B4-BE49-F238E27FC236}">
                <a16:creationId xmlns:a16="http://schemas.microsoft.com/office/drawing/2014/main" id="{F5306E18-3CBB-BA5C-B008-43DF8B1AFED1}"/>
              </a:ext>
            </a:extLst>
          </p:cNvPr>
          <p:cNvGrpSpPr/>
          <p:nvPr/>
        </p:nvGrpSpPr>
        <p:grpSpPr>
          <a:xfrm>
            <a:off x="7360197" y="4765476"/>
            <a:ext cx="217701" cy="257451"/>
            <a:chOff x="7360197" y="4765476"/>
            <a:chExt cx="217701" cy="257451"/>
          </a:xfrm>
        </p:grpSpPr>
        <p:grpSp>
          <p:nvGrpSpPr>
            <p:cNvPr id="2542" name="群組 2541">
              <a:extLst>
                <a:ext uri="{FF2B5EF4-FFF2-40B4-BE49-F238E27FC236}">
                  <a16:creationId xmlns:a16="http://schemas.microsoft.com/office/drawing/2014/main" id="{F8748F7D-9F6A-FEC2-524A-C91160E57B2B}"/>
                </a:ext>
              </a:extLst>
            </p:cNvPr>
            <p:cNvGrpSpPr/>
            <p:nvPr/>
          </p:nvGrpSpPr>
          <p:grpSpPr>
            <a:xfrm>
              <a:off x="7429250" y="4765476"/>
              <a:ext cx="148648" cy="257451"/>
              <a:chOff x="3349255" y="1644177"/>
              <a:chExt cx="263194" cy="455840"/>
            </a:xfrm>
          </p:grpSpPr>
          <p:sp>
            <p:nvSpPr>
              <p:cNvPr id="2544" name="Line 31">
                <a:extLst>
                  <a:ext uri="{FF2B5EF4-FFF2-40B4-BE49-F238E27FC236}">
                    <a16:creationId xmlns:a16="http://schemas.microsoft.com/office/drawing/2014/main" id="{41B9F5C5-5F01-2A32-3F4D-A57A25864B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3419200" y="1822553"/>
                <a:ext cx="1798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45" name="Oval 13">
                <a:extLst>
                  <a:ext uri="{FF2B5EF4-FFF2-40B4-BE49-F238E27FC236}">
                    <a16:creationId xmlns:a16="http://schemas.microsoft.com/office/drawing/2014/main" id="{E99C3EF0-D2A0-D2E1-4433-081B18682F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403363" y="1644284"/>
                <a:ext cx="209194" cy="208979"/>
              </a:xfrm>
              <a:prstGeom prst="ellipse">
                <a:avLst/>
              </a:prstGeom>
              <a:solidFill>
                <a:srgbClr val="FFD4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200"/>
              </a:p>
            </p:txBody>
          </p:sp>
          <p:sp>
            <p:nvSpPr>
              <p:cNvPr id="2548" name="Line 31">
                <a:extLst>
                  <a:ext uri="{FF2B5EF4-FFF2-40B4-BE49-F238E27FC236}">
                    <a16:creationId xmlns:a16="http://schemas.microsoft.com/office/drawing/2014/main" id="{4E1D6D67-E4B1-0263-2A10-88AB5E383A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433239" y="1928537"/>
                <a:ext cx="0" cy="1679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43" name="Rectangle 34">
                <a:extLst>
                  <a:ext uri="{FF2B5EF4-FFF2-40B4-BE49-F238E27FC236}">
                    <a16:creationId xmlns:a16="http://schemas.microsoft.com/office/drawing/2014/main" id="{2C81406E-9ED1-3E92-CBF6-69FE6F4546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413252" y="1912297"/>
                <a:ext cx="187817" cy="187624"/>
              </a:xfrm>
              <a:prstGeom prst="rect">
                <a:avLst/>
              </a:prstGeom>
              <a:solidFill>
                <a:srgbClr val="0073B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200"/>
              </a:p>
            </p:txBody>
          </p:sp>
        </p:grpSp>
        <p:sp>
          <p:nvSpPr>
            <p:cNvPr id="2549" name="等腰三角形 2548">
              <a:extLst>
                <a:ext uri="{FF2B5EF4-FFF2-40B4-BE49-F238E27FC236}">
                  <a16:creationId xmlns:a16="http://schemas.microsoft.com/office/drawing/2014/main" id="{2D403BD2-AD11-96E1-C11A-1492A91496F2}"/>
                </a:ext>
              </a:extLst>
            </p:cNvPr>
            <p:cNvSpPr/>
            <p:nvPr/>
          </p:nvSpPr>
          <p:spPr>
            <a:xfrm rot="5400000">
              <a:off x="7353747" y="4931015"/>
              <a:ext cx="93534" cy="80633"/>
            </a:xfrm>
            <a:prstGeom prst="triangl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551" name="橢圓 2550">
            <a:extLst>
              <a:ext uri="{FF2B5EF4-FFF2-40B4-BE49-F238E27FC236}">
                <a16:creationId xmlns:a16="http://schemas.microsoft.com/office/drawing/2014/main" id="{CAFF46C3-6034-C1BE-E206-56B06C91BC6C}"/>
              </a:ext>
            </a:extLst>
          </p:cNvPr>
          <p:cNvSpPr/>
          <p:nvPr/>
        </p:nvSpPr>
        <p:spPr>
          <a:xfrm>
            <a:off x="7861046" y="4262285"/>
            <a:ext cx="148987" cy="156408"/>
          </a:xfrm>
          <a:custGeom>
            <a:avLst/>
            <a:gdLst>
              <a:gd name="connsiteX0" fmla="*/ 0 w 289941"/>
              <a:gd name="connsiteY0" fmla="*/ 144971 h 289941"/>
              <a:gd name="connsiteX1" fmla="*/ 144971 w 289941"/>
              <a:gd name="connsiteY1" fmla="*/ 0 h 289941"/>
              <a:gd name="connsiteX2" fmla="*/ 289942 w 289941"/>
              <a:gd name="connsiteY2" fmla="*/ 144971 h 289941"/>
              <a:gd name="connsiteX3" fmla="*/ 144971 w 289941"/>
              <a:gd name="connsiteY3" fmla="*/ 289942 h 289941"/>
              <a:gd name="connsiteX4" fmla="*/ 0 w 289941"/>
              <a:gd name="connsiteY4" fmla="*/ 144971 h 289941"/>
              <a:gd name="connsiteX0" fmla="*/ 0 w 293971"/>
              <a:gd name="connsiteY0" fmla="*/ 18122 h 163093"/>
              <a:gd name="connsiteX1" fmla="*/ 289942 w 293971"/>
              <a:gd name="connsiteY1" fmla="*/ 18122 h 163093"/>
              <a:gd name="connsiteX2" fmla="*/ 144971 w 293971"/>
              <a:gd name="connsiteY2" fmla="*/ 163093 h 163093"/>
              <a:gd name="connsiteX3" fmla="*/ 0 w 293971"/>
              <a:gd name="connsiteY3" fmla="*/ 18122 h 163093"/>
              <a:gd name="connsiteX0" fmla="*/ 0 w 298812"/>
              <a:gd name="connsiteY0" fmla="*/ 18122 h 163107"/>
              <a:gd name="connsiteX1" fmla="*/ 289942 w 298812"/>
              <a:gd name="connsiteY1" fmla="*/ 18122 h 163107"/>
              <a:gd name="connsiteX2" fmla="*/ 142376 w 298812"/>
              <a:gd name="connsiteY2" fmla="*/ 11220 h 163107"/>
              <a:gd name="connsiteX3" fmla="*/ 144971 w 298812"/>
              <a:gd name="connsiteY3" fmla="*/ 163093 h 163107"/>
              <a:gd name="connsiteX4" fmla="*/ 0 w 298812"/>
              <a:gd name="connsiteY4" fmla="*/ 18122 h 163107"/>
              <a:gd name="connsiteX0" fmla="*/ 1 w 161677"/>
              <a:gd name="connsiteY0" fmla="*/ 22304 h 167289"/>
              <a:gd name="connsiteX1" fmla="*/ 142377 w 161677"/>
              <a:gd name="connsiteY1" fmla="*/ 15402 h 167289"/>
              <a:gd name="connsiteX2" fmla="*/ 144972 w 161677"/>
              <a:gd name="connsiteY2" fmla="*/ 167275 h 167289"/>
              <a:gd name="connsiteX3" fmla="*/ 1 w 161677"/>
              <a:gd name="connsiteY3" fmla="*/ 22304 h 167289"/>
              <a:gd name="connsiteX0" fmla="*/ 0 w 161676"/>
              <a:gd name="connsiteY0" fmla="*/ 6902 h 151887"/>
              <a:gd name="connsiteX1" fmla="*/ 142376 w 161676"/>
              <a:gd name="connsiteY1" fmla="*/ 0 h 151887"/>
              <a:gd name="connsiteX2" fmla="*/ 144971 w 161676"/>
              <a:gd name="connsiteY2" fmla="*/ 151873 h 151887"/>
              <a:gd name="connsiteX3" fmla="*/ 0 w 161676"/>
              <a:gd name="connsiteY3" fmla="*/ 6902 h 151887"/>
              <a:gd name="connsiteX0" fmla="*/ 0 w 144971"/>
              <a:gd name="connsiteY0" fmla="*/ 6902 h 151887"/>
              <a:gd name="connsiteX1" fmla="*/ 142376 w 144971"/>
              <a:gd name="connsiteY1" fmla="*/ 0 h 151887"/>
              <a:gd name="connsiteX2" fmla="*/ 144971 w 144971"/>
              <a:gd name="connsiteY2" fmla="*/ 151873 h 151887"/>
              <a:gd name="connsiteX3" fmla="*/ 0 w 144971"/>
              <a:gd name="connsiteY3" fmla="*/ 6902 h 151887"/>
              <a:gd name="connsiteX0" fmla="*/ 4016 w 155770"/>
              <a:gd name="connsiteY0" fmla="*/ 9662 h 159575"/>
              <a:gd name="connsiteX1" fmla="*/ 146392 w 155770"/>
              <a:gd name="connsiteY1" fmla="*/ 2760 h 159575"/>
              <a:gd name="connsiteX2" fmla="*/ 148987 w 155770"/>
              <a:gd name="connsiteY2" fmla="*/ 154633 h 159575"/>
              <a:gd name="connsiteX3" fmla="*/ 48761 w 155770"/>
              <a:gd name="connsiteY3" fmla="*/ 112297 h 159575"/>
              <a:gd name="connsiteX4" fmla="*/ 4016 w 155770"/>
              <a:gd name="connsiteY4" fmla="*/ 9662 h 159575"/>
              <a:gd name="connsiteX0" fmla="*/ 4016 w 155770"/>
              <a:gd name="connsiteY0" fmla="*/ 6902 h 156815"/>
              <a:gd name="connsiteX1" fmla="*/ 146392 w 155770"/>
              <a:gd name="connsiteY1" fmla="*/ 0 h 156815"/>
              <a:gd name="connsiteX2" fmla="*/ 148987 w 155770"/>
              <a:gd name="connsiteY2" fmla="*/ 151873 h 156815"/>
              <a:gd name="connsiteX3" fmla="*/ 48761 w 155770"/>
              <a:gd name="connsiteY3" fmla="*/ 109537 h 156815"/>
              <a:gd name="connsiteX4" fmla="*/ 4016 w 155770"/>
              <a:gd name="connsiteY4" fmla="*/ 6902 h 156815"/>
              <a:gd name="connsiteX0" fmla="*/ 4016 w 148987"/>
              <a:gd name="connsiteY0" fmla="*/ 6902 h 156815"/>
              <a:gd name="connsiteX1" fmla="*/ 146392 w 148987"/>
              <a:gd name="connsiteY1" fmla="*/ 0 h 156815"/>
              <a:gd name="connsiteX2" fmla="*/ 148987 w 148987"/>
              <a:gd name="connsiteY2" fmla="*/ 151873 h 156815"/>
              <a:gd name="connsiteX3" fmla="*/ 48761 w 148987"/>
              <a:gd name="connsiteY3" fmla="*/ 109537 h 156815"/>
              <a:gd name="connsiteX4" fmla="*/ 4016 w 148987"/>
              <a:gd name="connsiteY4" fmla="*/ 6902 h 156815"/>
              <a:gd name="connsiteX0" fmla="*/ 287 w 147500"/>
              <a:gd name="connsiteY0" fmla="*/ 7679 h 154596"/>
              <a:gd name="connsiteX1" fmla="*/ 142663 w 147500"/>
              <a:gd name="connsiteY1" fmla="*/ 777 h 154596"/>
              <a:gd name="connsiteX2" fmla="*/ 145258 w 147500"/>
              <a:gd name="connsiteY2" fmla="*/ 152650 h 154596"/>
              <a:gd name="connsiteX3" fmla="*/ 106944 w 147500"/>
              <a:gd name="connsiteY3" fmla="*/ 81739 h 154596"/>
              <a:gd name="connsiteX4" fmla="*/ 287 w 147500"/>
              <a:gd name="connsiteY4" fmla="*/ 7679 h 154596"/>
              <a:gd name="connsiteX0" fmla="*/ 4016 w 155770"/>
              <a:gd name="connsiteY0" fmla="*/ 9831 h 160129"/>
              <a:gd name="connsiteX1" fmla="*/ 146392 w 155770"/>
              <a:gd name="connsiteY1" fmla="*/ 2929 h 160129"/>
              <a:gd name="connsiteX2" fmla="*/ 148987 w 155770"/>
              <a:gd name="connsiteY2" fmla="*/ 154802 h 160129"/>
              <a:gd name="connsiteX3" fmla="*/ 48760 w 155770"/>
              <a:gd name="connsiteY3" fmla="*/ 114847 h 160129"/>
              <a:gd name="connsiteX4" fmla="*/ 4016 w 155770"/>
              <a:gd name="connsiteY4" fmla="*/ 9831 h 160129"/>
              <a:gd name="connsiteX0" fmla="*/ 3550 w 155304"/>
              <a:gd name="connsiteY0" fmla="*/ 9831 h 160129"/>
              <a:gd name="connsiteX1" fmla="*/ 145926 w 155304"/>
              <a:gd name="connsiteY1" fmla="*/ 2929 h 160129"/>
              <a:gd name="connsiteX2" fmla="*/ 148521 w 155304"/>
              <a:gd name="connsiteY2" fmla="*/ 154802 h 160129"/>
              <a:gd name="connsiteX3" fmla="*/ 48294 w 155304"/>
              <a:gd name="connsiteY3" fmla="*/ 114847 h 160129"/>
              <a:gd name="connsiteX4" fmla="*/ 3550 w 155304"/>
              <a:gd name="connsiteY4" fmla="*/ 9831 h 160129"/>
              <a:gd name="connsiteX0" fmla="*/ 3550 w 155304"/>
              <a:gd name="connsiteY0" fmla="*/ 9831 h 159337"/>
              <a:gd name="connsiteX1" fmla="*/ 145926 w 155304"/>
              <a:gd name="connsiteY1" fmla="*/ 2929 h 159337"/>
              <a:gd name="connsiteX2" fmla="*/ 148521 w 155304"/>
              <a:gd name="connsiteY2" fmla="*/ 154802 h 159337"/>
              <a:gd name="connsiteX3" fmla="*/ 48294 w 155304"/>
              <a:gd name="connsiteY3" fmla="*/ 114847 h 159337"/>
              <a:gd name="connsiteX4" fmla="*/ 3550 w 155304"/>
              <a:gd name="connsiteY4" fmla="*/ 9831 h 159337"/>
              <a:gd name="connsiteX0" fmla="*/ 4016 w 155770"/>
              <a:gd name="connsiteY0" fmla="*/ 9831 h 159337"/>
              <a:gd name="connsiteX1" fmla="*/ 146392 w 155770"/>
              <a:gd name="connsiteY1" fmla="*/ 2929 h 159337"/>
              <a:gd name="connsiteX2" fmla="*/ 148987 w 155770"/>
              <a:gd name="connsiteY2" fmla="*/ 154802 h 159337"/>
              <a:gd name="connsiteX3" fmla="*/ 48760 w 155770"/>
              <a:gd name="connsiteY3" fmla="*/ 114847 h 159337"/>
              <a:gd name="connsiteX4" fmla="*/ 4016 w 155770"/>
              <a:gd name="connsiteY4" fmla="*/ 9831 h 159337"/>
              <a:gd name="connsiteX0" fmla="*/ 4016 w 155770"/>
              <a:gd name="connsiteY0" fmla="*/ 6902 h 156408"/>
              <a:gd name="connsiteX1" fmla="*/ 146392 w 155770"/>
              <a:gd name="connsiteY1" fmla="*/ 0 h 156408"/>
              <a:gd name="connsiteX2" fmla="*/ 148987 w 155770"/>
              <a:gd name="connsiteY2" fmla="*/ 151873 h 156408"/>
              <a:gd name="connsiteX3" fmla="*/ 48760 w 155770"/>
              <a:gd name="connsiteY3" fmla="*/ 111918 h 156408"/>
              <a:gd name="connsiteX4" fmla="*/ 4016 w 155770"/>
              <a:gd name="connsiteY4" fmla="*/ 6902 h 156408"/>
              <a:gd name="connsiteX0" fmla="*/ 4016 w 148987"/>
              <a:gd name="connsiteY0" fmla="*/ 6902 h 156408"/>
              <a:gd name="connsiteX1" fmla="*/ 146392 w 148987"/>
              <a:gd name="connsiteY1" fmla="*/ 0 h 156408"/>
              <a:gd name="connsiteX2" fmla="*/ 148987 w 148987"/>
              <a:gd name="connsiteY2" fmla="*/ 151873 h 156408"/>
              <a:gd name="connsiteX3" fmla="*/ 48760 w 148987"/>
              <a:gd name="connsiteY3" fmla="*/ 111918 h 156408"/>
              <a:gd name="connsiteX4" fmla="*/ 4016 w 148987"/>
              <a:gd name="connsiteY4" fmla="*/ 6902 h 15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987" h="156408">
                <a:moveTo>
                  <a:pt x="4016" y="6902"/>
                </a:moveTo>
                <a:lnTo>
                  <a:pt x="146392" y="0"/>
                </a:lnTo>
                <a:lnTo>
                  <a:pt x="148987" y="151873"/>
                </a:lnTo>
                <a:cubicBezTo>
                  <a:pt x="132715" y="170526"/>
                  <a:pt x="68160" y="126555"/>
                  <a:pt x="48760" y="111918"/>
                </a:cubicBezTo>
                <a:cubicBezTo>
                  <a:pt x="24597" y="90137"/>
                  <a:pt x="-12256" y="25555"/>
                  <a:pt x="4016" y="6902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223F59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4580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01D25D17823C344A9D69518AF56DC62" ma:contentTypeVersion="6" ma:contentTypeDescription="新しいドキュメントを作成します。" ma:contentTypeScope="" ma:versionID="f29605d1c82d3d43c74cd3efc573dd15">
  <xsd:schema xmlns:xsd="http://www.w3.org/2001/XMLSchema" xmlns:xs="http://www.w3.org/2001/XMLSchema" xmlns:p="http://schemas.microsoft.com/office/2006/metadata/properties" xmlns:ns3="f82b70a8-9591-478e-a6d5-bf315b83c485" targetNamespace="http://schemas.microsoft.com/office/2006/metadata/properties" ma:root="true" ma:fieldsID="d7d0483a01e3419b531383906934819f" ns3:_="">
    <xsd:import namespace="f82b70a8-9591-478e-a6d5-bf315b83c48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2b70a8-9591-478e-a6d5-bf315b83c4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2b70a8-9591-478e-a6d5-bf315b83c485" xsi:nil="true"/>
  </documentManagement>
</p:properties>
</file>

<file path=customXml/itemProps1.xml><?xml version="1.0" encoding="utf-8"?>
<ds:datastoreItem xmlns:ds="http://schemas.openxmlformats.org/officeDocument/2006/customXml" ds:itemID="{82A1024B-7C17-4EDF-8BF1-9DCF60C9C9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2b70a8-9591-478e-a6d5-bf315b83c4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39DE1AA-2B72-4F7D-993B-1151136C5E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DF595E-2397-4CFF-AE20-C4D5BE634C1D}">
  <ds:schemaRefs>
    <ds:schemaRef ds:uri="http://purl.org/dc/elements/1.1/"/>
    <ds:schemaRef ds:uri="http://www.w3.org/XML/1998/namespace"/>
    <ds:schemaRef ds:uri="http://schemas.microsoft.com/office/2006/metadata/properties"/>
    <ds:schemaRef ds:uri="f82b70a8-9591-478e-a6d5-bf315b83c485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863</TotalTime>
  <Words>2632</Words>
  <Application>Microsoft Office PowerPoint</Application>
  <PresentationFormat>如螢幕大小 (4:3)</PresentationFormat>
  <Paragraphs>408</Paragraphs>
  <Slides>30</Slides>
  <Notes>2</Notes>
  <HiddenSlides>7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Wingdings</vt:lpstr>
      <vt:lpstr>Office Theme</vt:lpstr>
      <vt:lpstr>GlycoMSParser:  A GUI/CLI Tool of building high-quality annotation glycomic data for adjustable machine-learning approach</vt:lpstr>
      <vt:lpstr>Feature overview</vt:lpstr>
      <vt:lpstr>Features in Data preprocessing</vt:lpstr>
      <vt:lpstr>Converting raw files to csv files </vt:lpstr>
      <vt:lpstr>Dataset preparation overview</vt:lpstr>
      <vt:lpstr>Experiment management</vt:lpstr>
      <vt:lpstr>Validate and generate trainable csv  (manual annotation approach)</vt:lpstr>
      <vt:lpstr>Feature: adding non-glycan automatically</vt:lpstr>
      <vt:lpstr>Feature: ion mining (traditional probability method)</vt:lpstr>
      <vt:lpstr>Feature: ion feature mining</vt:lpstr>
      <vt:lpstr>Generating trainable csv without manual annotation (pseudo-labeling approach)</vt:lpstr>
      <vt:lpstr>Pseudo-labeling approach </vt:lpstr>
      <vt:lpstr>auto-generate proper pseudo-labels progress</vt:lpstr>
      <vt:lpstr>Adapted in silico glycan list generation flow (N-glycan)</vt:lpstr>
      <vt:lpstr>Adapted in silico glycan list generation flow (O-glycan)</vt:lpstr>
      <vt:lpstr>Comparing with manual annotation</vt:lpstr>
      <vt:lpstr>Features in ML analysis</vt:lpstr>
      <vt:lpstr>Random forest train parameters</vt:lpstr>
      <vt:lpstr>Filtering pseudo-labeling datasets for training</vt:lpstr>
      <vt:lpstr>Features in ML analysis</vt:lpstr>
      <vt:lpstr>Quick comparison of train results</vt:lpstr>
      <vt:lpstr>A quick glance at classification report</vt:lpstr>
      <vt:lpstr>PowerPoint 簡報</vt:lpstr>
      <vt:lpstr>PowerPoint 簡報</vt:lpstr>
      <vt:lpstr>Debug prints in console (202509)</vt:lpstr>
      <vt:lpstr>Dev issues in file management workflow</vt:lpstr>
      <vt:lpstr>Dev issues in file management workflow (2)</vt:lpstr>
      <vt:lpstr>Recap</vt:lpstr>
      <vt:lpstr>PowerPoint 簡報</vt:lpstr>
      <vt:lpstr>Fig 1. Pipeline of GlycoMSParser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曾　煥權</dc:creator>
  <cp:lastModifiedBy>曾　煥權</cp:lastModifiedBy>
  <cp:revision>2</cp:revision>
  <dcterms:created xsi:type="dcterms:W3CDTF">2025-09-08T00:24:18Z</dcterms:created>
  <dcterms:modified xsi:type="dcterms:W3CDTF">2025-09-08T14:48:04Z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0x010100B01D25D17823C344A9D69518AF56DC62</vt:lpwstr>
  </property>
</Properties>
</file>